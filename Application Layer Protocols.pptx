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5" r:id="rId9"/>
    <p:sldId id="263" r:id="rId10"/>
    <p:sldId id="266" r:id="rId11"/>
    <p:sldId id="264" r:id="rId12"/>
    <p:sldId id="267" r:id="rId13"/>
    <p:sldId id="268" r:id="rId14"/>
    <p:sldId id="269" r:id="rId15"/>
    <p:sldId id="270" r:id="rId16"/>
    <p:sldId id="271" r:id="rId17"/>
    <p:sldId id="272" r:id="rId18"/>
    <p:sldId id="273" r:id="rId19"/>
    <p:sldId id="274" r:id="rId20"/>
    <p:sldId id="276" r:id="rId21"/>
    <p:sldId id="275" r:id="rId2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16" y="-9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91D967CC-8622-49FF-B6C0-1D1913D0967B}" type="datetimeFigureOut">
              <a:rPr lang="en-US" smtClean="0"/>
              <a:t>5/29/2021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79E7001-CC4F-4287-B151-E6E0FC04FBAC}" type="slidenum">
              <a:rPr lang="en-US" smtClean="0"/>
              <a:t>‹#›</a:t>
            </a:fld>
            <a:endParaRPr lang="en-US"/>
          </a:p>
        </p:txBody>
      </p:sp>
    </p:spTree>
    <p:extLst>
      <p:ext uri="{BB962C8B-B14F-4D97-AF65-F5344CB8AC3E}">
        <p14:creationId xmlns:p14="http://schemas.microsoft.com/office/powerpoint/2010/main" val="629883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1D967CC-8622-49FF-B6C0-1D1913D0967B}" type="datetimeFigureOut">
              <a:rPr lang="en-US" smtClean="0"/>
              <a:t>5/29/2021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79E7001-CC4F-4287-B151-E6E0FC04FBAC}" type="slidenum">
              <a:rPr lang="en-US" smtClean="0"/>
              <a:t>‹#›</a:t>
            </a:fld>
            <a:endParaRPr lang="en-US"/>
          </a:p>
        </p:txBody>
      </p:sp>
    </p:spTree>
    <p:extLst>
      <p:ext uri="{BB962C8B-B14F-4D97-AF65-F5344CB8AC3E}">
        <p14:creationId xmlns:p14="http://schemas.microsoft.com/office/powerpoint/2010/main" val="36265449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1D967CC-8622-49FF-B6C0-1D1913D0967B}" type="datetimeFigureOut">
              <a:rPr lang="en-US" smtClean="0"/>
              <a:t>5/29/2021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79E7001-CC4F-4287-B151-E6E0FC04FBAC}" type="slidenum">
              <a:rPr lang="en-US" smtClean="0"/>
              <a:t>‹#›</a:t>
            </a:fld>
            <a:endParaRPr lang="en-US"/>
          </a:p>
        </p:txBody>
      </p:sp>
    </p:spTree>
    <p:extLst>
      <p:ext uri="{BB962C8B-B14F-4D97-AF65-F5344CB8AC3E}">
        <p14:creationId xmlns:p14="http://schemas.microsoft.com/office/powerpoint/2010/main" val="24607662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91D967CC-8622-49FF-B6C0-1D1913D0967B}" type="datetimeFigureOut">
              <a:rPr lang="en-US" smtClean="0"/>
              <a:t>5/29/2021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79E7001-CC4F-4287-B151-E6E0FC04FBAC}" type="slidenum">
              <a:rPr lang="en-US" smtClean="0"/>
              <a:t>‹#›</a:t>
            </a:fld>
            <a:endParaRPr lang="en-US"/>
          </a:p>
        </p:txBody>
      </p:sp>
    </p:spTree>
    <p:extLst>
      <p:ext uri="{BB962C8B-B14F-4D97-AF65-F5344CB8AC3E}">
        <p14:creationId xmlns:p14="http://schemas.microsoft.com/office/powerpoint/2010/main" val="24148582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91D967CC-8622-49FF-B6C0-1D1913D0967B}" type="datetimeFigureOut">
              <a:rPr lang="en-US" smtClean="0"/>
              <a:t>5/29/2021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79E7001-CC4F-4287-B151-E6E0FC04FBAC}" type="slidenum">
              <a:rPr lang="en-US" smtClean="0"/>
              <a:t>‹#›</a:t>
            </a:fld>
            <a:endParaRPr lang="en-US"/>
          </a:p>
        </p:txBody>
      </p:sp>
    </p:spTree>
    <p:extLst>
      <p:ext uri="{BB962C8B-B14F-4D97-AF65-F5344CB8AC3E}">
        <p14:creationId xmlns:p14="http://schemas.microsoft.com/office/powerpoint/2010/main" val="42648444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91D967CC-8622-49FF-B6C0-1D1913D0967B}" type="datetimeFigureOut">
              <a:rPr lang="en-US" smtClean="0"/>
              <a:t>5/29/2021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79E7001-CC4F-4287-B151-E6E0FC04FBAC}" type="slidenum">
              <a:rPr lang="en-US" smtClean="0"/>
              <a:t>‹#›</a:t>
            </a:fld>
            <a:endParaRPr lang="en-US"/>
          </a:p>
        </p:txBody>
      </p:sp>
    </p:spTree>
    <p:extLst>
      <p:ext uri="{BB962C8B-B14F-4D97-AF65-F5344CB8AC3E}">
        <p14:creationId xmlns:p14="http://schemas.microsoft.com/office/powerpoint/2010/main" val="41943483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1D967CC-8622-49FF-B6C0-1D1913D0967B}" type="datetimeFigureOut">
              <a:rPr lang="en-US" smtClean="0"/>
              <a:t>5/29/2021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79E7001-CC4F-4287-B151-E6E0FC04FBAC}" type="slidenum">
              <a:rPr lang="en-US" smtClean="0"/>
              <a:t>‹#›</a:t>
            </a:fld>
            <a:endParaRPr lang="en-US"/>
          </a:p>
        </p:txBody>
      </p:sp>
    </p:spTree>
    <p:extLst>
      <p:ext uri="{BB962C8B-B14F-4D97-AF65-F5344CB8AC3E}">
        <p14:creationId xmlns:p14="http://schemas.microsoft.com/office/powerpoint/2010/main" val="34226635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1D967CC-8622-49FF-B6C0-1D1913D0967B}" type="datetimeFigureOut">
              <a:rPr lang="en-US" smtClean="0"/>
              <a:t>5/29/2021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79E7001-CC4F-4287-B151-E6E0FC04FBAC}" type="slidenum">
              <a:rPr lang="en-US" smtClean="0"/>
              <a:t>‹#›</a:t>
            </a:fld>
            <a:endParaRPr lang="en-US"/>
          </a:p>
        </p:txBody>
      </p:sp>
    </p:spTree>
    <p:extLst>
      <p:ext uri="{BB962C8B-B14F-4D97-AF65-F5344CB8AC3E}">
        <p14:creationId xmlns:p14="http://schemas.microsoft.com/office/powerpoint/2010/main" val="1380040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1D967CC-8622-49FF-B6C0-1D1913D0967B}" type="datetimeFigureOut">
              <a:rPr lang="en-US" smtClean="0"/>
              <a:t>5/29/2021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79E7001-CC4F-4287-B151-E6E0FC04FBAC}" type="slidenum">
              <a:rPr lang="en-US" smtClean="0"/>
              <a:t>‹#›</a:t>
            </a:fld>
            <a:endParaRPr lang="en-US"/>
          </a:p>
        </p:txBody>
      </p:sp>
    </p:spTree>
    <p:extLst>
      <p:ext uri="{BB962C8B-B14F-4D97-AF65-F5344CB8AC3E}">
        <p14:creationId xmlns:p14="http://schemas.microsoft.com/office/powerpoint/2010/main" val="4262176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1D967CC-8622-49FF-B6C0-1D1913D0967B}" type="datetimeFigureOut">
              <a:rPr lang="en-US" smtClean="0"/>
              <a:t>5/29/2021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79E7001-CC4F-4287-B151-E6E0FC04FBAC}" type="slidenum">
              <a:rPr lang="en-US" smtClean="0"/>
              <a:t>‹#›</a:t>
            </a:fld>
            <a:endParaRPr lang="en-US"/>
          </a:p>
        </p:txBody>
      </p:sp>
    </p:spTree>
    <p:extLst>
      <p:ext uri="{BB962C8B-B14F-4D97-AF65-F5344CB8AC3E}">
        <p14:creationId xmlns:p14="http://schemas.microsoft.com/office/powerpoint/2010/main" val="11676246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1D967CC-8622-49FF-B6C0-1D1913D0967B}" type="datetimeFigureOut">
              <a:rPr lang="en-US" smtClean="0"/>
              <a:t>5/29/2021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79E7001-CC4F-4287-B151-E6E0FC04FBAC}" type="slidenum">
              <a:rPr lang="en-US" smtClean="0"/>
              <a:t>‹#›</a:t>
            </a:fld>
            <a:endParaRPr lang="en-US"/>
          </a:p>
        </p:txBody>
      </p:sp>
    </p:spTree>
    <p:extLst>
      <p:ext uri="{BB962C8B-B14F-4D97-AF65-F5344CB8AC3E}">
        <p14:creationId xmlns:p14="http://schemas.microsoft.com/office/powerpoint/2010/main" val="35278440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1D967CC-8622-49FF-B6C0-1D1913D0967B}" type="datetimeFigureOut">
              <a:rPr lang="en-US" smtClean="0"/>
              <a:t>5/29/2021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79E7001-CC4F-4287-B151-E6E0FC04FBAC}" type="slidenum">
              <a:rPr lang="en-US" smtClean="0"/>
              <a:t>‹#›</a:t>
            </a:fld>
            <a:endParaRPr lang="en-US"/>
          </a:p>
        </p:txBody>
      </p:sp>
    </p:spTree>
    <p:extLst>
      <p:ext uri="{BB962C8B-B14F-4D97-AF65-F5344CB8AC3E}">
        <p14:creationId xmlns:p14="http://schemas.microsoft.com/office/powerpoint/2010/main" val="40707432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Application Layer Protocols</a:t>
            </a:r>
            <a:endParaRPr lang="en-US" dirty="0"/>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95618689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Application Layer Protocols</a:t>
            </a:r>
            <a:endParaRPr lang="en-US" dirty="0"/>
          </a:p>
        </p:txBody>
      </p:sp>
      <p:sp>
        <p:nvSpPr>
          <p:cNvPr id="3" name="Content Placeholder 2"/>
          <p:cNvSpPr>
            <a:spLocks noGrp="1"/>
          </p:cNvSpPr>
          <p:nvPr>
            <p:ph idx="1"/>
          </p:nvPr>
        </p:nvSpPr>
        <p:spPr/>
        <p:txBody>
          <a:bodyPr>
            <a:normAutofit lnSpcReduction="10000"/>
          </a:bodyPr>
          <a:lstStyle/>
          <a:p>
            <a:r>
              <a:rPr lang="en-US" dirty="0" smtClean="0"/>
              <a:t>Application Layer Protocols The various protocols in application layer are : </a:t>
            </a:r>
          </a:p>
          <a:p>
            <a:r>
              <a:rPr lang="en-US" dirty="0" smtClean="0"/>
              <a:t>FTP</a:t>
            </a:r>
          </a:p>
          <a:p>
            <a:r>
              <a:rPr lang="en-US" dirty="0" smtClean="0"/>
              <a:t>Telnet</a:t>
            </a:r>
          </a:p>
          <a:p>
            <a:r>
              <a:rPr lang="en-US" dirty="0" smtClean="0"/>
              <a:t>SMTP </a:t>
            </a:r>
          </a:p>
          <a:p>
            <a:r>
              <a:rPr lang="en-US" dirty="0" smtClean="0"/>
              <a:t>HTTP </a:t>
            </a:r>
          </a:p>
          <a:p>
            <a:r>
              <a:rPr lang="en-US" dirty="0" smtClean="0"/>
              <a:t>DNS</a:t>
            </a:r>
          </a:p>
          <a:p>
            <a:r>
              <a:rPr lang="en-US" dirty="0" smtClean="0"/>
              <a:t>POP.</a:t>
            </a:r>
            <a:endParaRPr lang="en-US" dirty="0"/>
          </a:p>
        </p:txBody>
      </p:sp>
    </p:spTree>
    <p:extLst>
      <p:ext uri="{BB962C8B-B14F-4D97-AF65-F5344CB8AC3E}">
        <p14:creationId xmlns:p14="http://schemas.microsoft.com/office/powerpoint/2010/main" val="419401674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FTP</a:t>
            </a:r>
            <a:endParaRPr lang="en-US" dirty="0"/>
          </a:p>
        </p:txBody>
      </p:sp>
      <p:sp>
        <p:nvSpPr>
          <p:cNvPr id="3" name="Content Placeholder 2"/>
          <p:cNvSpPr>
            <a:spLocks noGrp="1"/>
          </p:cNvSpPr>
          <p:nvPr>
            <p:ph idx="1"/>
          </p:nvPr>
        </p:nvSpPr>
        <p:spPr/>
        <p:txBody>
          <a:bodyPr>
            <a:normAutofit fontScale="92500" lnSpcReduction="20000"/>
          </a:bodyPr>
          <a:lstStyle/>
          <a:p>
            <a:pPr algn="just">
              <a:lnSpc>
                <a:spcPct val="150000"/>
              </a:lnSpc>
            </a:pPr>
            <a:r>
              <a:rPr lang="en-US" dirty="0" smtClean="0"/>
              <a:t>The File Transfer Protocol (FTP) is a standard network protocol used to transfer computer files between a client and server on a computer network. </a:t>
            </a:r>
          </a:p>
          <a:p>
            <a:pPr algn="just">
              <a:lnSpc>
                <a:spcPct val="150000"/>
              </a:lnSpc>
            </a:pPr>
            <a:r>
              <a:rPr lang="en-US" dirty="0" smtClean="0"/>
              <a:t>FTP is built on a client-server model architecture and uses separate control and data connections between the client and the server.</a:t>
            </a:r>
            <a:endParaRPr lang="en-US" dirty="0"/>
          </a:p>
        </p:txBody>
      </p:sp>
    </p:spTree>
    <p:extLst>
      <p:ext uri="{BB962C8B-B14F-4D97-AF65-F5344CB8AC3E}">
        <p14:creationId xmlns:p14="http://schemas.microsoft.com/office/powerpoint/2010/main" val="172167204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15616" y="692696"/>
            <a:ext cx="7488831" cy="33074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ectangle 3"/>
          <p:cNvSpPr/>
          <p:nvPr/>
        </p:nvSpPr>
        <p:spPr>
          <a:xfrm>
            <a:off x="360040" y="4627002"/>
            <a:ext cx="8460432" cy="1891287"/>
          </a:xfrm>
          <a:prstGeom prst="rect">
            <a:avLst/>
          </a:prstGeom>
        </p:spPr>
        <p:txBody>
          <a:bodyPr wrap="square">
            <a:spAutoFit/>
          </a:bodyPr>
          <a:lstStyle/>
          <a:p>
            <a:pPr algn="just">
              <a:lnSpc>
                <a:spcPct val="150000"/>
              </a:lnSpc>
            </a:pPr>
            <a:r>
              <a:rPr lang="en-US" sz="2000" dirty="0"/>
              <a:t>It is a standard mechanism provided by TCP/IP for copying file from one host to another. FTP uses the services of TCP. It needs two TCP connections. The well-known port 21 is used for the control connection and the well-known port 20 for the data connection. </a:t>
            </a:r>
          </a:p>
        </p:txBody>
      </p:sp>
    </p:spTree>
    <p:extLst>
      <p:ext uri="{BB962C8B-B14F-4D97-AF65-F5344CB8AC3E}">
        <p14:creationId xmlns:p14="http://schemas.microsoft.com/office/powerpoint/2010/main" val="339332003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348880"/>
            <a:ext cx="8229600" cy="4525963"/>
          </a:xfrm>
        </p:spPr>
        <p:txBody>
          <a:bodyPr>
            <a:normAutofit/>
          </a:bodyPr>
          <a:lstStyle/>
          <a:p>
            <a:pPr algn="just">
              <a:lnSpc>
                <a:spcPct val="150000"/>
              </a:lnSpc>
            </a:pPr>
            <a:r>
              <a:rPr lang="en-US" sz="2400" dirty="0"/>
              <a:t>FTP contacts the remote computer using the TCP/IP software. </a:t>
            </a:r>
          </a:p>
          <a:p>
            <a:pPr algn="just">
              <a:lnSpc>
                <a:spcPct val="150000"/>
              </a:lnSpc>
            </a:pPr>
            <a:r>
              <a:rPr lang="en-US" sz="2400" dirty="0"/>
              <a:t>Once the connection is established, the user can choose to download a file from the computer or the user can send a file from his computer to be stored on the </a:t>
            </a:r>
            <a:r>
              <a:rPr lang="en-US" sz="2400" dirty="0" smtClean="0"/>
              <a:t>remote computer</a:t>
            </a:r>
            <a:r>
              <a:rPr lang="en-US" sz="2400" dirty="0"/>
              <a:t>. </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0755" y="-27384"/>
            <a:ext cx="4581525" cy="2352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47913" y="4669110"/>
            <a:ext cx="4448175" cy="218889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270789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32656"/>
            <a:ext cx="8229600" cy="5793507"/>
          </a:xfrm>
        </p:spPr>
        <p:txBody>
          <a:bodyPr>
            <a:normAutofit fontScale="77500" lnSpcReduction="20000"/>
          </a:bodyPr>
          <a:lstStyle/>
          <a:p>
            <a:pPr algn="just">
              <a:lnSpc>
                <a:spcPct val="150000"/>
              </a:lnSpc>
            </a:pPr>
            <a:r>
              <a:rPr lang="en-US" dirty="0" smtClean="0"/>
              <a:t>FTP presents the user with a prompt and allows entering various commands for accessing and downloading files that physically exist on a remote computer. After invoking an FTP application, The user identifies a remote computer and instructs FTP to establish a connection with it. FTP contacts the remote computer using the TCP/IP software. Once the connection is established, the user can choose to download a file from the computer or the user can send a file from his computer to be stored on the remote computer.</a:t>
            </a:r>
            <a:endParaRPr lang="en-US" dirty="0"/>
          </a:p>
        </p:txBody>
      </p:sp>
    </p:spTree>
    <p:extLst>
      <p:ext uri="{BB962C8B-B14F-4D97-AF65-F5344CB8AC3E}">
        <p14:creationId xmlns:p14="http://schemas.microsoft.com/office/powerpoint/2010/main" val="285364261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9392"/>
            <a:ext cx="8229600" cy="1143000"/>
          </a:xfrm>
        </p:spPr>
        <p:txBody>
          <a:bodyPr/>
          <a:lstStyle/>
          <a:p>
            <a:r>
              <a:rPr lang="en-US" dirty="0" smtClean="0"/>
              <a:t>TELNET</a:t>
            </a:r>
            <a:endParaRPr lang="en-US" dirty="0"/>
          </a:p>
        </p:txBody>
      </p:sp>
      <p:sp>
        <p:nvSpPr>
          <p:cNvPr id="3" name="Content Placeholder 2"/>
          <p:cNvSpPr>
            <a:spLocks noGrp="1"/>
          </p:cNvSpPr>
          <p:nvPr>
            <p:ph idx="1"/>
          </p:nvPr>
        </p:nvSpPr>
        <p:spPr>
          <a:xfrm>
            <a:off x="457200" y="1268760"/>
            <a:ext cx="8229600" cy="5328592"/>
          </a:xfrm>
        </p:spPr>
        <p:txBody>
          <a:bodyPr>
            <a:normAutofit fontScale="62500" lnSpcReduction="20000"/>
          </a:bodyPr>
          <a:lstStyle/>
          <a:p>
            <a:pPr algn="just">
              <a:lnSpc>
                <a:spcPct val="170000"/>
              </a:lnSpc>
            </a:pPr>
            <a:r>
              <a:rPr lang="en-US" dirty="0" smtClean="0"/>
              <a:t>TELNET is a general-purpose client-server application program. </a:t>
            </a:r>
          </a:p>
          <a:p>
            <a:pPr algn="just">
              <a:lnSpc>
                <a:spcPct val="170000"/>
              </a:lnSpc>
            </a:pPr>
            <a:r>
              <a:rPr lang="en-US" dirty="0" smtClean="0"/>
              <a:t>TELNET enables the establishment of a connection to a remote system in such a way that the local terminal appears to be a terminal at the remote system. TELNET has two parts, the client and server.</a:t>
            </a:r>
          </a:p>
          <a:p>
            <a:pPr algn="just">
              <a:lnSpc>
                <a:spcPct val="170000"/>
              </a:lnSpc>
            </a:pPr>
            <a:r>
              <a:rPr lang="en-US" dirty="0" smtClean="0"/>
              <a:t> The client portion of TELNET software resides on an end user’s machine, and the server portion resides on a remote server machine.</a:t>
            </a:r>
          </a:p>
          <a:p>
            <a:pPr algn="just">
              <a:lnSpc>
                <a:spcPct val="170000"/>
              </a:lnSpc>
            </a:pPr>
            <a:r>
              <a:rPr lang="en-US" dirty="0" smtClean="0"/>
              <a:t> This server is the TELNET server, which provides an interactive terminal session to execute commands on the remote host.</a:t>
            </a:r>
          </a:p>
          <a:p>
            <a:pPr algn="just">
              <a:lnSpc>
                <a:spcPct val="170000"/>
              </a:lnSpc>
            </a:pPr>
            <a:r>
              <a:rPr lang="en-US" dirty="0" smtClean="0"/>
              <a:t> In timesharing systems, all users log into the centralized server and uses its resources. This is called local login.</a:t>
            </a:r>
            <a:endParaRPr lang="en-US" dirty="0"/>
          </a:p>
        </p:txBody>
      </p:sp>
    </p:spTree>
    <p:extLst>
      <p:ext uri="{BB962C8B-B14F-4D97-AF65-F5344CB8AC3E}">
        <p14:creationId xmlns:p14="http://schemas.microsoft.com/office/powerpoint/2010/main" val="43050108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333625" y="1772444"/>
            <a:ext cx="4476750" cy="4181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2554201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9552" y="404664"/>
            <a:ext cx="8229600" cy="5904656"/>
          </a:xfrm>
        </p:spPr>
        <p:txBody>
          <a:bodyPr>
            <a:normAutofit fontScale="77500" lnSpcReduction="20000"/>
          </a:bodyPr>
          <a:lstStyle/>
          <a:p>
            <a:pPr algn="just">
              <a:lnSpc>
                <a:spcPct val="170000"/>
              </a:lnSpc>
            </a:pPr>
            <a:r>
              <a:rPr lang="en-US" dirty="0" smtClean="0"/>
              <a:t>A user’s terminal sends the commands entered by the user from the terminal is carried to the terminal driver which is running on the server and it is the part of the server machine operating system. </a:t>
            </a:r>
          </a:p>
          <a:p>
            <a:pPr algn="just">
              <a:lnSpc>
                <a:spcPct val="170000"/>
              </a:lnSpc>
            </a:pPr>
            <a:r>
              <a:rPr lang="en-US" dirty="0" smtClean="0"/>
              <a:t>The terminal driver then sends the requests to the appropriate module of the server operating system.</a:t>
            </a:r>
          </a:p>
          <a:p>
            <a:pPr algn="just">
              <a:lnSpc>
                <a:spcPct val="170000"/>
              </a:lnSpc>
            </a:pPr>
            <a:r>
              <a:rPr lang="en-US" dirty="0" smtClean="0"/>
              <a:t> The operating system then processes this commands and invokes the appropriate application program, which executes on the server machine and the result is send back to the terminal.</a:t>
            </a:r>
            <a:endParaRPr lang="en-US" dirty="0"/>
          </a:p>
        </p:txBody>
      </p:sp>
    </p:spTree>
    <p:extLst>
      <p:ext uri="{BB962C8B-B14F-4D97-AF65-F5344CB8AC3E}">
        <p14:creationId xmlns:p14="http://schemas.microsoft.com/office/powerpoint/2010/main" val="110564288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09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37320" y="188640"/>
            <a:ext cx="5842992" cy="254410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ectangle 3"/>
          <p:cNvSpPr/>
          <p:nvPr/>
        </p:nvSpPr>
        <p:spPr>
          <a:xfrm>
            <a:off x="251520" y="2555026"/>
            <a:ext cx="8496944" cy="3785652"/>
          </a:xfrm>
          <a:prstGeom prst="rect">
            <a:avLst/>
          </a:prstGeom>
        </p:spPr>
        <p:txBody>
          <a:bodyPr wrap="square">
            <a:spAutoFit/>
          </a:bodyPr>
          <a:lstStyle/>
          <a:p>
            <a:pPr algn="just">
              <a:lnSpc>
                <a:spcPct val="150000"/>
              </a:lnSpc>
            </a:pPr>
            <a:r>
              <a:rPr lang="en-US" sz="2000" dirty="0" smtClean="0"/>
              <a:t>The commands from the terminal is sent to the operating system of common server computer as that in local login the commands are not interpreted but sent to the TELNET client translates characters (data or commands) that come from the local terminal into NVT form and delivers them to the network. </a:t>
            </a:r>
          </a:p>
          <a:p>
            <a:pPr algn="just">
              <a:lnSpc>
                <a:spcPct val="150000"/>
              </a:lnSpc>
            </a:pPr>
            <a:r>
              <a:rPr lang="en-US" sz="2000" dirty="0" smtClean="0"/>
              <a:t>The TELNET server translates data and commands from NVT form into the form acceptable by the remote computer. The pseudo-terminal driver is a software program which handles the commands from the terminal via TELNET Server which invokes the appropriate application on the remote server.</a:t>
            </a:r>
            <a:endParaRPr lang="en-US" sz="2000" dirty="0"/>
          </a:p>
        </p:txBody>
      </p:sp>
    </p:spTree>
    <p:extLst>
      <p:ext uri="{BB962C8B-B14F-4D97-AF65-F5344CB8AC3E}">
        <p14:creationId xmlns:p14="http://schemas.microsoft.com/office/powerpoint/2010/main" val="58309131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SMTP</a:t>
            </a:r>
            <a:endParaRPr lang="en-US" dirty="0"/>
          </a:p>
        </p:txBody>
      </p:sp>
      <p:sp>
        <p:nvSpPr>
          <p:cNvPr id="3" name="Content Placeholder 2"/>
          <p:cNvSpPr>
            <a:spLocks noGrp="1"/>
          </p:cNvSpPr>
          <p:nvPr>
            <p:ph idx="1"/>
          </p:nvPr>
        </p:nvSpPr>
        <p:spPr/>
        <p:txBody>
          <a:bodyPr/>
          <a:lstStyle/>
          <a:p>
            <a:r>
              <a:rPr lang="en-US" dirty="0" smtClean="0"/>
              <a:t>Simple Mail Transfer Protocol (SMTP) is used to send mail across the internet.</a:t>
            </a:r>
            <a:endParaRPr lang="en-US"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7744" y="2675359"/>
            <a:ext cx="4324350" cy="24098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1479976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60648"/>
            <a:ext cx="8229600" cy="5865515"/>
          </a:xfrm>
        </p:spPr>
        <p:txBody>
          <a:bodyPr>
            <a:normAutofit fontScale="70000" lnSpcReduction="20000"/>
          </a:bodyPr>
          <a:lstStyle/>
          <a:p>
            <a:pPr algn="just">
              <a:lnSpc>
                <a:spcPct val="170000"/>
              </a:lnSpc>
            </a:pPr>
            <a:r>
              <a:rPr lang="en-US" dirty="0"/>
              <a:t>The TCP/IP protocol that supports electronic mail on the internet is called SMTP. It is the system for sending messages to other computer users based on e-mail addresses. SMTP provides for mail exchange between users on the same or different computers and supports: </a:t>
            </a:r>
          </a:p>
          <a:p>
            <a:pPr algn="just">
              <a:lnSpc>
                <a:spcPct val="170000"/>
              </a:lnSpc>
            </a:pPr>
            <a:r>
              <a:rPr lang="en-US" dirty="0"/>
              <a:t>1. sending single message to one or more recipients. </a:t>
            </a:r>
          </a:p>
          <a:p>
            <a:pPr algn="just">
              <a:lnSpc>
                <a:spcPct val="170000"/>
              </a:lnSpc>
            </a:pPr>
            <a:r>
              <a:rPr lang="en-US" dirty="0"/>
              <a:t>2. sending messages that include </a:t>
            </a:r>
            <a:r>
              <a:rPr lang="en-US" dirty="0" err="1"/>
              <a:t>text,voice,video</a:t>
            </a:r>
            <a:r>
              <a:rPr lang="en-US" dirty="0"/>
              <a:t> or graphics. </a:t>
            </a:r>
          </a:p>
          <a:p>
            <a:pPr algn="just">
              <a:lnSpc>
                <a:spcPct val="170000"/>
              </a:lnSpc>
            </a:pPr>
            <a:r>
              <a:rPr lang="en-US" dirty="0"/>
              <a:t>3. sending messages to users on networks outside the internet. </a:t>
            </a:r>
          </a:p>
        </p:txBody>
      </p:sp>
    </p:spTree>
    <p:extLst>
      <p:ext uri="{BB962C8B-B14F-4D97-AF65-F5344CB8AC3E}">
        <p14:creationId xmlns:p14="http://schemas.microsoft.com/office/powerpoint/2010/main" val="23238210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614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79712" y="250076"/>
            <a:ext cx="4744938" cy="322277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ectangle 3"/>
          <p:cNvSpPr/>
          <p:nvPr/>
        </p:nvSpPr>
        <p:spPr>
          <a:xfrm>
            <a:off x="179512" y="3718480"/>
            <a:ext cx="8784976" cy="2917722"/>
          </a:xfrm>
          <a:prstGeom prst="rect">
            <a:avLst/>
          </a:prstGeom>
        </p:spPr>
        <p:txBody>
          <a:bodyPr wrap="square">
            <a:spAutoFit/>
          </a:bodyPr>
          <a:lstStyle/>
          <a:p>
            <a:pPr algn="just">
              <a:lnSpc>
                <a:spcPct val="170000"/>
              </a:lnSpc>
            </a:pPr>
            <a:r>
              <a:rPr lang="en-US" dirty="0" smtClean="0"/>
              <a:t>UA - users agent. </a:t>
            </a:r>
          </a:p>
          <a:p>
            <a:pPr algn="just">
              <a:lnSpc>
                <a:spcPct val="170000"/>
              </a:lnSpc>
            </a:pPr>
            <a:r>
              <a:rPr lang="en-US" dirty="0" smtClean="0"/>
              <a:t>This is the program a user will use to type e-mail. It usually incorporates an editor for support. The user types the mail and it is passed to the sending MTA. </a:t>
            </a:r>
          </a:p>
          <a:p>
            <a:pPr algn="just">
              <a:lnSpc>
                <a:spcPct val="170000"/>
              </a:lnSpc>
            </a:pPr>
            <a:r>
              <a:rPr lang="en-US" dirty="0" smtClean="0"/>
              <a:t>MTA </a:t>
            </a:r>
          </a:p>
          <a:p>
            <a:pPr algn="just">
              <a:lnSpc>
                <a:spcPct val="170000"/>
              </a:lnSpc>
            </a:pPr>
            <a:r>
              <a:rPr lang="en-US" dirty="0" smtClean="0"/>
              <a:t>Message transfer agent is used to pass mail from the sending machine to the receiving machine. There is a MTA program running on both the sending and receiving machine</a:t>
            </a:r>
            <a:endParaRPr lang="en-US" dirty="0"/>
          </a:p>
        </p:txBody>
      </p:sp>
    </p:spTree>
    <p:extLst>
      <p:ext uri="{BB962C8B-B14F-4D97-AF65-F5344CB8AC3E}">
        <p14:creationId xmlns:p14="http://schemas.microsoft.com/office/powerpoint/2010/main" val="294748337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The address format used for sending mail in general which is called email id to communicate</a:t>
            </a:r>
            <a:r>
              <a:rPr lang="en-US" dirty="0" smtClean="0"/>
              <a:t>.</a:t>
            </a:r>
          </a:p>
          <a:p>
            <a:endParaRPr lang="en-US" dirty="0"/>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86111" y="3337148"/>
            <a:ext cx="5450185" cy="157938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9467111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43408"/>
            <a:ext cx="8229600" cy="1143000"/>
          </a:xfrm>
        </p:spPr>
        <p:txBody>
          <a:bodyPr/>
          <a:lstStyle/>
          <a:p>
            <a:r>
              <a:rPr lang="en-US" dirty="0" smtClean="0"/>
              <a:t>HTTP</a:t>
            </a:r>
            <a:endParaRPr lang="en-US" dirty="0"/>
          </a:p>
        </p:txBody>
      </p:sp>
      <p:sp>
        <p:nvSpPr>
          <p:cNvPr id="3" name="Content Placeholder 2"/>
          <p:cNvSpPr>
            <a:spLocks noGrp="1"/>
          </p:cNvSpPr>
          <p:nvPr>
            <p:ph idx="1"/>
          </p:nvPr>
        </p:nvSpPr>
        <p:spPr>
          <a:xfrm>
            <a:off x="457200" y="692696"/>
            <a:ext cx="8229600" cy="5976664"/>
          </a:xfrm>
        </p:spPr>
        <p:txBody>
          <a:bodyPr>
            <a:normAutofit fontScale="70000" lnSpcReduction="20000"/>
          </a:bodyPr>
          <a:lstStyle/>
          <a:p>
            <a:pPr algn="just">
              <a:lnSpc>
                <a:spcPct val="170000"/>
              </a:lnSpc>
            </a:pPr>
            <a:r>
              <a:rPr lang="en-US" dirty="0" smtClean="0"/>
              <a:t>One of the application layer protocol is HTTP. Hyper Text Transfer Protocol. </a:t>
            </a:r>
          </a:p>
          <a:p>
            <a:pPr algn="just">
              <a:lnSpc>
                <a:spcPct val="170000"/>
              </a:lnSpc>
            </a:pPr>
            <a:r>
              <a:rPr lang="en-US" dirty="0" smtClean="0"/>
              <a:t>HTTP is the underlying protocol used by the World Wide Web and this protocol defines how messages are formatted and transmitted, and what actions Web servers and browsers should take in response to various commands.</a:t>
            </a:r>
          </a:p>
          <a:p>
            <a:pPr algn="just">
              <a:lnSpc>
                <a:spcPct val="170000"/>
              </a:lnSpc>
            </a:pPr>
            <a:r>
              <a:rPr lang="en-US" dirty="0" smtClean="0"/>
              <a:t> For example, when a URL is entered from a client browser, this actually sends an HTTP command to the Web server directing it to fetch and transmit the requested Web page. </a:t>
            </a:r>
          </a:p>
          <a:p>
            <a:pPr algn="just">
              <a:lnSpc>
                <a:spcPct val="170000"/>
              </a:lnSpc>
            </a:pPr>
            <a:r>
              <a:rPr lang="en-US" dirty="0" smtClean="0"/>
              <a:t>Some of the HTTP commands are: GET,HEAD,PUT,POST,DELETE,LINK</a:t>
            </a:r>
            <a:endParaRPr lang="en-US" dirty="0"/>
          </a:p>
        </p:txBody>
      </p:sp>
    </p:spTree>
    <p:extLst>
      <p:ext uri="{BB962C8B-B14F-4D97-AF65-F5344CB8AC3E}">
        <p14:creationId xmlns:p14="http://schemas.microsoft.com/office/powerpoint/2010/main" val="26093366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8194"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40018" t="54029" r="22464" b="21482"/>
          <a:stretch/>
        </p:blipFill>
        <p:spPr bwMode="auto">
          <a:xfrm>
            <a:off x="539552" y="-27384"/>
            <a:ext cx="7704856" cy="282747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Rectangle 4"/>
          <p:cNvSpPr/>
          <p:nvPr/>
        </p:nvSpPr>
        <p:spPr>
          <a:xfrm>
            <a:off x="323528" y="2924944"/>
            <a:ext cx="8568952" cy="3359061"/>
          </a:xfrm>
          <a:prstGeom prst="rect">
            <a:avLst/>
          </a:prstGeom>
        </p:spPr>
        <p:txBody>
          <a:bodyPr wrap="square">
            <a:spAutoFit/>
          </a:bodyPr>
          <a:lstStyle/>
          <a:p>
            <a:pPr algn="just">
              <a:lnSpc>
                <a:spcPct val="150000"/>
              </a:lnSpc>
            </a:pPr>
            <a:r>
              <a:rPr lang="en-US" sz="2400" dirty="0" smtClean="0"/>
              <a:t>The client submits an HTTP request message to the server. </a:t>
            </a:r>
          </a:p>
          <a:p>
            <a:pPr algn="just">
              <a:lnSpc>
                <a:spcPct val="150000"/>
              </a:lnSpc>
            </a:pPr>
            <a:r>
              <a:rPr lang="en-US" sz="2400" dirty="0" smtClean="0"/>
              <a:t>The server, which provides resources such as HTML files (web pages) and other content, or performs other functions on behalf of the client, returns a response message to the client. The response contains completion status information about the request and may also contain requested content in its message body.</a:t>
            </a:r>
            <a:endParaRPr lang="en-US" sz="2400" dirty="0"/>
          </a:p>
        </p:txBody>
      </p:sp>
    </p:spTree>
    <p:extLst>
      <p:ext uri="{BB962C8B-B14F-4D97-AF65-F5344CB8AC3E}">
        <p14:creationId xmlns:p14="http://schemas.microsoft.com/office/powerpoint/2010/main" val="34862050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62272"/>
            <a:ext cx="8229600" cy="1143000"/>
          </a:xfrm>
        </p:spPr>
        <p:txBody>
          <a:bodyPr/>
          <a:lstStyle/>
          <a:p>
            <a:r>
              <a:rPr lang="en-US" dirty="0" smtClean="0"/>
              <a:t>POP3</a:t>
            </a:r>
            <a:endParaRPr lang="en-US" dirty="0"/>
          </a:p>
        </p:txBody>
      </p:sp>
      <p:sp>
        <p:nvSpPr>
          <p:cNvPr id="3" name="Content Placeholder 2"/>
          <p:cNvSpPr>
            <a:spLocks noGrp="1"/>
          </p:cNvSpPr>
          <p:nvPr>
            <p:ph idx="1"/>
          </p:nvPr>
        </p:nvSpPr>
        <p:spPr>
          <a:xfrm>
            <a:off x="457200" y="908720"/>
            <a:ext cx="8229600" cy="5616624"/>
          </a:xfrm>
        </p:spPr>
        <p:txBody>
          <a:bodyPr>
            <a:normAutofit/>
          </a:bodyPr>
          <a:lstStyle/>
          <a:p>
            <a:pPr algn="just">
              <a:lnSpc>
                <a:spcPct val="170000"/>
              </a:lnSpc>
            </a:pPr>
            <a:r>
              <a:rPr lang="en-US" sz="1600" dirty="0" smtClean="0"/>
              <a:t>The Post Office Protocol (POP3) is an Internet standard protocol used by local email software clients to retrieve emails from a remote mail server over a TCP/IP connection. </a:t>
            </a:r>
          </a:p>
          <a:p>
            <a:pPr algn="just">
              <a:lnSpc>
                <a:spcPct val="170000"/>
              </a:lnSpc>
            </a:pPr>
            <a:r>
              <a:rPr lang="en-US" sz="1600" dirty="0" smtClean="0"/>
              <a:t>Email servers hosted by Internet service providers also use POP3 to receive and hold emails intended for their subscribers. </a:t>
            </a:r>
          </a:p>
          <a:p>
            <a:pPr algn="just">
              <a:lnSpc>
                <a:spcPct val="170000"/>
              </a:lnSpc>
            </a:pPr>
            <a:r>
              <a:rPr lang="en-US" sz="1600" dirty="0" smtClean="0"/>
              <a:t>Periodically, these subscribers will use email client software to check their mailbox on the remote server and download any emails addressed to them.</a:t>
            </a:r>
          </a:p>
          <a:p>
            <a:pPr algn="just">
              <a:lnSpc>
                <a:spcPct val="170000"/>
              </a:lnSpc>
            </a:pPr>
            <a:r>
              <a:rPr lang="en-US" sz="1600" dirty="0" smtClean="0"/>
              <a:t> Once the email client has downloaded the emails, they are usually deleted from the server, although some email clients allow users to specify that mails be copied or saved on the server for a period of time. </a:t>
            </a:r>
          </a:p>
          <a:p>
            <a:pPr algn="just">
              <a:lnSpc>
                <a:spcPct val="170000"/>
              </a:lnSpc>
            </a:pPr>
            <a:r>
              <a:rPr lang="en-US" sz="1600" dirty="0" smtClean="0"/>
              <a:t>Email clients generally use the well-known TCP port 110 to connect to a POP3 server. </a:t>
            </a:r>
          </a:p>
        </p:txBody>
      </p:sp>
    </p:spTree>
    <p:extLst>
      <p:ext uri="{BB962C8B-B14F-4D97-AF65-F5344CB8AC3E}">
        <p14:creationId xmlns:p14="http://schemas.microsoft.com/office/powerpoint/2010/main" val="34071624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9218"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38124" t="18520" r="18850" b="8319"/>
          <a:stretch/>
        </p:blipFill>
        <p:spPr bwMode="auto">
          <a:xfrm>
            <a:off x="1907704" y="404664"/>
            <a:ext cx="6028776" cy="576350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741945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71400"/>
            <a:ext cx="8229600" cy="1143000"/>
          </a:xfrm>
        </p:spPr>
        <p:txBody>
          <a:bodyPr/>
          <a:lstStyle/>
          <a:p>
            <a:r>
              <a:rPr lang="en-US" dirty="0" smtClean="0"/>
              <a:t>DNS</a:t>
            </a:r>
            <a:endParaRPr lang="en-US" dirty="0"/>
          </a:p>
        </p:txBody>
      </p:sp>
      <p:sp>
        <p:nvSpPr>
          <p:cNvPr id="3" name="Content Placeholder 2"/>
          <p:cNvSpPr>
            <a:spLocks noGrp="1"/>
          </p:cNvSpPr>
          <p:nvPr>
            <p:ph idx="1"/>
          </p:nvPr>
        </p:nvSpPr>
        <p:spPr>
          <a:xfrm>
            <a:off x="179512" y="836712"/>
            <a:ext cx="8507288" cy="5832648"/>
          </a:xfrm>
        </p:spPr>
        <p:txBody>
          <a:bodyPr>
            <a:normAutofit fontScale="70000" lnSpcReduction="20000"/>
          </a:bodyPr>
          <a:lstStyle/>
          <a:p>
            <a:pPr algn="just"/>
            <a:r>
              <a:rPr lang="en-US" dirty="0" smtClean="0"/>
              <a:t>DNS - Domain Name System A simple idea in identifying computer networks and computers on those networks by some name is the basis for domain names. </a:t>
            </a:r>
          </a:p>
          <a:p>
            <a:pPr algn="just"/>
            <a:r>
              <a:rPr lang="en-US" dirty="0" smtClean="0"/>
              <a:t>Domain name is a name given to a group of computers that are called by single name is called Domain.</a:t>
            </a:r>
          </a:p>
          <a:p>
            <a:pPr algn="just"/>
            <a:r>
              <a:rPr lang="en-US" dirty="0" smtClean="0"/>
              <a:t> These Domain names are to be translated to its respective IP addresses because this IP address is handled by the TCP/IP or the internet understands while sending and receiving any messages.</a:t>
            </a:r>
          </a:p>
          <a:p>
            <a:pPr algn="just"/>
            <a:r>
              <a:rPr lang="en-US" dirty="0" smtClean="0"/>
              <a:t>This translation is handled by DNS. The Domain Name System (DNS) is basically a large database which resides on various computers and it contains the names and IP addresses of various hosts on the internet and various domains.</a:t>
            </a:r>
          </a:p>
          <a:p>
            <a:pPr algn="just"/>
            <a:r>
              <a:rPr lang="en-US" dirty="0" smtClean="0"/>
              <a:t> The Domain Name System is used to provide information to the Domain Name Service to use when queries are made.</a:t>
            </a:r>
          </a:p>
          <a:p>
            <a:pPr algn="just"/>
            <a:r>
              <a:rPr lang="en-US" dirty="0" smtClean="0"/>
              <a:t> The service is the act of querying the database, and the system is the data structure and data itself.</a:t>
            </a:r>
          </a:p>
          <a:p>
            <a:pPr algn="just"/>
            <a:r>
              <a:rPr lang="en-US" dirty="0" smtClean="0"/>
              <a:t> The humans use domain names when referring to computers in network whereas computers use IP addresses.</a:t>
            </a:r>
          </a:p>
        </p:txBody>
      </p:sp>
    </p:spTree>
    <p:extLst>
      <p:ext uri="{BB962C8B-B14F-4D97-AF65-F5344CB8AC3E}">
        <p14:creationId xmlns:p14="http://schemas.microsoft.com/office/powerpoint/2010/main" val="17128215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38985" t="34437" r="12998" b="23319"/>
          <a:stretch/>
        </p:blipFill>
        <p:spPr bwMode="auto">
          <a:xfrm>
            <a:off x="741495" y="980728"/>
            <a:ext cx="8006969" cy="56886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113153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116632"/>
            <a:ext cx="8507288" cy="6408712"/>
          </a:xfrm>
        </p:spPr>
        <p:txBody>
          <a:bodyPr>
            <a:normAutofit fontScale="92500" lnSpcReduction="10000"/>
          </a:bodyPr>
          <a:lstStyle/>
          <a:p>
            <a:r>
              <a:rPr lang="en-US" dirty="0" smtClean="0"/>
              <a:t> Domain names are used in URLs to identify particular Webpages.</a:t>
            </a:r>
          </a:p>
          <a:p>
            <a:r>
              <a:rPr lang="en-US" dirty="0" smtClean="0"/>
              <a:t> For example, in the URL http://www.tndte.gov the domain name is tndte.gov. </a:t>
            </a:r>
          </a:p>
          <a:p>
            <a:r>
              <a:rPr lang="en-US" dirty="0" smtClean="0"/>
              <a:t>The DNS is distributed, means the database containing the mapping between the domain names and IP addresses is scattered across the different computers. </a:t>
            </a:r>
          </a:p>
          <a:p>
            <a:r>
              <a:rPr lang="en-US" dirty="0" smtClean="0"/>
              <a:t>The DNS system is, in fact, its own network.</a:t>
            </a:r>
          </a:p>
          <a:p>
            <a:r>
              <a:rPr lang="en-US" dirty="0" smtClean="0"/>
              <a:t> If one DNS server doesn't know how to translate a particular domain name, it asks another one, and so on, until the correct IP address is returned. The domain name system database is divided into sections called zones. </a:t>
            </a:r>
          </a:p>
          <a:p>
            <a:endParaRPr lang="en-US" dirty="0"/>
          </a:p>
        </p:txBody>
      </p:sp>
    </p:spTree>
    <p:extLst>
      <p:ext uri="{BB962C8B-B14F-4D97-AF65-F5344CB8AC3E}">
        <p14:creationId xmlns:p14="http://schemas.microsoft.com/office/powerpoint/2010/main" val="31288525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4411</TotalTime>
  <Words>1338</Words>
  <Application>Microsoft Office PowerPoint</Application>
  <PresentationFormat>On-screen Show (4:3)</PresentationFormat>
  <Paragraphs>64</Paragraphs>
  <Slides>21</Slides>
  <Notes>0</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Office Theme</vt:lpstr>
      <vt:lpstr>Application Layer Protocols</vt:lpstr>
      <vt:lpstr>Application Layer Protocols</vt:lpstr>
      <vt:lpstr>FTP</vt:lpstr>
      <vt:lpstr>PowerPoint Presentation</vt:lpstr>
      <vt:lpstr>PowerPoint Presentation</vt:lpstr>
      <vt:lpstr>PowerPoint Presentation</vt:lpstr>
      <vt:lpstr>TELNET</vt:lpstr>
      <vt:lpstr>PowerPoint Presentation</vt:lpstr>
      <vt:lpstr>PowerPoint Presentation</vt:lpstr>
      <vt:lpstr>PowerPoint Presentation</vt:lpstr>
      <vt:lpstr>SMTP</vt:lpstr>
      <vt:lpstr>PowerPoint Presentation</vt:lpstr>
      <vt:lpstr>PowerPoint Presentation</vt:lpstr>
      <vt:lpstr>PowerPoint Presentation</vt:lpstr>
      <vt:lpstr>HTTP</vt:lpstr>
      <vt:lpstr>PowerPoint Presentation</vt:lpstr>
      <vt:lpstr>POP3</vt:lpstr>
      <vt:lpstr>PowerPoint Presentation</vt:lpstr>
      <vt:lpstr>DNS</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Application Layer Protocols</dc:title>
  <dc:creator>HP</dc:creator>
  <cp:lastModifiedBy>HP</cp:lastModifiedBy>
  <cp:revision>7</cp:revision>
  <dcterms:created xsi:type="dcterms:W3CDTF">2021-05-29T13:23:15Z</dcterms:created>
  <dcterms:modified xsi:type="dcterms:W3CDTF">2021-06-01T14:54:26Z</dcterms:modified>
</cp:coreProperties>
</file>