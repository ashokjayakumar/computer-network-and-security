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59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9EFF29"/>
    <a:srgbClr val="FF2549"/>
    <a:srgbClr val="007033"/>
    <a:srgbClr val="C33A1F"/>
    <a:srgbClr val="003635"/>
    <a:srgbClr val="D6370C"/>
    <a:srgbClr val="1D3A00"/>
    <a:srgbClr val="FF856D"/>
    <a:srgbClr val="0058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-450" y="-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31490" y="2639960"/>
            <a:ext cx="7388941" cy="1246241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Master </a:t>
            </a: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1490" y="3886201"/>
            <a:ext cx="7382308" cy="678426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  <a:r>
              <a:rPr lang="en-US" dirty="0" smtClean="0"/>
              <a:t>Master </a:t>
            </a:r>
            <a:r>
              <a:rPr lang="en-US" dirty="0"/>
              <a:t>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224337"/>
            <a:ext cx="8259098" cy="763526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216742"/>
            <a:ext cx="8246070" cy="3561734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564" y="318046"/>
            <a:ext cx="6438122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071" y="1069258"/>
            <a:ext cx="6459794" cy="3619239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195" y="220027"/>
            <a:ext cx="8093365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131" y="1559652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131" y="2032049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7252" y="1559652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7252" y="2032049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xmlns="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4335" y="2610462"/>
            <a:ext cx="7027605" cy="1334728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TCP / IP Suit</a:t>
            </a: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829" y="3881393"/>
            <a:ext cx="6950307" cy="73004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is TCP / IP?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216741"/>
            <a:ext cx="8246070" cy="3843631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TCP/IP stands for </a:t>
            </a:r>
            <a:r>
              <a:rPr lang="en-IN" b="1" dirty="0">
                <a:solidFill>
                  <a:srgbClr val="FF0000"/>
                </a:solidFill>
              </a:rPr>
              <a:t>Transmission Control </a:t>
            </a:r>
            <a:r>
              <a:rPr lang="en-IN" b="1" dirty="0" smtClean="0">
                <a:solidFill>
                  <a:srgbClr val="FF0000"/>
                </a:solidFill>
              </a:rPr>
              <a:t>Protocol / Internet </a:t>
            </a:r>
            <a:r>
              <a:rPr lang="en-IN" b="1" dirty="0">
                <a:solidFill>
                  <a:srgbClr val="FF0000"/>
                </a:solidFill>
              </a:rPr>
              <a:t>Protocol</a:t>
            </a:r>
            <a:r>
              <a:rPr lang="en-IN" dirty="0"/>
              <a:t> and is a suite of communication protocols used to interconnect network devices on the </a:t>
            </a:r>
            <a:r>
              <a:rPr lang="en-IN" u="sng" dirty="0" smtClean="0"/>
              <a:t>Internet</a:t>
            </a:r>
            <a:r>
              <a:rPr lang="en-IN" dirty="0"/>
              <a:t>. </a:t>
            </a:r>
            <a:endParaRPr lang="en-IN" dirty="0" smtClean="0"/>
          </a:p>
          <a:p>
            <a:pPr algn="just">
              <a:lnSpc>
                <a:spcPct val="150000"/>
              </a:lnSpc>
            </a:pPr>
            <a:r>
              <a:rPr lang="en-IN" dirty="0" smtClean="0"/>
              <a:t>TCP/IP </a:t>
            </a:r>
            <a:r>
              <a:rPr lang="en-IN" dirty="0"/>
              <a:t>is also used as a communications protocol in a private computer network (an intranet or extranet).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TCP / IP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The </a:t>
            </a:r>
            <a:r>
              <a:rPr lang="en-IN" b="1" dirty="0">
                <a:solidFill>
                  <a:srgbClr val="FF0000"/>
                </a:solidFill>
              </a:rPr>
              <a:t>Internet Protocol </a:t>
            </a:r>
            <a:r>
              <a:rPr lang="en-IN" dirty="0">
                <a:solidFill>
                  <a:srgbClr val="FF0000"/>
                </a:solidFill>
              </a:rPr>
              <a:t>(IP) </a:t>
            </a:r>
            <a:r>
              <a:rPr lang="en-IN" dirty="0"/>
              <a:t>is the address system of the Internet and has the core function of delivering packets of information from a source device to a </a:t>
            </a:r>
            <a:r>
              <a:rPr lang="en-IN" dirty="0" smtClean="0"/>
              <a:t>destination device</a:t>
            </a:r>
            <a:r>
              <a:rPr lang="en-IN" dirty="0"/>
              <a:t>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3100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TCP / IP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dirty="0" smtClean="0"/>
              <a:t>IP </a:t>
            </a:r>
            <a:r>
              <a:rPr lang="en-IN" dirty="0"/>
              <a:t>is the primary way in which network connections are made, and it establishes the basis of the Internet. </a:t>
            </a:r>
            <a:endParaRPr lang="en-IN" dirty="0" smtClean="0"/>
          </a:p>
          <a:p>
            <a:pPr algn="just">
              <a:lnSpc>
                <a:spcPct val="150000"/>
              </a:lnSpc>
            </a:pPr>
            <a:r>
              <a:rPr lang="en-IN" dirty="0" smtClean="0"/>
              <a:t>IP </a:t>
            </a:r>
            <a:r>
              <a:rPr lang="en-IN" dirty="0"/>
              <a:t>does not handle packet ordering or error checking. </a:t>
            </a:r>
            <a:endParaRPr lang="en-IN" dirty="0" smtClean="0"/>
          </a:p>
          <a:p>
            <a:pPr algn="just">
              <a:lnSpc>
                <a:spcPct val="150000"/>
              </a:lnSpc>
            </a:pPr>
            <a:r>
              <a:rPr lang="en-IN" dirty="0" smtClean="0"/>
              <a:t>Such </a:t>
            </a:r>
            <a:r>
              <a:rPr lang="en-IN" dirty="0"/>
              <a:t>functionality requires another protocol, often the </a:t>
            </a:r>
            <a:r>
              <a:rPr lang="en-IN" b="1" dirty="0">
                <a:solidFill>
                  <a:srgbClr val="FF0000"/>
                </a:solidFill>
              </a:rPr>
              <a:t>Transmission Control Protocol</a:t>
            </a:r>
            <a:r>
              <a:rPr lang="en-IN" b="1" dirty="0"/>
              <a:t> </a:t>
            </a:r>
            <a:r>
              <a:rPr lang="en-IN" dirty="0"/>
              <a:t>(TCP).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9963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Layers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216741"/>
            <a:ext cx="8246070" cy="3708549"/>
          </a:xfrm>
        </p:spPr>
        <p:txBody>
          <a:bodyPr>
            <a:noAutofit/>
          </a:bodyPr>
          <a:lstStyle/>
          <a:p>
            <a:pPr algn="just" fontAlgn="base">
              <a:lnSpc>
                <a:spcPct val="170000"/>
              </a:lnSpc>
            </a:pPr>
            <a:r>
              <a:rPr lang="en-IN" dirty="0"/>
              <a:t>The TCP/IP protocol is divided into </a:t>
            </a:r>
            <a:r>
              <a:rPr lang="en-IN" u="sng" dirty="0"/>
              <a:t>two layers</a:t>
            </a:r>
            <a:r>
              <a:rPr lang="en-IN" dirty="0"/>
              <a:t>: the </a:t>
            </a:r>
            <a:r>
              <a:rPr lang="en-IN" dirty="0">
                <a:solidFill>
                  <a:srgbClr val="FF0000"/>
                </a:solidFill>
              </a:rPr>
              <a:t>Transport layer</a:t>
            </a:r>
            <a:r>
              <a:rPr lang="en-IN" dirty="0"/>
              <a:t> and the </a:t>
            </a:r>
            <a:r>
              <a:rPr lang="en-IN" dirty="0">
                <a:solidFill>
                  <a:srgbClr val="FF0000"/>
                </a:solidFill>
              </a:rPr>
              <a:t>Internet layer</a:t>
            </a:r>
            <a:r>
              <a:rPr lang="en-IN" dirty="0"/>
              <a:t>. </a:t>
            </a:r>
            <a:endParaRPr lang="en-IN" dirty="0" smtClean="0"/>
          </a:p>
          <a:p>
            <a:pPr algn="just" fontAlgn="base">
              <a:lnSpc>
                <a:spcPct val="170000"/>
              </a:lnSpc>
            </a:pPr>
            <a:r>
              <a:rPr lang="en-IN" dirty="0" smtClean="0"/>
              <a:t>The </a:t>
            </a:r>
            <a:r>
              <a:rPr lang="en-IN" dirty="0"/>
              <a:t>Transport layer is responsible for ensuring that data is transmitted reliably from one device to another.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1867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TCP and UDP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 fontAlgn="base">
              <a:lnSpc>
                <a:spcPct val="170000"/>
              </a:lnSpc>
            </a:pPr>
            <a:r>
              <a:rPr lang="en-IN" dirty="0" smtClean="0"/>
              <a:t>This </a:t>
            </a:r>
            <a:r>
              <a:rPr lang="en-IN" dirty="0"/>
              <a:t>layer is comprised of two protocols: the Transmission Control Protocol (TCP) and the User Datagram Protocol (UDP).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6811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TCP vs. UDP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 fontAlgn="base">
              <a:lnSpc>
                <a:spcPct val="170000"/>
              </a:lnSpc>
            </a:pPr>
            <a:r>
              <a:rPr lang="en-IN" dirty="0" smtClean="0"/>
              <a:t>TCP </a:t>
            </a:r>
            <a:r>
              <a:rPr lang="en-IN" dirty="0"/>
              <a:t>is used for reliable data transmission, while UDP is used for fast transmission of data that can tolerate some packet loss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2466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 fontAlgn="base">
              <a:lnSpc>
                <a:spcPct val="170000"/>
              </a:lnSpc>
            </a:pPr>
            <a:r>
              <a:rPr lang="en-IN" dirty="0" smtClean="0"/>
              <a:t>The Internet layer is responsible for transmitting data packets between devices. </a:t>
            </a:r>
          </a:p>
          <a:p>
            <a:pPr algn="just" fontAlgn="base">
              <a:lnSpc>
                <a:spcPct val="170000"/>
              </a:lnSpc>
            </a:pPr>
            <a:r>
              <a:rPr lang="en-IN" dirty="0" smtClean="0"/>
              <a:t>This layer is comprised of two protocols: the Internet Protocol (IP) and the Address Resolution Protocol (ARP).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9105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IP vs. ARP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 fontAlgn="base">
              <a:lnSpc>
                <a:spcPct val="170000"/>
              </a:lnSpc>
            </a:pPr>
            <a:r>
              <a:rPr lang="en-IN" dirty="0" smtClean="0"/>
              <a:t>IP </a:t>
            </a:r>
            <a:r>
              <a:rPr lang="en-IN" dirty="0"/>
              <a:t>is responsible for routing data packets between devices, while ARP is used to map IP addresses to physical addresses.</a:t>
            </a:r>
          </a:p>
          <a:p>
            <a:pPr algn="just">
              <a:lnSpc>
                <a:spcPct val="17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7516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OSI vs. TCP/IP</a:t>
            </a:r>
            <a:endParaRPr lang="en-US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846" y="981509"/>
            <a:ext cx="4981575" cy="399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Application Layer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IN" b="1" dirty="0"/>
              <a:t>The application layer provides applications with standardized data exchange</a:t>
            </a:r>
            <a:r>
              <a:rPr lang="en-IN" b="1" dirty="0" smtClean="0"/>
              <a:t>.</a:t>
            </a:r>
          </a:p>
          <a:p>
            <a:pPr algn="just"/>
            <a:r>
              <a:rPr lang="en-IN" dirty="0" smtClean="0"/>
              <a:t>Its </a:t>
            </a:r>
            <a:r>
              <a:rPr lang="en-IN" dirty="0"/>
              <a:t>protocols include HTTP, FTP, Post Office Protocol 3, Simple Mail Transfer Protocol and Simple Network Management Protocol. 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529063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Transport Layer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IN" dirty="0"/>
              <a:t>The transport layer is responsible for maintaining end-to-end communications across the network. </a:t>
            </a:r>
            <a:endParaRPr lang="en-IN" dirty="0" smtClean="0"/>
          </a:p>
          <a:p>
            <a:pPr algn="just"/>
            <a:r>
              <a:rPr lang="en-IN" dirty="0" smtClean="0"/>
              <a:t>TCP </a:t>
            </a:r>
            <a:r>
              <a:rPr lang="en-IN" dirty="0"/>
              <a:t>handles communications between hosts and provides flow control, multiplexing and reliability. </a:t>
            </a:r>
            <a:endParaRPr lang="en-IN" dirty="0" smtClean="0"/>
          </a:p>
          <a:p>
            <a:pPr algn="just"/>
            <a:r>
              <a:rPr lang="en-IN" dirty="0" smtClean="0"/>
              <a:t>The </a:t>
            </a:r>
            <a:r>
              <a:rPr lang="en-IN" dirty="0"/>
              <a:t>transport protocols include TCP and User Datagram Protocol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012876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Network Layer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IN" dirty="0"/>
              <a:t>The network layer, also called the internet layer, deals with packets and connects independent networks to transport the packets across network boundaries. </a:t>
            </a:r>
            <a:endParaRPr lang="en-IN" dirty="0" smtClean="0"/>
          </a:p>
          <a:p>
            <a:pPr algn="just"/>
            <a:r>
              <a:rPr lang="en-IN" dirty="0" smtClean="0"/>
              <a:t>The </a:t>
            </a:r>
            <a:r>
              <a:rPr lang="en-IN" dirty="0"/>
              <a:t>network layer protocols are IP and Internet Control Message Protocol, which is used for error reporting.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342908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Physical Layer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IN" dirty="0"/>
              <a:t>The physical layer, also known as the network interface layer or data link layer, consists of protocols that operate only on a </a:t>
            </a:r>
            <a:r>
              <a:rPr lang="en-IN" dirty="0" smtClean="0"/>
              <a:t>link.</a:t>
            </a:r>
          </a:p>
          <a:p>
            <a:pPr algn="just"/>
            <a:r>
              <a:rPr lang="en-IN" dirty="0"/>
              <a:t>The protocols in this lowest layer include Ethernet for local area networks and Address Resolution Protocol.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226087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 smtClean="0"/>
              <a:t>Transport Layer Protocol</a:t>
            </a:r>
            <a:endParaRPr lang="en-IN" cap="non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815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 Protocol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/>
              <a:t>The transport Layer is the second layer in the TCP/IP model and the fourth layer in the OSI model</a:t>
            </a:r>
            <a:r>
              <a:rPr lang="en-IN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It is an end-to-end layer used to deliver messages to a host.</a:t>
            </a:r>
          </a:p>
        </p:txBody>
      </p:sp>
    </p:spTree>
    <p:extLst>
      <p:ext uri="{BB962C8B-B14F-4D97-AF65-F5344CB8AC3E}">
        <p14:creationId xmlns:p14="http://schemas.microsoft.com/office/powerpoint/2010/main" val="694938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 Protocol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Transport Layer </a:t>
            </a:r>
            <a:r>
              <a:rPr lang="en-IN" dirty="0" smtClean="0"/>
              <a:t>provides </a:t>
            </a:r>
            <a:r>
              <a:rPr lang="en-IN" dirty="0"/>
              <a:t>communication services to the application processes that are running on different hosts</a:t>
            </a:r>
            <a:r>
              <a:rPr lang="en-IN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Transport Layer provides the services to the session layer and it receives the services from the network layer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32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 Protocol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The services provided by transport layer include error correction as well as segmenting and </a:t>
            </a:r>
            <a:r>
              <a:rPr lang="en-IN" dirty="0" err="1"/>
              <a:t>desegmenting</a:t>
            </a:r>
            <a:r>
              <a:rPr lang="en-IN" dirty="0"/>
              <a:t> data before and after it's sent on the network.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1589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 Protocol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Transport layer also provides the flow control functionality and ensures that segmented data is delivered across the network in the right sequence.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8601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cap="none" dirty="0" smtClean="0"/>
              <a:t>Services Provided By Transport Layer</a:t>
            </a:r>
            <a:endParaRPr lang="en-IN" cap="non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95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Services</a:t>
            </a:r>
            <a:endParaRPr lang="en-IN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Process to Process Communication</a:t>
            </a:r>
          </a:p>
          <a:p>
            <a:r>
              <a:rPr lang="en-IN" b="1" dirty="0"/>
              <a:t>Addressing</a:t>
            </a:r>
          </a:p>
          <a:p>
            <a:r>
              <a:rPr lang="en-IN" b="1" dirty="0"/>
              <a:t>Reliable delivery</a:t>
            </a:r>
          </a:p>
          <a:p>
            <a:r>
              <a:rPr lang="en-IN" b="1" dirty="0"/>
              <a:t>Flow </a:t>
            </a:r>
            <a:r>
              <a:rPr lang="en-IN" b="1" dirty="0" smtClean="0"/>
              <a:t>control</a:t>
            </a:r>
          </a:p>
          <a:p>
            <a:r>
              <a:rPr lang="en-IN" b="1" dirty="0" smtClean="0"/>
              <a:t>Congestion </a:t>
            </a:r>
            <a:r>
              <a:rPr lang="en-IN" b="1" dirty="0"/>
              <a:t>avoidance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8608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86696" y="0"/>
            <a:ext cx="8259098" cy="1236517"/>
          </a:xfrm>
        </p:spPr>
        <p:txBody>
          <a:bodyPr>
            <a:normAutofit/>
          </a:bodyPr>
          <a:lstStyle/>
          <a:p>
            <a:r>
              <a:rPr lang="en-IN" b="1" dirty="0"/>
              <a:t>Process to Process </a:t>
            </a:r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Communication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3714" y="1216741"/>
            <a:ext cx="8246070" cy="384363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chemeClr val="accent2"/>
                </a:solidFill>
              </a:rPr>
              <a:t>Transport Layer is responsible for delivery of message to the appropriate process.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Transport Layer uses a </a:t>
            </a:r>
            <a:r>
              <a:rPr lang="en-IN" b="1" u="sng" dirty="0"/>
              <a:t>port number</a:t>
            </a:r>
            <a:r>
              <a:rPr lang="en-IN" dirty="0"/>
              <a:t> to deliver the segmented data to the correct process amongst the multiple processes that are running on a particular host. </a:t>
            </a:r>
          </a:p>
        </p:txBody>
      </p:sp>
    </p:spTree>
    <p:extLst>
      <p:ext uri="{BB962C8B-B14F-4D97-AF65-F5344CB8AC3E}">
        <p14:creationId xmlns:p14="http://schemas.microsoft.com/office/powerpoint/2010/main" val="1217049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216742"/>
            <a:ext cx="8246070" cy="3791676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3300" dirty="0" smtClean="0"/>
              <a:t>A </a:t>
            </a:r>
            <a:r>
              <a:rPr lang="en-IN" sz="3300" dirty="0"/>
              <a:t>port number is a 16-bit address used by transport layer to identify any client-server program.</a:t>
            </a:r>
          </a:p>
          <a:p>
            <a:pPr algn="just">
              <a:lnSpc>
                <a:spcPct val="150000"/>
              </a:lnSpc>
            </a:pPr>
            <a:r>
              <a:rPr lang="en-IN" sz="2400" b="1" dirty="0" smtClean="0"/>
              <a:t>Ports </a:t>
            </a:r>
            <a:r>
              <a:rPr lang="en-IN" sz="2400" b="1" dirty="0"/>
              <a:t>20 and 21:</a:t>
            </a:r>
            <a:r>
              <a:rPr lang="en-IN" sz="2400" dirty="0"/>
              <a:t> File Transfer Protocol (FTP). </a:t>
            </a:r>
            <a:endParaRPr lang="en-IN" sz="2400" dirty="0" smtClean="0"/>
          </a:p>
          <a:p>
            <a:pPr algn="just">
              <a:lnSpc>
                <a:spcPct val="150000"/>
              </a:lnSpc>
            </a:pPr>
            <a:r>
              <a:rPr lang="fr-FR" sz="2400" b="1" dirty="0" smtClean="0"/>
              <a:t>Port </a:t>
            </a:r>
            <a:r>
              <a:rPr lang="fr-FR" sz="2400" b="1" dirty="0"/>
              <a:t>53</a:t>
            </a:r>
            <a:r>
              <a:rPr lang="fr-FR" sz="2400" dirty="0"/>
              <a:t>: Domain Name System (DNS</a:t>
            </a:r>
            <a:r>
              <a:rPr lang="fr-FR" sz="2400" dirty="0" smtClean="0"/>
              <a:t>).</a:t>
            </a:r>
            <a:endParaRPr lang="en-IN" sz="2400" dirty="0" smtClean="0"/>
          </a:p>
          <a:p>
            <a:pPr algn="just">
              <a:lnSpc>
                <a:spcPct val="150000"/>
              </a:lnSpc>
            </a:pPr>
            <a:r>
              <a:rPr lang="en-IN" sz="2400" b="1" dirty="0"/>
              <a:t>Port 80:</a:t>
            </a:r>
            <a:r>
              <a:rPr lang="en-IN" sz="2400" dirty="0"/>
              <a:t> Hypertext Transfer Protocol (HTTP</a:t>
            </a:r>
            <a:r>
              <a:rPr lang="en-IN" sz="2400" dirty="0" smtClean="0"/>
              <a:t>)</a:t>
            </a:r>
          </a:p>
          <a:p>
            <a:pPr algn="just">
              <a:lnSpc>
                <a:spcPct val="150000"/>
              </a:lnSpc>
            </a:pPr>
            <a:r>
              <a:rPr lang="en-IN" sz="2400" b="1" dirty="0" smtClean="0"/>
              <a:t>Port </a:t>
            </a:r>
            <a:r>
              <a:rPr lang="en-IN" sz="2400" b="1" dirty="0"/>
              <a:t>123</a:t>
            </a:r>
            <a:r>
              <a:rPr lang="en-IN" sz="2400" dirty="0"/>
              <a:t>: Network Time Protocol (NTP</a:t>
            </a:r>
            <a:r>
              <a:rPr lang="en-IN" sz="2400" dirty="0" smtClean="0"/>
              <a:t>)</a:t>
            </a:r>
            <a:endParaRPr lang="en-IN" sz="2400" dirty="0"/>
          </a:p>
          <a:p>
            <a:pPr algn="just">
              <a:lnSpc>
                <a:spcPct val="150000"/>
              </a:lnSpc>
            </a:pPr>
            <a:r>
              <a:rPr lang="fr-FR" sz="2400" b="1" dirty="0"/>
              <a:t>Port 443:</a:t>
            </a:r>
            <a:r>
              <a:rPr lang="fr-FR" sz="2400" dirty="0"/>
              <a:t> HTTP Secure (HTTPS</a:t>
            </a:r>
            <a:r>
              <a:rPr lang="fr-FR" sz="2400" dirty="0" smtClean="0"/>
              <a:t>)</a:t>
            </a:r>
            <a:endParaRPr lang="en-IN" sz="2400" dirty="0" smtClean="0"/>
          </a:p>
          <a:p>
            <a:pPr algn="just">
              <a:lnSpc>
                <a:spcPct val="150000"/>
              </a:lnSpc>
            </a:pPr>
            <a:r>
              <a:rPr lang="fr-FR" sz="2400" b="1" dirty="0"/>
              <a:t>Port 3389:</a:t>
            </a:r>
            <a:r>
              <a:rPr lang="fr-FR" sz="2400" dirty="0"/>
              <a:t> Remote Desktop Protocol (RDP)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8526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86696" y="0"/>
            <a:ext cx="8259098" cy="1236517"/>
          </a:xfrm>
        </p:spPr>
        <p:txBody>
          <a:bodyPr>
            <a:normAutofit/>
          </a:bodyPr>
          <a:lstStyle/>
          <a:p>
            <a:r>
              <a:rPr lang="en-IN" b="1" dirty="0">
                <a:effectLst/>
              </a:rPr>
              <a:t>Flow Control</a:t>
            </a:r>
            <a:endParaRPr lang="en-IN" dirty="0">
              <a:effectLst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3714" y="1216742"/>
            <a:ext cx="8246070" cy="3770894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IN" dirty="0"/>
              <a:t>Flow control is used to prevent the sender from overwhelming the receiver. </a:t>
            </a:r>
            <a:endParaRPr lang="en-IN" dirty="0" smtClean="0"/>
          </a:p>
          <a:p>
            <a:pPr algn="just">
              <a:lnSpc>
                <a:spcPct val="170000"/>
              </a:lnSpc>
            </a:pPr>
            <a:r>
              <a:rPr lang="en-IN" dirty="0" smtClean="0"/>
              <a:t>If </a:t>
            </a:r>
            <a:r>
              <a:rPr lang="en-IN" dirty="0"/>
              <a:t>the receiver is overloaded with too much data, then the receiver discards the packets and asking for the retransmission of packets. </a:t>
            </a:r>
          </a:p>
        </p:txBody>
      </p:sp>
    </p:spTree>
    <p:extLst>
      <p:ext uri="{BB962C8B-B14F-4D97-AF65-F5344CB8AC3E}">
        <p14:creationId xmlns:p14="http://schemas.microsoft.com/office/powerpoint/2010/main" val="2101195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86696" y="0"/>
            <a:ext cx="8259098" cy="1236517"/>
          </a:xfrm>
        </p:spPr>
        <p:txBody>
          <a:bodyPr>
            <a:normAutofit/>
          </a:bodyPr>
          <a:lstStyle/>
          <a:p>
            <a:r>
              <a:rPr lang="en-IN" b="1" dirty="0">
                <a:effectLst/>
              </a:rPr>
              <a:t>Flow Control</a:t>
            </a:r>
            <a:endParaRPr lang="en-IN" dirty="0">
              <a:effectLst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3714" y="1216742"/>
            <a:ext cx="8246070" cy="3770894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IN" dirty="0" smtClean="0"/>
              <a:t>This </a:t>
            </a:r>
            <a:r>
              <a:rPr lang="en-IN" dirty="0"/>
              <a:t>increases network congestion and thus, reducing the system performance. </a:t>
            </a:r>
            <a:endParaRPr lang="en-IN" dirty="0" smtClean="0"/>
          </a:p>
          <a:p>
            <a:pPr algn="just">
              <a:lnSpc>
                <a:spcPct val="170000"/>
              </a:lnSpc>
            </a:pPr>
            <a:r>
              <a:rPr lang="en-IN" dirty="0" smtClean="0"/>
              <a:t>The </a:t>
            </a:r>
            <a:r>
              <a:rPr lang="en-IN" dirty="0"/>
              <a:t>transport layer is responsible for flow control. 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80496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86696" y="0"/>
            <a:ext cx="8259098" cy="1236517"/>
          </a:xfrm>
        </p:spPr>
        <p:txBody>
          <a:bodyPr>
            <a:normAutofit/>
          </a:bodyPr>
          <a:lstStyle/>
          <a:p>
            <a:r>
              <a:rPr lang="en-IN" b="1" dirty="0">
                <a:effectLst/>
              </a:rPr>
              <a:t>Flow Control</a:t>
            </a:r>
            <a:endParaRPr lang="en-IN" dirty="0">
              <a:effectLst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3714" y="1216742"/>
            <a:ext cx="8246070" cy="3770894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IN" dirty="0" smtClean="0"/>
              <a:t>It </a:t>
            </a:r>
            <a:r>
              <a:rPr lang="en-IN" dirty="0"/>
              <a:t>uses the sliding window protocol that makes the data transmission more efficient as well as it controls the flow of data so that the receiver does not become overwhelmed. </a:t>
            </a:r>
          </a:p>
        </p:txBody>
      </p:sp>
    </p:spTree>
    <p:extLst>
      <p:ext uri="{BB962C8B-B14F-4D97-AF65-F5344CB8AC3E}">
        <p14:creationId xmlns:p14="http://schemas.microsoft.com/office/powerpoint/2010/main" val="90969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effectLst/>
              </a:rPr>
              <a:t>Congestion </a:t>
            </a:r>
            <a:r>
              <a:rPr lang="en-IN" b="1" dirty="0" smtClean="0">
                <a:effectLst/>
              </a:rPr>
              <a:t>Control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06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</Words>
  <Application>Microsoft Office PowerPoint</Application>
  <PresentationFormat>On-screen Show (16:9)</PresentationFormat>
  <Paragraphs>73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TCP / IP Suit</vt:lpstr>
      <vt:lpstr>What is TCP / IP?</vt:lpstr>
      <vt:lpstr>TCP / IP</vt:lpstr>
      <vt:lpstr>TCP / IP</vt:lpstr>
      <vt:lpstr>Two Layers</vt:lpstr>
      <vt:lpstr>TCP and UDP</vt:lpstr>
      <vt:lpstr>TCP vs. UDP</vt:lpstr>
      <vt:lpstr>IP</vt:lpstr>
      <vt:lpstr>IP vs. ARP</vt:lpstr>
      <vt:lpstr>OSI vs. TCP/IP</vt:lpstr>
      <vt:lpstr>Application Layer</vt:lpstr>
      <vt:lpstr>Transport Layer</vt:lpstr>
      <vt:lpstr>Network Layer</vt:lpstr>
      <vt:lpstr>Physical Layer</vt:lpstr>
      <vt:lpstr>Transport Layer Protocol</vt:lpstr>
      <vt:lpstr>Transport Layer Protocol</vt:lpstr>
      <vt:lpstr>Transport Layer Protocol</vt:lpstr>
      <vt:lpstr>Transport Layer Protocol</vt:lpstr>
      <vt:lpstr>Transport Layer Protocol</vt:lpstr>
      <vt:lpstr>Services Provided By Transport Layer</vt:lpstr>
      <vt:lpstr>Services</vt:lpstr>
      <vt:lpstr>Process to Process  Communication</vt:lpstr>
      <vt:lpstr>PowerPoint Presentation</vt:lpstr>
      <vt:lpstr>Flow Control</vt:lpstr>
      <vt:lpstr>Flow Control</vt:lpstr>
      <vt:lpstr>Flow Control</vt:lpstr>
      <vt:lpstr>Congestion Control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2024-02-07T09:14:02Z</dcterms:modified>
</cp:coreProperties>
</file>