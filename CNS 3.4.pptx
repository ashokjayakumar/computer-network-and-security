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2" r:id="rId6"/>
    <p:sldId id="263" r:id="rId7"/>
    <p:sldId id="264" r:id="rId8"/>
    <p:sldId id="260" r:id="rId9"/>
    <p:sldId id="261"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7" d="100"/>
          <a:sy n="87" d="100"/>
        </p:scale>
        <p:origin x="-106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73DB8FCE-3D53-4F79-AA92-0A441B277106}" type="datetimeFigureOut">
              <a:rPr lang="en-US" smtClean="0"/>
              <a:t>3/9/2024</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8792C016-8B4B-4B1E-B701-204A936B4FF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73DB8FCE-3D53-4F79-AA92-0A441B277106}" type="datetimeFigureOut">
              <a:rPr lang="en-US" smtClean="0"/>
              <a:t>3/9/2024</a:t>
            </a:fld>
            <a:endParaRPr lang="en-US"/>
          </a:p>
        </p:txBody>
      </p:sp>
      <p:sp>
        <p:nvSpPr>
          <p:cNvPr id="9" name="Slide Number Placeholder 8"/>
          <p:cNvSpPr>
            <a:spLocks noGrp="1"/>
          </p:cNvSpPr>
          <p:nvPr>
            <p:ph type="sldNum" sz="quarter" idx="15"/>
          </p:nvPr>
        </p:nvSpPr>
        <p:spPr/>
        <p:txBody>
          <a:bodyPr rtlCol="0"/>
          <a:lstStyle/>
          <a:p>
            <a:fld id="{8792C016-8B4B-4B1E-B701-204A936B4FF9}"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73DB8FCE-3D53-4F79-AA92-0A441B277106}" type="datetimeFigureOut">
              <a:rPr lang="en-US" smtClean="0"/>
              <a:t>3/9/2024</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8792C016-8B4B-4B1E-B701-204A936B4FF9}"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3DB8FCE-3D53-4F79-AA92-0A441B277106}" type="datetimeFigureOut">
              <a:rPr lang="en-US" smtClean="0"/>
              <a:t>3/9/2024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92C016-8B4B-4B1E-B701-204A936B4FF9}"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73DB8FCE-3D53-4F79-AA92-0A441B277106}" type="datetimeFigureOut">
              <a:rPr lang="en-US" smtClean="0"/>
              <a:t>3/9/2024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92C016-8B4B-4B1E-B701-204A936B4FF9}"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73DB8FCE-3D53-4F79-AA92-0A441B277106}" type="datetimeFigureOut">
              <a:rPr lang="en-US" smtClean="0"/>
              <a:t>3/9/2024</a:t>
            </a:fld>
            <a:endParaRPr lang="en-US"/>
          </a:p>
        </p:txBody>
      </p:sp>
      <p:sp>
        <p:nvSpPr>
          <p:cNvPr id="7" name="Slide Number Placeholder 6"/>
          <p:cNvSpPr>
            <a:spLocks noGrp="1"/>
          </p:cNvSpPr>
          <p:nvPr>
            <p:ph type="sldNum" sz="quarter" idx="11"/>
          </p:nvPr>
        </p:nvSpPr>
        <p:spPr/>
        <p:txBody>
          <a:bodyPr rtlCol="0"/>
          <a:lstStyle/>
          <a:p>
            <a:fld id="{8792C016-8B4B-4B1E-B701-204A936B4FF9}"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DB8FCE-3D53-4F79-AA92-0A441B277106}" type="datetimeFigureOut">
              <a:rPr lang="en-US" smtClean="0"/>
              <a:t>3/9/2024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92C016-8B4B-4B1E-B701-204A936B4F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73DB8FCE-3D53-4F79-AA92-0A441B277106}" type="datetimeFigureOut">
              <a:rPr lang="en-US" smtClean="0"/>
              <a:t>3/9/2024</a:t>
            </a:fld>
            <a:endParaRPr lang="en-US"/>
          </a:p>
        </p:txBody>
      </p:sp>
      <p:sp>
        <p:nvSpPr>
          <p:cNvPr id="22" name="Slide Number Placeholder 21"/>
          <p:cNvSpPr>
            <a:spLocks noGrp="1"/>
          </p:cNvSpPr>
          <p:nvPr>
            <p:ph type="sldNum" sz="quarter" idx="15"/>
          </p:nvPr>
        </p:nvSpPr>
        <p:spPr/>
        <p:txBody>
          <a:bodyPr rtlCol="0"/>
          <a:lstStyle/>
          <a:p>
            <a:fld id="{8792C016-8B4B-4B1E-B701-204A936B4FF9}"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73DB8FCE-3D53-4F79-AA92-0A441B277106}" type="datetimeFigureOut">
              <a:rPr lang="en-US" smtClean="0"/>
              <a:t>3/9/2024</a:t>
            </a:fld>
            <a:endParaRPr lang="en-US"/>
          </a:p>
        </p:txBody>
      </p:sp>
      <p:sp>
        <p:nvSpPr>
          <p:cNvPr id="18" name="Slide Number Placeholder 17"/>
          <p:cNvSpPr>
            <a:spLocks noGrp="1"/>
          </p:cNvSpPr>
          <p:nvPr>
            <p:ph type="sldNum" sz="quarter" idx="11"/>
          </p:nvPr>
        </p:nvSpPr>
        <p:spPr/>
        <p:txBody>
          <a:bodyPr rtlCol="0"/>
          <a:lstStyle/>
          <a:p>
            <a:fld id="{8792C016-8B4B-4B1E-B701-204A936B4FF9}"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DB8FCE-3D53-4F79-AA92-0A441B277106}" type="datetimeFigureOut">
              <a:rPr lang="en-US" smtClean="0"/>
              <a:t>3/9/2024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92C016-8B4B-4B1E-B701-204A936B4F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DB8FCE-3D53-4F79-AA92-0A441B277106}" type="datetimeFigureOut">
              <a:rPr lang="en-US" smtClean="0"/>
              <a:t>3/9/2024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92C016-8B4B-4B1E-B701-204A936B4F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73DB8FCE-3D53-4F79-AA92-0A441B277106}" type="datetimeFigureOut">
              <a:rPr lang="en-US" smtClean="0"/>
              <a:t>3/9/2024</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8792C016-8B4B-4B1E-B701-204A936B4F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a:xfrm>
            <a:off x="2895600" y="1524000"/>
            <a:ext cx="7315200" cy="2209800"/>
          </a:xfrm>
        </p:spPr>
        <p:txBody>
          <a:bodyPr>
            <a:normAutofit/>
          </a:bodyPr>
          <a:lstStyle/>
          <a:p>
            <a:pPr>
              <a:lnSpc>
                <a:spcPct val="150000"/>
              </a:lnSpc>
            </a:pPr>
            <a:r>
              <a:rPr lang="en-US" sz="3600" dirty="0" err="1" smtClean="0">
                <a:solidFill>
                  <a:schemeClr val="tx1"/>
                </a:solidFill>
                <a:latin typeface="Arial Black" pitchFamily="34" charset="0"/>
              </a:rPr>
              <a:t>Qos</a:t>
            </a:r>
            <a:r>
              <a:rPr lang="en-US" sz="3600" dirty="0" smtClean="0">
                <a:solidFill>
                  <a:schemeClr val="tx1"/>
                </a:solidFill>
                <a:latin typeface="Arial Black" pitchFamily="34" charset="0"/>
              </a:rPr>
              <a:t> AND TRAFFIC ENGINEERING</a:t>
            </a:r>
            <a:endParaRPr lang="en-US" sz="3600" dirty="0">
              <a:solidFill>
                <a:schemeClr val="tx1"/>
              </a:solidFill>
              <a:latin typeface="Arial Black"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467600" cy="808038"/>
          </a:xfrm>
        </p:spPr>
        <p:txBody>
          <a:bodyPr/>
          <a:lstStyle/>
          <a:p>
            <a:r>
              <a:rPr lang="en-US" b="1" dirty="0" smtClean="0">
                <a:solidFill>
                  <a:schemeClr val="tx1"/>
                </a:solidFill>
                <a:latin typeface="Bodoni Bd BT" pitchFamily="18" charset="0"/>
              </a:rPr>
              <a:t>Overview of </a:t>
            </a:r>
            <a:r>
              <a:rPr lang="en-US" b="1" dirty="0" err="1" smtClean="0">
                <a:solidFill>
                  <a:schemeClr val="tx1"/>
                </a:solidFill>
                <a:latin typeface="Bodoni Bd BT" pitchFamily="18" charset="0"/>
              </a:rPr>
              <a:t>Qos</a:t>
            </a:r>
            <a:endParaRPr lang="en-US" dirty="0">
              <a:solidFill>
                <a:schemeClr val="tx1"/>
              </a:solidFill>
              <a:latin typeface="Bodoni Bd BT" pitchFamily="18" charset="0"/>
            </a:endParaRPr>
          </a:p>
        </p:txBody>
      </p:sp>
      <p:sp>
        <p:nvSpPr>
          <p:cNvPr id="3" name="Content Placeholder 2"/>
          <p:cNvSpPr>
            <a:spLocks noGrp="1"/>
          </p:cNvSpPr>
          <p:nvPr>
            <p:ph sz="quarter" idx="1"/>
          </p:nvPr>
        </p:nvSpPr>
        <p:spPr>
          <a:xfrm>
            <a:off x="762000" y="1371600"/>
            <a:ext cx="7467600" cy="4873752"/>
          </a:xfrm>
        </p:spPr>
        <p:txBody>
          <a:bodyPr>
            <a:normAutofit fontScale="92500"/>
          </a:bodyPr>
          <a:lstStyle/>
          <a:p>
            <a:pPr>
              <a:lnSpc>
                <a:spcPct val="160000"/>
              </a:lnSpc>
            </a:pPr>
            <a:r>
              <a:rPr lang="en-US" sz="2000" dirty="0" err="1" smtClean="0">
                <a:latin typeface="Cambria" pitchFamily="18" charset="0"/>
                <a:ea typeface="Cambria" pitchFamily="18" charset="0"/>
              </a:rPr>
              <a:t>Qos</a:t>
            </a:r>
            <a:r>
              <a:rPr lang="en-US" sz="2000" dirty="0" smtClean="0">
                <a:latin typeface="Cambria" pitchFamily="18" charset="0"/>
                <a:ea typeface="Cambria" pitchFamily="18" charset="0"/>
              </a:rPr>
              <a:t> stands for Quality of Service.</a:t>
            </a:r>
          </a:p>
          <a:p>
            <a:pPr lvl="0" algn="just">
              <a:lnSpc>
                <a:spcPct val="160000"/>
              </a:lnSpc>
            </a:pPr>
            <a:r>
              <a:rPr lang="en-US" sz="2000" dirty="0" err="1" smtClean="0">
                <a:latin typeface="Cambria" pitchFamily="18" charset="0"/>
                <a:ea typeface="Cambria" pitchFamily="18" charset="0"/>
              </a:rPr>
              <a:t>Qos</a:t>
            </a:r>
            <a:r>
              <a:rPr lang="en-US" sz="2000" dirty="0" smtClean="0">
                <a:latin typeface="Cambria" pitchFamily="18" charset="0"/>
                <a:ea typeface="Cambria" pitchFamily="18" charset="0"/>
              </a:rPr>
              <a:t> is a set of tools and techniques used to manage and improve the performance of a network. It is used to prioritize traffic, allocate resources, and ensure that data packets are delivered in a timely manner.</a:t>
            </a:r>
          </a:p>
          <a:p>
            <a:pPr lvl="0" algn="just">
              <a:lnSpc>
                <a:spcPct val="160000"/>
              </a:lnSpc>
            </a:pPr>
            <a:r>
              <a:rPr lang="en-US" sz="2000" dirty="0" err="1" smtClean="0">
                <a:latin typeface="Cambria" pitchFamily="18" charset="0"/>
                <a:ea typeface="Cambria" pitchFamily="18" charset="0"/>
              </a:rPr>
              <a:t>Qos</a:t>
            </a:r>
            <a:r>
              <a:rPr lang="en-US" sz="2000" dirty="0" smtClean="0">
                <a:latin typeface="Cambria" pitchFamily="18" charset="0"/>
                <a:ea typeface="Cambria" pitchFamily="18" charset="0"/>
              </a:rPr>
              <a:t> can be used to improve the performance of applications such as VoIP, video streaming, and online gaming.</a:t>
            </a:r>
          </a:p>
          <a:p>
            <a:pPr lvl="0" algn="just">
              <a:lnSpc>
                <a:spcPct val="160000"/>
              </a:lnSpc>
            </a:pPr>
            <a:r>
              <a:rPr lang="en-US" sz="2000" dirty="0" smtClean="0">
                <a:latin typeface="Cambria" pitchFamily="18" charset="0"/>
                <a:ea typeface="Cambria" pitchFamily="18" charset="0"/>
              </a:rPr>
              <a:t>It refers to a technology used to manage data traffic to reduce data packet loss, latency(delay) and jitter (signal pulse displacement).</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sz="quarter" idx="1"/>
          </p:nvPr>
        </p:nvPicPr>
        <p:blipFill>
          <a:blip r:embed="rId2" cstate="print"/>
          <a:srcRect l="14623" t="38938" r="46660" b="34218"/>
          <a:stretch>
            <a:fillRect/>
          </a:stretch>
        </p:blipFill>
        <p:spPr bwMode="auto">
          <a:xfrm>
            <a:off x="-76200" y="228600"/>
            <a:ext cx="9220200" cy="6019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467600" cy="1143000"/>
          </a:xfrm>
        </p:spPr>
        <p:txBody>
          <a:bodyPr>
            <a:normAutofit/>
          </a:bodyPr>
          <a:lstStyle/>
          <a:p>
            <a:r>
              <a:rPr lang="en-US" b="1" dirty="0" smtClean="0">
                <a:solidFill>
                  <a:schemeClr val="tx1"/>
                </a:solidFill>
                <a:latin typeface="Bodoni Bd BT" pitchFamily="18" charset="0"/>
              </a:rPr>
              <a:t>Important Quality of service(</a:t>
            </a:r>
            <a:r>
              <a:rPr lang="en-US" b="1" dirty="0" err="1" smtClean="0">
                <a:solidFill>
                  <a:schemeClr val="tx1"/>
                </a:solidFill>
                <a:latin typeface="Bodoni Bd BT" pitchFamily="18" charset="0"/>
              </a:rPr>
              <a:t>QoS</a:t>
            </a:r>
            <a:r>
              <a:rPr lang="en-US" b="1" dirty="0" smtClean="0">
                <a:solidFill>
                  <a:schemeClr val="tx1"/>
                </a:solidFill>
                <a:latin typeface="Bodoni Bd BT" pitchFamily="18" charset="0"/>
              </a:rPr>
              <a:t>)</a:t>
            </a:r>
          </a:p>
        </p:txBody>
      </p:sp>
      <p:sp>
        <p:nvSpPr>
          <p:cNvPr id="3" name="Content Placeholder 2"/>
          <p:cNvSpPr>
            <a:spLocks noGrp="1"/>
          </p:cNvSpPr>
          <p:nvPr>
            <p:ph sz="quarter" idx="1"/>
          </p:nvPr>
        </p:nvSpPr>
        <p:spPr>
          <a:xfrm>
            <a:off x="457200" y="1219200"/>
            <a:ext cx="8077200" cy="5254752"/>
          </a:xfrm>
        </p:spPr>
        <p:txBody>
          <a:bodyPr>
            <a:normAutofit lnSpcReduction="10000"/>
          </a:bodyPr>
          <a:lstStyle/>
          <a:p>
            <a:pPr lvl="0" algn="just">
              <a:lnSpc>
                <a:spcPct val="150000"/>
              </a:lnSpc>
            </a:pPr>
            <a:r>
              <a:rPr lang="en-US" sz="2000" dirty="0" smtClean="0">
                <a:latin typeface="Cambria" pitchFamily="18" charset="0"/>
                <a:ea typeface="Cambria" pitchFamily="18" charset="0"/>
              </a:rPr>
              <a:t>Interactive applications carrying audio and video content need to be delivered at high speed, without packet loss.</a:t>
            </a:r>
          </a:p>
          <a:p>
            <a:pPr lvl="0" algn="just">
              <a:lnSpc>
                <a:spcPct val="150000"/>
              </a:lnSpc>
            </a:pPr>
            <a:r>
              <a:rPr lang="en-US" sz="2000" dirty="0" smtClean="0">
                <a:latin typeface="Cambria" pitchFamily="18" charset="0"/>
                <a:ea typeface="Cambria" pitchFamily="18" charset="0"/>
              </a:rPr>
              <a:t>Critical applications must be guaranteed high bandwidth for real time traffic to achieve no data packet loss, without latency and jitter.</a:t>
            </a:r>
          </a:p>
          <a:p>
            <a:pPr lvl="0" algn="just">
              <a:lnSpc>
                <a:spcPct val="150000"/>
              </a:lnSpc>
            </a:pPr>
            <a:r>
              <a:rPr lang="en-US" sz="2000" dirty="0" smtClean="0">
                <a:latin typeface="Cambria" pitchFamily="18" charset="0"/>
                <a:ea typeface="Cambria" pitchFamily="18" charset="0"/>
              </a:rPr>
              <a:t>To ensure real time feeling during live streaming and video conference.</a:t>
            </a:r>
          </a:p>
          <a:p>
            <a:pPr lvl="0" algn="just">
              <a:lnSpc>
                <a:spcPct val="150000"/>
              </a:lnSpc>
            </a:pPr>
            <a:r>
              <a:rPr lang="en-US" sz="2000" dirty="0" smtClean="0">
                <a:latin typeface="Cambria" pitchFamily="18" charset="0"/>
                <a:ea typeface="Cambria" pitchFamily="18" charset="0"/>
              </a:rPr>
              <a:t>Since large of people are using network communication, the network performance must be high so that the network performance must be high so that the users can satisfy with the service.</a:t>
            </a:r>
          </a:p>
          <a:p>
            <a:pPr lvl="0" algn="just">
              <a:lnSpc>
                <a:spcPct val="150000"/>
              </a:lnSpc>
            </a:pPr>
            <a:r>
              <a:rPr lang="en-US" sz="2000" dirty="0" smtClean="0">
                <a:latin typeface="Cambria" pitchFamily="18" charset="0"/>
                <a:ea typeface="Cambria" pitchFamily="18" charset="0"/>
              </a:rPr>
              <a:t>Since internet of things (IOT) gives real time status updates, any delay will cause great negative effect.</a:t>
            </a:r>
          </a:p>
          <a:p>
            <a:pPr algn="just">
              <a:lnSpc>
                <a:spcPct val="150000"/>
              </a:lnSpc>
            </a:pPr>
            <a:endParaRPr lang="en-US" sz="2000" dirty="0" smtClean="0">
              <a:latin typeface="Cambria" pitchFamily="18" charset="0"/>
              <a:ea typeface="Cambria" pitchFamily="18" charset="0"/>
            </a:endParaRPr>
          </a:p>
          <a:p>
            <a:pPr algn="just">
              <a:lnSpc>
                <a:spcPct val="150000"/>
              </a:lnSpc>
            </a:pPr>
            <a:endParaRPr lang="en-US" sz="2000" dirty="0" smtClean="0">
              <a:latin typeface="Cambria" pitchFamily="18" charset="0"/>
              <a:ea typeface="Cambria" pitchFamily="18" charset="0"/>
            </a:endParaRPr>
          </a:p>
          <a:p>
            <a:pPr algn="just">
              <a:lnSpc>
                <a:spcPct val="150000"/>
              </a:lnSpc>
            </a:pPr>
            <a:endParaRPr lang="en-US" sz="2000" dirty="0" smtClean="0">
              <a:latin typeface="Cambria" pitchFamily="18" charset="0"/>
              <a:ea typeface="Cambria" pitchFamily="18" charset="0"/>
            </a:endParaRPr>
          </a:p>
          <a:p>
            <a:pPr algn="just">
              <a:lnSpc>
                <a:spcPct val="150000"/>
              </a:lnSpc>
            </a:pPr>
            <a:endParaRPr lang="en-US" sz="2000" dirty="0">
              <a:latin typeface="Cambria" pitchFamily="18" charset="0"/>
              <a:ea typeface="Cambria"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467600" cy="1143000"/>
          </a:xfrm>
        </p:spPr>
        <p:txBody>
          <a:bodyPr/>
          <a:lstStyle/>
          <a:p>
            <a:r>
              <a:rPr lang="en-IN" b="1" dirty="0">
                <a:solidFill>
                  <a:schemeClr val="tx1"/>
                </a:solidFill>
              </a:rPr>
              <a:t>Techniques implemented in </a:t>
            </a:r>
            <a:r>
              <a:rPr lang="en-IN" b="1" dirty="0" err="1" smtClean="0">
                <a:solidFill>
                  <a:schemeClr val="tx1"/>
                </a:solidFill>
              </a:rPr>
              <a:t>QoS</a:t>
            </a:r>
            <a:r>
              <a:rPr lang="en-IN" dirty="0">
                <a:solidFill>
                  <a:schemeClr val="tx1"/>
                </a:solidFill>
              </a:rPr>
              <a:t/>
            </a:r>
            <a:br>
              <a:rPr lang="en-IN" dirty="0">
                <a:solidFill>
                  <a:schemeClr val="tx1"/>
                </a:solidFill>
              </a:rPr>
            </a:br>
            <a:endParaRPr lang="en-IN" dirty="0">
              <a:solidFill>
                <a:schemeClr val="tx1"/>
              </a:solidFill>
            </a:endParaRPr>
          </a:p>
        </p:txBody>
      </p:sp>
      <p:sp>
        <p:nvSpPr>
          <p:cNvPr id="3" name="Content Placeholder 2"/>
          <p:cNvSpPr>
            <a:spLocks noGrp="1"/>
          </p:cNvSpPr>
          <p:nvPr>
            <p:ph sz="quarter" idx="1"/>
          </p:nvPr>
        </p:nvSpPr>
        <p:spPr>
          <a:xfrm>
            <a:off x="228600" y="609600"/>
            <a:ext cx="8534400" cy="5867400"/>
          </a:xfrm>
        </p:spPr>
        <p:txBody>
          <a:bodyPr>
            <a:normAutofit fontScale="92500" lnSpcReduction="10000"/>
          </a:bodyPr>
          <a:lstStyle/>
          <a:p>
            <a:pPr lvl="0" algn="just">
              <a:lnSpc>
                <a:spcPct val="150000"/>
              </a:lnSpc>
            </a:pPr>
            <a:r>
              <a:rPr lang="en-IN" sz="2000" b="1" dirty="0">
                <a:latin typeface="Cambria" pitchFamily="18" charset="0"/>
                <a:ea typeface="Cambria" pitchFamily="18" charset="0"/>
              </a:rPr>
              <a:t>Prioritization: </a:t>
            </a:r>
            <a:r>
              <a:rPr lang="en-IN" sz="2000" dirty="0">
                <a:latin typeface="Cambria" pitchFamily="18" charset="0"/>
                <a:ea typeface="Cambria" pitchFamily="18" charset="0"/>
              </a:rPr>
              <a:t>Routers and switched starts dropped data packets when they become over crowded. As a result, streaming application suffers. Prioritization helps to regularize data traffic depending on its and destination with the help of different priorities.</a:t>
            </a:r>
          </a:p>
          <a:p>
            <a:pPr lvl="0" algn="just">
              <a:lnSpc>
                <a:spcPct val="150000"/>
              </a:lnSpc>
            </a:pPr>
            <a:r>
              <a:rPr lang="en-IN" sz="2000" b="1" dirty="0">
                <a:latin typeface="Cambria" pitchFamily="18" charset="0"/>
                <a:ea typeface="Cambria" pitchFamily="18" charset="0"/>
              </a:rPr>
              <a:t>Traffic marking: </a:t>
            </a:r>
            <a:r>
              <a:rPr lang="en-IN" sz="2000" dirty="0">
                <a:latin typeface="Cambria" pitchFamily="18" charset="0"/>
                <a:ea typeface="Cambria" pitchFamily="18" charset="0"/>
              </a:rPr>
              <a:t>once the high priority application is identified mark the traffic using processes like DSCP or </a:t>
            </a:r>
            <a:r>
              <a:rPr lang="en-IN" sz="2000" dirty="0" err="1">
                <a:latin typeface="Cambria" pitchFamily="18" charset="0"/>
                <a:ea typeface="Cambria" pitchFamily="18" charset="0"/>
              </a:rPr>
              <a:t>CoS.</a:t>
            </a:r>
            <a:endParaRPr lang="en-IN" sz="2000" dirty="0">
              <a:latin typeface="Cambria" pitchFamily="18" charset="0"/>
              <a:ea typeface="Cambria" pitchFamily="18" charset="0"/>
            </a:endParaRPr>
          </a:p>
          <a:p>
            <a:pPr lvl="0" algn="just">
              <a:lnSpc>
                <a:spcPct val="150000"/>
              </a:lnSpc>
            </a:pPr>
            <a:r>
              <a:rPr lang="en-IN" sz="2000" b="1" dirty="0">
                <a:latin typeface="Cambria" pitchFamily="18" charset="0"/>
                <a:ea typeface="Cambria" pitchFamily="18" charset="0"/>
              </a:rPr>
              <a:t>Resource reservation : </a:t>
            </a:r>
            <a:r>
              <a:rPr lang="en-IN" sz="2000" dirty="0">
                <a:latin typeface="Cambria" pitchFamily="18" charset="0"/>
                <a:ea typeface="Cambria" pitchFamily="18" charset="0"/>
              </a:rPr>
              <a:t>This helps the organization to define data limits and guarantee band with by dividing the network resources depending on different data traffic and logic of data</a:t>
            </a:r>
            <a:r>
              <a:rPr lang="en-IN" sz="2000" dirty="0" smtClean="0">
                <a:latin typeface="Cambria" pitchFamily="18" charset="0"/>
                <a:ea typeface="Cambria" pitchFamily="18" charset="0"/>
              </a:rPr>
              <a:t>.</a:t>
            </a:r>
          </a:p>
          <a:p>
            <a:pPr algn="just">
              <a:lnSpc>
                <a:spcPct val="150000"/>
              </a:lnSpc>
            </a:pPr>
            <a:r>
              <a:rPr lang="en-IN" sz="2000" b="1" dirty="0" smtClean="0">
                <a:latin typeface="Cambria" pitchFamily="18" charset="0"/>
                <a:ea typeface="Cambria" pitchFamily="18" charset="0"/>
              </a:rPr>
              <a:t>Queuing</a:t>
            </a:r>
            <a:r>
              <a:rPr lang="en-IN" sz="2000" dirty="0" smtClean="0">
                <a:latin typeface="Cambria" pitchFamily="18" charset="0"/>
                <a:ea typeface="Cambria" pitchFamily="18" charset="0"/>
              </a:rPr>
              <a:t>: Queuing </a:t>
            </a:r>
            <a:r>
              <a:rPr lang="en-IN" sz="2000" dirty="0">
                <a:latin typeface="Cambria" pitchFamily="18" charset="0"/>
                <a:ea typeface="Cambria" pitchFamily="18" charset="0"/>
              </a:rPr>
              <a:t>is a process of creating policies that give importance to certain type of data over others. This is done by assigning high priority to important data and removed it to a dedicated queue that pushes data at a faster rate.</a:t>
            </a:r>
          </a:p>
          <a:p>
            <a:pPr lvl="0" algn="just">
              <a:lnSpc>
                <a:spcPct val="150000"/>
              </a:lnSpc>
            </a:pPr>
            <a:endParaRPr lang="en-IN" sz="2000" dirty="0">
              <a:latin typeface="Cambria" pitchFamily="18" charset="0"/>
              <a:ea typeface="Cambria" pitchFamily="18" charset="0"/>
            </a:endParaRPr>
          </a:p>
          <a:p>
            <a:pPr algn="just"/>
            <a:endParaRPr lang="en-IN" dirty="0">
              <a:latin typeface="Cambria" pitchFamily="18" charset="0"/>
              <a:ea typeface="Cambria" pitchFamily="18" charset="0"/>
            </a:endParaRPr>
          </a:p>
        </p:txBody>
      </p:sp>
    </p:spTree>
    <p:extLst>
      <p:ext uri="{BB962C8B-B14F-4D97-AF65-F5344CB8AC3E}">
        <p14:creationId xmlns:p14="http://schemas.microsoft.com/office/powerpoint/2010/main" val="2149529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600200"/>
            <a:ext cx="8305800" cy="4873752"/>
          </a:xfrm>
        </p:spPr>
        <p:txBody>
          <a:bodyPr/>
          <a:lstStyle/>
          <a:p>
            <a:pPr lvl="0">
              <a:lnSpc>
                <a:spcPct val="150000"/>
              </a:lnSpc>
            </a:pPr>
            <a:r>
              <a:rPr lang="en-IN" sz="2800" dirty="0" smtClean="0">
                <a:latin typeface="Cambria" pitchFamily="18" charset="0"/>
                <a:ea typeface="Cambria" pitchFamily="18" charset="0"/>
              </a:rPr>
              <a:t>High </a:t>
            </a:r>
            <a:r>
              <a:rPr lang="en-IN" sz="2800" dirty="0">
                <a:latin typeface="Cambria" pitchFamily="18" charset="0"/>
                <a:ea typeface="Cambria" pitchFamily="18" charset="0"/>
              </a:rPr>
              <a:t>performance.</a:t>
            </a:r>
          </a:p>
          <a:p>
            <a:pPr lvl="0">
              <a:lnSpc>
                <a:spcPct val="150000"/>
              </a:lnSpc>
            </a:pPr>
            <a:r>
              <a:rPr lang="en-IN" sz="2800" dirty="0">
                <a:latin typeface="Cambria" pitchFamily="18" charset="0"/>
                <a:ea typeface="Cambria" pitchFamily="18" charset="0"/>
              </a:rPr>
              <a:t>Latency is reduced.</a:t>
            </a:r>
          </a:p>
          <a:p>
            <a:pPr lvl="0">
              <a:lnSpc>
                <a:spcPct val="150000"/>
              </a:lnSpc>
            </a:pPr>
            <a:r>
              <a:rPr lang="en-IN" sz="2800" dirty="0">
                <a:latin typeface="Cambria" pitchFamily="18" charset="0"/>
                <a:ea typeface="Cambria" pitchFamily="18" charset="0"/>
              </a:rPr>
              <a:t>Better resource management.</a:t>
            </a:r>
          </a:p>
          <a:p>
            <a:pPr lvl="0">
              <a:lnSpc>
                <a:spcPct val="150000"/>
              </a:lnSpc>
            </a:pPr>
            <a:r>
              <a:rPr lang="en-IN" sz="2800" dirty="0">
                <a:latin typeface="Cambria" pitchFamily="18" charset="0"/>
                <a:ea typeface="Cambria" pitchFamily="18" charset="0"/>
              </a:rPr>
              <a:t>Point to point traffic management without any data packet loss.</a:t>
            </a:r>
          </a:p>
          <a:p>
            <a:pPr lvl="0" algn="just">
              <a:lnSpc>
                <a:spcPct val="150000"/>
              </a:lnSpc>
            </a:pPr>
            <a:endParaRPr lang="en-IN" dirty="0"/>
          </a:p>
        </p:txBody>
      </p:sp>
      <p:sp>
        <p:nvSpPr>
          <p:cNvPr id="4" name="Title 1"/>
          <p:cNvSpPr>
            <a:spLocks noGrp="1"/>
          </p:cNvSpPr>
          <p:nvPr>
            <p:ph type="title"/>
          </p:nvPr>
        </p:nvSpPr>
        <p:spPr>
          <a:xfrm>
            <a:off x="457200" y="274638"/>
            <a:ext cx="7467600" cy="1143000"/>
          </a:xfrm>
        </p:spPr>
        <p:txBody>
          <a:bodyPr/>
          <a:lstStyle/>
          <a:p>
            <a:r>
              <a:rPr lang="en-IN" b="1" dirty="0" smtClean="0">
                <a:solidFill>
                  <a:schemeClr val="tx1"/>
                </a:solidFill>
              </a:rPr>
              <a:t>Advantages</a:t>
            </a:r>
            <a:r>
              <a:rPr lang="en-IN" dirty="0">
                <a:solidFill>
                  <a:schemeClr val="tx1"/>
                </a:solidFill>
              </a:rPr>
              <a:t/>
            </a:r>
            <a:br>
              <a:rPr lang="en-IN" dirty="0">
                <a:solidFill>
                  <a:schemeClr val="tx1"/>
                </a:solidFill>
              </a:rPr>
            </a:br>
            <a:endParaRPr lang="en-IN" dirty="0">
              <a:solidFill>
                <a:schemeClr val="tx1"/>
              </a:solidFill>
            </a:endParaRPr>
          </a:p>
        </p:txBody>
      </p:sp>
    </p:spTree>
    <p:extLst>
      <p:ext uri="{BB962C8B-B14F-4D97-AF65-F5344CB8AC3E}">
        <p14:creationId xmlns:p14="http://schemas.microsoft.com/office/powerpoint/2010/main" val="719039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chemeClr val="tx1"/>
                </a:solidFill>
              </a:rPr>
              <a:t>Overview of traffic engineering techniques and </a:t>
            </a:r>
            <a:r>
              <a:rPr lang="en-IN" b="1" dirty="0" smtClean="0">
                <a:solidFill>
                  <a:schemeClr val="tx1"/>
                </a:solidFill>
              </a:rPr>
              <a:t>protocols</a:t>
            </a:r>
            <a:endParaRPr lang="en-IN" b="1" dirty="0">
              <a:solidFill>
                <a:schemeClr val="tx1"/>
              </a:solidFill>
            </a:endParaRPr>
          </a:p>
        </p:txBody>
      </p:sp>
      <p:sp>
        <p:nvSpPr>
          <p:cNvPr id="3" name="Content Placeholder 2"/>
          <p:cNvSpPr>
            <a:spLocks noGrp="1"/>
          </p:cNvSpPr>
          <p:nvPr>
            <p:ph sz="quarter" idx="1"/>
          </p:nvPr>
        </p:nvSpPr>
        <p:spPr>
          <a:xfrm>
            <a:off x="457200" y="1524000"/>
            <a:ext cx="7924800" cy="4873752"/>
          </a:xfrm>
        </p:spPr>
        <p:txBody>
          <a:bodyPr/>
          <a:lstStyle/>
          <a:p>
            <a:pPr algn="just">
              <a:lnSpc>
                <a:spcPct val="150000"/>
              </a:lnSpc>
            </a:pPr>
            <a:r>
              <a:rPr lang="en-IN" dirty="0">
                <a:latin typeface="Cambria" pitchFamily="18" charset="0"/>
                <a:ea typeface="Cambria" pitchFamily="18" charset="0"/>
              </a:rPr>
              <a:t>Traffic engineering is the process of reconfiguring the network according to changing traffic loads. This is carried out to achieve some </a:t>
            </a:r>
            <a:r>
              <a:rPr lang="en-IN" dirty="0" smtClean="0">
                <a:latin typeface="Cambria" pitchFamily="18" charset="0"/>
                <a:ea typeface="Cambria" pitchFamily="18" charset="0"/>
              </a:rPr>
              <a:t>operational </a:t>
            </a:r>
            <a:r>
              <a:rPr lang="en-IN" dirty="0">
                <a:latin typeface="Cambria" pitchFamily="18" charset="0"/>
                <a:ea typeface="Cambria" pitchFamily="18" charset="0"/>
              </a:rPr>
              <a:t>goals. A network operator may reconfigure the network for any one of the following reason.</a:t>
            </a:r>
          </a:p>
          <a:p>
            <a:pPr lvl="2" algn="just">
              <a:lnSpc>
                <a:spcPct val="150000"/>
              </a:lnSpc>
            </a:pPr>
            <a:r>
              <a:rPr lang="en-IN" sz="2400" dirty="0">
                <a:latin typeface="Cambria" pitchFamily="18" charset="0"/>
                <a:ea typeface="Cambria" pitchFamily="18" charset="0"/>
              </a:rPr>
              <a:t>To maintain traffic rations with the other node.</a:t>
            </a:r>
          </a:p>
          <a:p>
            <a:pPr lvl="2" algn="just">
              <a:lnSpc>
                <a:spcPct val="150000"/>
              </a:lnSpc>
            </a:pPr>
            <a:r>
              <a:rPr lang="en-IN" sz="2400" dirty="0">
                <a:latin typeface="Cambria" pitchFamily="18" charset="0"/>
                <a:ea typeface="Cambria" pitchFamily="18" charset="0"/>
              </a:rPr>
              <a:t>To relieve congestion on certain links.</a:t>
            </a:r>
          </a:p>
          <a:p>
            <a:pPr lvl="2" algn="just">
              <a:lnSpc>
                <a:spcPct val="150000"/>
              </a:lnSpc>
            </a:pPr>
            <a:r>
              <a:rPr lang="en-IN" sz="2400" dirty="0">
                <a:latin typeface="Cambria" pitchFamily="18" charset="0"/>
                <a:ea typeface="Cambria" pitchFamily="18" charset="0"/>
              </a:rPr>
              <a:t>To balance load more evenly.</a:t>
            </a:r>
          </a:p>
          <a:p>
            <a:endParaRPr lang="en-IN" dirty="0"/>
          </a:p>
        </p:txBody>
      </p:sp>
    </p:spTree>
    <p:extLst>
      <p:ext uri="{BB962C8B-B14F-4D97-AF65-F5344CB8AC3E}">
        <p14:creationId xmlns:p14="http://schemas.microsoft.com/office/powerpoint/2010/main" val="4089751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sers\admin\Downloads\cns.jpg"/>
          <p:cNvPicPr>
            <a:picLocks noGrp="1"/>
          </p:cNvPicPr>
          <p:nvPr>
            <p:ph sz="quarter" idx="1"/>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20000"/>
                    </a14:imgEffect>
                  </a14:imgLayer>
                </a14:imgProps>
              </a:ext>
            </a:extLst>
          </a:blip>
          <a:srcRect/>
          <a:stretch>
            <a:fillRect/>
          </a:stretch>
        </p:blipFill>
        <p:spPr bwMode="auto">
          <a:xfrm>
            <a:off x="609600" y="304800"/>
            <a:ext cx="7315198" cy="60928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457200"/>
            <a:ext cx="8153400" cy="6016752"/>
          </a:xfrm>
        </p:spPr>
        <p:txBody>
          <a:bodyPr/>
          <a:lstStyle/>
          <a:p>
            <a:pPr algn="just">
              <a:lnSpc>
                <a:spcPct val="150000"/>
              </a:lnSpc>
            </a:pPr>
            <a:r>
              <a:rPr lang="en-IN" sz="2800" dirty="0">
                <a:latin typeface="Cambria" pitchFamily="18" charset="0"/>
                <a:ea typeface="Cambria" pitchFamily="18" charset="0"/>
              </a:rPr>
              <a:t>Basically traffic engineering involves inspecting the network to ensure sufficient capacity exists to handle the demand from the clients to meet the </a:t>
            </a:r>
            <a:r>
              <a:rPr lang="en-IN" sz="2800" dirty="0" err="1">
                <a:latin typeface="Cambria" pitchFamily="18" charset="0"/>
                <a:ea typeface="Cambria" pitchFamily="18" charset="0"/>
              </a:rPr>
              <a:t>QoS</a:t>
            </a:r>
            <a:r>
              <a:rPr lang="en-IN" sz="2800" dirty="0">
                <a:latin typeface="Cambria" pitchFamily="18" charset="0"/>
                <a:ea typeface="Cambria" pitchFamily="18" charset="0"/>
              </a:rPr>
              <a:t> objectives. Figure shows the various objectives for using traffic engineering.</a:t>
            </a:r>
          </a:p>
          <a:p>
            <a:pPr algn="just">
              <a:lnSpc>
                <a:spcPct val="150000"/>
              </a:lnSpc>
            </a:pPr>
            <a:r>
              <a:rPr lang="en-IN" sz="2800" dirty="0">
                <a:latin typeface="Cambria" pitchFamily="18" charset="0"/>
                <a:ea typeface="Cambria" pitchFamily="18" charset="0"/>
              </a:rPr>
              <a:t>Traffic engineering methods to regulate network </a:t>
            </a:r>
            <a:r>
              <a:rPr lang="en-IN" sz="2800" dirty="0" smtClean="0">
                <a:latin typeface="Cambria" pitchFamily="18" charset="0"/>
                <a:ea typeface="Cambria" pitchFamily="18" charset="0"/>
              </a:rPr>
              <a:t>traffic.</a:t>
            </a:r>
            <a:endParaRPr lang="en-IN" sz="2800" dirty="0">
              <a:latin typeface="Cambria" pitchFamily="18" charset="0"/>
              <a:ea typeface="Cambria" pitchFamily="18" charset="0"/>
            </a:endParaRPr>
          </a:p>
          <a:p>
            <a:endParaRPr lang="en-IN" dirty="0"/>
          </a:p>
        </p:txBody>
      </p:sp>
    </p:spTree>
    <p:extLst>
      <p:ext uri="{BB962C8B-B14F-4D97-AF65-F5344CB8AC3E}">
        <p14:creationId xmlns:p14="http://schemas.microsoft.com/office/powerpoint/2010/main" val="3661495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b="1" dirty="0">
                <a:solidFill>
                  <a:schemeClr val="tx1"/>
                </a:solidFill>
              </a:rPr>
              <a:t>First in, first out queuing (FIFO)</a:t>
            </a:r>
            <a:r>
              <a:rPr lang="en-IN" dirty="0"/>
              <a:t/>
            </a:r>
            <a:br>
              <a:rPr lang="en-IN" dirty="0"/>
            </a:br>
            <a:endParaRPr lang="en-IN" dirty="0"/>
          </a:p>
        </p:txBody>
      </p:sp>
      <p:sp>
        <p:nvSpPr>
          <p:cNvPr id="3" name="Content Placeholder 2"/>
          <p:cNvSpPr>
            <a:spLocks noGrp="1"/>
          </p:cNvSpPr>
          <p:nvPr>
            <p:ph sz="quarter" idx="1"/>
          </p:nvPr>
        </p:nvSpPr>
        <p:spPr>
          <a:xfrm>
            <a:off x="457200" y="1066800"/>
            <a:ext cx="8305800" cy="5407152"/>
          </a:xfrm>
        </p:spPr>
        <p:txBody>
          <a:bodyPr>
            <a:normAutofit lnSpcReduction="10000"/>
          </a:bodyPr>
          <a:lstStyle/>
          <a:p>
            <a:pPr algn="just">
              <a:lnSpc>
                <a:spcPct val="150000"/>
              </a:lnSpc>
            </a:pPr>
            <a:r>
              <a:rPr lang="en-IN" sz="2000" dirty="0">
                <a:latin typeface="Cambria" pitchFamily="18" charset="0"/>
                <a:ea typeface="Cambria" pitchFamily="18" charset="0"/>
              </a:rPr>
              <a:t>Packets are placed into a hierarchy of queues based on </a:t>
            </a:r>
            <a:r>
              <a:rPr lang="en-US" sz="2000" dirty="0">
                <a:latin typeface="Cambria" pitchFamily="18" charset="0"/>
                <a:ea typeface="Cambria" pitchFamily="18" charset="0"/>
              </a:rPr>
              <a:t>Priority.</a:t>
            </a:r>
            <a:endParaRPr lang="en-IN" sz="2000" dirty="0">
              <a:latin typeface="Cambria" pitchFamily="18" charset="0"/>
              <a:ea typeface="Cambria" pitchFamily="18" charset="0"/>
            </a:endParaRPr>
          </a:p>
          <a:p>
            <a:pPr algn="just">
              <a:lnSpc>
                <a:spcPct val="150000"/>
              </a:lnSpc>
            </a:pPr>
            <a:r>
              <a:rPr lang="en-US" sz="2000" dirty="0">
                <a:latin typeface="Cambria" pitchFamily="18" charset="0"/>
                <a:ea typeface="Cambria" pitchFamily="18" charset="0"/>
              </a:rPr>
              <a:t>When there are no more packets in high priority. When there are no more packets in the high priority queue the next lower priority queue is serviced.</a:t>
            </a:r>
            <a:endParaRPr lang="en-IN" sz="2000" dirty="0">
              <a:latin typeface="Cambria" pitchFamily="18" charset="0"/>
              <a:ea typeface="Cambria" pitchFamily="18" charset="0"/>
            </a:endParaRPr>
          </a:p>
          <a:p>
            <a:pPr lvl="0" algn="just">
              <a:lnSpc>
                <a:spcPct val="150000"/>
              </a:lnSpc>
            </a:pPr>
            <a:r>
              <a:rPr lang="en-US" sz="2000" b="1" dirty="0">
                <a:latin typeface="Cambria" pitchFamily="18" charset="0"/>
                <a:ea typeface="Cambria" pitchFamily="18" charset="0"/>
              </a:rPr>
              <a:t>Priority quenching.</a:t>
            </a:r>
            <a:endParaRPr lang="en-IN" sz="2000" dirty="0">
              <a:latin typeface="Cambria" pitchFamily="18" charset="0"/>
              <a:ea typeface="Cambria" pitchFamily="18" charset="0"/>
            </a:endParaRPr>
          </a:p>
          <a:p>
            <a:pPr lvl="0" algn="just">
              <a:lnSpc>
                <a:spcPct val="150000"/>
              </a:lnSpc>
            </a:pPr>
            <a:r>
              <a:rPr lang="en-US" sz="2000" b="1" dirty="0">
                <a:latin typeface="Cambria" pitchFamily="18" charset="0"/>
                <a:ea typeface="Cambria" pitchFamily="18" charset="0"/>
              </a:rPr>
              <a:t>Fair Quenching.</a:t>
            </a:r>
            <a:endParaRPr lang="en-IN" sz="2000" dirty="0">
              <a:latin typeface="Cambria" pitchFamily="18" charset="0"/>
              <a:ea typeface="Cambria" pitchFamily="18" charset="0"/>
            </a:endParaRPr>
          </a:p>
          <a:p>
            <a:pPr marL="360363" indent="0" algn="just">
              <a:lnSpc>
                <a:spcPct val="150000"/>
              </a:lnSpc>
              <a:buNone/>
            </a:pPr>
            <a:r>
              <a:rPr lang="en-US" sz="2000" dirty="0">
                <a:latin typeface="Cambria" pitchFamily="18" charset="0"/>
                <a:ea typeface="Cambria" pitchFamily="18" charset="0"/>
              </a:rPr>
              <a:t>In fair quenching each packet is assigned a type and placed into the queue for that type. All queues are serviced in a round robin fashion.</a:t>
            </a:r>
            <a:endParaRPr lang="en-IN" sz="2000" dirty="0">
              <a:latin typeface="Cambria" pitchFamily="18" charset="0"/>
              <a:ea typeface="Cambria" pitchFamily="18" charset="0"/>
            </a:endParaRPr>
          </a:p>
          <a:p>
            <a:pPr lvl="0" algn="just">
              <a:lnSpc>
                <a:spcPct val="150000"/>
              </a:lnSpc>
            </a:pPr>
            <a:r>
              <a:rPr lang="en-US" sz="2000" b="1" dirty="0">
                <a:latin typeface="Cambria" pitchFamily="18" charset="0"/>
                <a:ea typeface="Cambria" pitchFamily="18" charset="0"/>
              </a:rPr>
              <a:t>Weighted Fair quenching.</a:t>
            </a:r>
            <a:endParaRPr lang="en-IN" sz="2000" dirty="0">
              <a:latin typeface="Cambria" pitchFamily="18" charset="0"/>
              <a:ea typeface="Cambria" pitchFamily="18" charset="0"/>
            </a:endParaRPr>
          </a:p>
          <a:p>
            <a:pPr marL="273050" indent="0" algn="just">
              <a:lnSpc>
                <a:spcPct val="150000"/>
              </a:lnSpc>
              <a:buNone/>
            </a:pPr>
            <a:r>
              <a:rPr lang="en-US" sz="2000" dirty="0">
                <a:latin typeface="Cambria" pitchFamily="18" charset="0"/>
                <a:ea typeface="Cambria" pitchFamily="18" charset="0"/>
              </a:rPr>
              <a:t>Weighted fair quenching is same as fair quenching. But priorities are given to queues.</a:t>
            </a:r>
            <a:endParaRPr lang="en-IN" sz="2000" dirty="0">
              <a:latin typeface="Cambria" pitchFamily="18" charset="0"/>
              <a:ea typeface="Cambria" pitchFamily="18" charset="0"/>
            </a:endParaRPr>
          </a:p>
          <a:p>
            <a:pPr algn="just">
              <a:lnSpc>
                <a:spcPct val="150000"/>
              </a:lnSpc>
            </a:pPr>
            <a:endParaRPr lang="en-IN" sz="2000" dirty="0">
              <a:latin typeface="Cambria" pitchFamily="18" charset="0"/>
              <a:ea typeface="Cambria" pitchFamily="18" charset="0"/>
            </a:endParaRPr>
          </a:p>
          <a:p>
            <a:pPr algn="just">
              <a:lnSpc>
                <a:spcPct val="150000"/>
              </a:lnSpc>
            </a:pPr>
            <a:endParaRPr lang="en-IN" sz="2000" dirty="0">
              <a:latin typeface="Cambria" pitchFamily="18" charset="0"/>
              <a:ea typeface="Cambria" pitchFamily="18" charset="0"/>
            </a:endParaRPr>
          </a:p>
        </p:txBody>
      </p:sp>
    </p:spTree>
    <p:extLst>
      <p:ext uri="{BB962C8B-B14F-4D97-AF65-F5344CB8AC3E}">
        <p14:creationId xmlns:p14="http://schemas.microsoft.com/office/powerpoint/2010/main" val="1383887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a:t>Hierarchical weighted fair quenching.</a:t>
            </a:r>
            <a:r>
              <a:rPr lang="en-IN" dirty="0"/>
              <a:t/>
            </a:r>
            <a:br>
              <a:rPr lang="en-IN" dirty="0"/>
            </a:br>
            <a:endParaRPr lang="en-IN" dirty="0"/>
          </a:p>
        </p:txBody>
      </p:sp>
      <p:sp>
        <p:nvSpPr>
          <p:cNvPr id="3" name="Content Placeholder 2"/>
          <p:cNvSpPr>
            <a:spLocks noGrp="1"/>
          </p:cNvSpPr>
          <p:nvPr>
            <p:ph sz="quarter" idx="1"/>
          </p:nvPr>
        </p:nvSpPr>
        <p:spPr/>
        <p:txBody>
          <a:bodyPr/>
          <a:lstStyle/>
          <a:p>
            <a:pPr algn="just">
              <a:lnSpc>
                <a:spcPct val="150000"/>
              </a:lnSpc>
            </a:pPr>
            <a:r>
              <a:rPr lang="en-US" sz="2700" dirty="0" smtClean="0">
                <a:latin typeface="Cambria" pitchFamily="18" charset="0"/>
                <a:ea typeface="Cambria" pitchFamily="18" charset="0"/>
              </a:rPr>
              <a:t>Hierarchical </a:t>
            </a:r>
            <a:r>
              <a:rPr lang="en-US" sz="2700" dirty="0">
                <a:latin typeface="Cambria" pitchFamily="18" charset="0"/>
                <a:ea typeface="Cambria" pitchFamily="18" charset="0"/>
              </a:rPr>
              <a:t>weighted fair quenching is similar to weighted fair quenching. But it monitors traffic and evaluates current contains to adjust queues.</a:t>
            </a:r>
            <a:endParaRPr lang="en-IN" sz="2700" dirty="0">
              <a:latin typeface="Cambria" pitchFamily="18" charset="0"/>
              <a:ea typeface="Cambria" pitchFamily="18" charset="0"/>
            </a:endParaRPr>
          </a:p>
          <a:p>
            <a:endParaRPr lang="en-IN" dirty="0"/>
          </a:p>
        </p:txBody>
      </p:sp>
    </p:spTree>
    <p:extLst>
      <p:ext uri="{BB962C8B-B14F-4D97-AF65-F5344CB8AC3E}">
        <p14:creationId xmlns:p14="http://schemas.microsoft.com/office/powerpoint/2010/main" val="419319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467600" cy="1143000"/>
          </a:xfrm>
        </p:spPr>
        <p:txBody>
          <a:bodyPr/>
          <a:lstStyle/>
          <a:p>
            <a:r>
              <a:rPr lang="en-US" b="1" dirty="0">
                <a:solidFill>
                  <a:schemeClr val="tx1"/>
                </a:solidFill>
              </a:rPr>
              <a:t>OAM</a:t>
            </a:r>
            <a:endParaRPr lang="en-IN" dirty="0">
              <a:solidFill>
                <a:schemeClr val="tx1"/>
              </a:solidFill>
            </a:endParaRPr>
          </a:p>
        </p:txBody>
      </p:sp>
      <p:sp>
        <p:nvSpPr>
          <p:cNvPr id="3" name="Content Placeholder 2"/>
          <p:cNvSpPr>
            <a:spLocks noGrp="1"/>
          </p:cNvSpPr>
          <p:nvPr>
            <p:ph sz="quarter" idx="1"/>
          </p:nvPr>
        </p:nvSpPr>
        <p:spPr>
          <a:xfrm>
            <a:off x="152400" y="533400"/>
            <a:ext cx="8686800" cy="6016752"/>
          </a:xfrm>
        </p:spPr>
        <p:txBody>
          <a:bodyPr>
            <a:noAutofit/>
          </a:bodyPr>
          <a:lstStyle/>
          <a:p>
            <a:pPr algn="just">
              <a:lnSpc>
                <a:spcPct val="150000"/>
              </a:lnSpc>
            </a:pPr>
            <a:r>
              <a:rPr lang="en-US" sz="2000" dirty="0">
                <a:latin typeface="Cambria" pitchFamily="18" charset="0"/>
                <a:ea typeface="Cambria" pitchFamily="18" charset="0"/>
              </a:rPr>
              <a:t>OAM stands for operations, Administration and management. OAM is a set of functions that provides system or network fault indication, performance monitoring, security management, diagnostic functions, configuration and user provisioning</a:t>
            </a:r>
            <a:r>
              <a:rPr lang="en-US" sz="2000">
                <a:latin typeface="Cambria" pitchFamily="18" charset="0"/>
                <a:ea typeface="Cambria" pitchFamily="18" charset="0"/>
              </a:rPr>
              <a:t>. </a:t>
            </a:r>
            <a:endParaRPr lang="en-US" sz="2000" smtClean="0">
              <a:latin typeface="Cambria" pitchFamily="18" charset="0"/>
              <a:ea typeface="Cambria" pitchFamily="18" charset="0"/>
            </a:endParaRPr>
          </a:p>
          <a:p>
            <a:pPr algn="just">
              <a:lnSpc>
                <a:spcPct val="150000"/>
              </a:lnSpc>
            </a:pPr>
            <a:r>
              <a:rPr lang="en-US" sz="2000" smtClean="0">
                <a:latin typeface="Cambria" pitchFamily="18" charset="0"/>
                <a:ea typeface="Cambria" pitchFamily="18" charset="0"/>
              </a:rPr>
              <a:t>The </a:t>
            </a:r>
            <a:r>
              <a:rPr lang="en-US" sz="2000" dirty="0">
                <a:latin typeface="Cambria" pitchFamily="18" charset="0"/>
                <a:ea typeface="Cambria" pitchFamily="18" charset="0"/>
              </a:rPr>
              <a:t>purpose of these management tools or capabilities is to enable the monitoring and quick restoration of a network in case of failure.</a:t>
            </a:r>
            <a:endParaRPr lang="en-IN" sz="2000" dirty="0">
              <a:latin typeface="Cambria" pitchFamily="18" charset="0"/>
              <a:ea typeface="Cambria" pitchFamily="18" charset="0"/>
            </a:endParaRPr>
          </a:p>
          <a:p>
            <a:pPr algn="just">
              <a:lnSpc>
                <a:spcPct val="150000"/>
              </a:lnSpc>
            </a:pPr>
            <a:r>
              <a:rPr lang="en-US" sz="2000" dirty="0">
                <a:latin typeface="Cambria" pitchFamily="18" charset="0"/>
                <a:ea typeface="Cambria" pitchFamily="18" charset="0"/>
              </a:rPr>
              <a:t>This provides the following functions to restore the network quickly in case of failure.</a:t>
            </a:r>
            <a:endParaRPr lang="en-IN" sz="2000" dirty="0">
              <a:latin typeface="Cambria" pitchFamily="18" charset="0"/>
              <a:ea typeface="Cambria" pitchFamily="18" charset="0"/>
            </a:endParaRPr>
          </a:p>
          <a:p>
            <a:pPr marL="1257300" lvl="2" indent="-182563" algn="just">
              <a:lnSpc>
                <a:spcPct val="150000"/>
              </a:lnSpc>
            </a:pPr>
            <a:r>
              <a:rPr lang="en-US" sz="1600" dirty="0">
                <a:latin typeface="Cambria" pitchFamily="18" charset="0"/>
                <a:ea typeface="Cambria" pitchFamily="18" charset="0"/>
              </a:rPr>
              <a:t>Network fault condition</a:t>
            </a:r>
            <a:endParaRPr lang="en-IN" sz="1600" dirty="0">
              <a:latin typeface="Cambria" pitchFamily="18" charset="0"/>
              <a:ea typeface="Cambria" pitchFamily="18" charset="0"/>
            </a:endParaRPr>
          </a:p>
          <a:p>
            <a:pPr marL="1257300" lvl="2" indent="-182563" algn="just">
              <a:lnSpc>
                <a:spcPct val="150000"/>
              </a:lnSpc>
            </a:pPr>
            <a:r>
              <a:rPr lang="en-US" sz="1600" dirty="0">
                <a:latin typeface="Cambria" pitchFamily="18" charset="0"/>
                <a:ea typeface="Cambria" pitchFamily="18" charset="0"/>
              </a:rPr>
              <a:t>Performance monitoring</a:t>
            </a:r>
            <a:endParaRPr lang="en-IN" sz="1600" dirty="0">
              <a:latin typeface="Cambria" pitchFamily="18" charset="0"/>
              <a:ea typeface="Cambria" pitchFamily="18" charset="0"/>
            </a:endParaRPr>
          </a:p>
          <a:p>
            <a:pPr marL="1257300" lvl="2" indent="-182563" algn="just">
              <a:lnSpc>
                <a:spcPct val="150000"/>
              </a:lnSpc>
            </a:pPr>
            <a:r>
              <a:rPr lang="en-US" sz="1600" dirty="0">
                <a:latin typeface="Cambria" pitchFamily="18" charset="0"/>
                <a:ea typeface="Cambria" pitchFamily="18" charset="0"/>
              </a:rPr>
              <a:t>Diagnostic functions</a:t>
            </a:r>
            <a:endParaRPr lang="en-IN" sz="1600" dirty="0">
              <a:latin typeface="Cambria" pitchFamily="18" charset="0"/>
              <a:ea typeface="Cambria" pitchFamily="18" charset="0"/>
            </a:endParaRPr>
          </a:p>
          <a:p>
            <a:pPr marL="1257300" lvl="2" indent="-182563" algn="just">
              <a:lnSpc>
                <a:spcPct val="150000"/>
              </a:lnSpc>
            </a:pPr>
            <a:r>
              <a:rPr lang="en-US" sz="1600" dirty="0">
                <a:latin typeface="Cambria" pitchFamily="18" charset="0"/>
                <a:ea typeface="Cambria" pitchFamily="18" charset="0"/>
              </a:rPr>
              <a:t>Network Configuration.</a:t>
            </a:r>
            <a:endParaRPr lang="en-IN" sz="1600" dirty="0">
              <a:latin typeface="Cambria" pitchFamily="18" charset="0"/>
              <a:ea typeface="Cambria" pitchFamily="18" charset="0"/>
            </a:endParaRPr>
          </a:p>
          <a:p>
            <a:pPr marL="1257300" lvl="2" indent="-182563" algn="just">
              <a:lnSpc>
                <a:spcPct val="150000"/>
              </a:lnSpc>
            </a:pPr>
            <a:r>
              <a:rPr lang="en-US" sz="1600" dirty="0">
                <a:latin typeface="Cambria" pitchFamily="18" charset="0"/>
                <a:ea typeface="Cambria" pitchFamily="18" charset="0"/>
              </a:rPr>
              <a:t>User </a:t>
            </a:r>
            <a:r>
              <a:rPr lang="en-US" sz="1600" dirty="0" smtClean="0">
                <a:latin typeface="Cambria" pitchFamily="18" charset="0"/>
                <a:ea typeface="Cambria" pitchFamily="18" charset="0"/>
              </a:rPr>
              <a:t>Provisioning</a:t>
            </a:r>
            <a:endParaRPr lang="en-IN" sz="1600" dirty="0">
              <a:latin typeface="Cambria" pitchFamily="18" charset="0"/>
              <a:ea typeface="Cambria" pitchFamily="18" charset="0"/>
            </a:endParaRPr>
          </a:p>
        </p:txBody>
      </p:sp>
    </p:spTree>
    <p:extLst>
      <p:ext uri="{BB962C8B-B14F-4D97-AF65-F5344CB8AC3E}">
        <p14:creationId xmlns:p14="http://schemas.microsoft.com/office/powerpoint/2010/main" val="3573223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a:xfrm>
            <a:off x="457200" y="1600200"/>
            <a:ext cx="7924800" cy="4873752"/>
          </a:xfrm>
        </p:spPr>
        <p:txBody>
          <a:bodyPr/>
          <a:lstStyle/>
          <a:p>
            <a:pPr algn="just">
              <a:lnSpc>
                <a:spcPct val="150000"/>
              </a:lnSpc>
            </a:pPr>
            <a:r>
              <a:rPr lang="en-US" dirty="0">
                <a:latin typeface="Cambria" pitchFamily="18" charset="0"/>
                <a:ea typeface="Cambria" pitchFamily="18" charset="0"/>
              </a:rPr>
              <a:t>Ethernet OAM is very important because network base operations are increased and most of the day to day operations are carried out using online mode. </a:t>
            </a:r>
            <a:endParaRPr lang="en-US" dirty="0" smtClean="0">
              <a:latin typeface="Cambria" pitchFamily="18" charset="0"/>
              <a:ea typeface="Cambria" pitchFamily="18" charset="0"/>
            </a:endParaRPr>
          </a:p>
          <a:p>
            <a:pPr algn="just">
              <a:lnSpc>
                <a:spcPct val="150000"/>
              </a:lnSpc>
            </a:pPr>
            <a:r>
              <a:rPr lang="en-US" dirty="0" smtClean="0">
                <a:latin typeface="Cambria" pitchFamily="18" charset="0"/>
                <a:ea typeface="Cambria" pitchFamily="18" charset="0"/>
              </a:rPr>
              <a:t>Therefore </a:t>
            </a:r>
            <a:r>
              <a:rPr lang="en-US" dirty="0">
                <a:latin typeface="Cambria" pitchFamily="18" charset="0"/>
                <a:ea typeface="Cambria" pitchFamily="18" charset="0"/>
              </a:rPr>
              <a:t>the above functions are used to monitor and restore the network quickly in case of failure. IEEE has given the following standards to implement OAM.</a:t>
            </a:r>
            <a:endParaRPr lang="en-IN" dirty="0">
              <a:latin typeface="Cambria" pitchFamily="18" charset="0"/>
              <a:ea typeface="Cambria" pitchFamily="18" charset="0"/>
            </a:endParaRPr>
          </a:p>
          <a:p>
            <a:pPr algn="just">
              <a:lnSpc>
                <a:spcPct val="150000"/>
              </a:lnSpc>
            </a:pPr>
            <a:endParaRPr lang="en-IN" dirty="0">
              <a:latin typeface="Cambria" pitchFamily="18" charset="0"/>
              <a:ea typeface="Cambria" pitchFamily="18" charset="0"/>
            </a:endParaRPr>
          </a:p>
          <a:p>
            <a:endParaRPr lang="en-IN" dirty="0"/>
          </a:p>
        </p:txBody>
      </p:sp>
    </p:spTree>
    <p:extLst>
      <p:ext uri="{BB962C8B-B14F-4D97-AF65-F5344CB8AC3E}">
        <p14:creationId xmlns:p14="http://schemas.microsoft.com/office/powerpoint/2010/main" val="1213784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7467600" cy="1143000"/>
          </a:xfrm>
        </p:spPr>
        <p:txBody>
          <a:bodyPr/>
          <a:lstStyle/>
          <a:p>
            <a:pPr lvl="0"/>
            <a:r>
              <a:rPr lang="en-US" b="1" dirty="0"/>
              <a:t>IEEE 802.1 </a:t>
            </a:r>
            <a:r>
              <a:rPr lang="en-US" b="1" dirty="0" err="1"/>
              <a:t>ag</a:t>
            </a:r>
            <a:r>
              <a:rPr lang="en-IN" dirty="0"/>
              <a:t/>
            </a:r>
            <a:br>
              <a:rPr lang="en-IN" dirty="0"/>
            </a:br>
            <a:endParaRPr lang="en-IN" dirty="0"/>
          </a:p>
        </p:txBody>
      </p:sp>
      <p:sp>
        <p:nvSpPr>
          <p:cNvPr id="3" name="Content Placeholder 2"/>
          <p:cNvSpPr>
            <a:spLocks noGrp="1"/>
          </p:cNvSpPr>
          <p:nvPr>
            <p:ph sz="quarter" idx="1"/>
          </p:nvPr>
        </p:nvSpPr>
        <p:spPr>
          <a:xfrm>
            <a:off x="457200" y="533400"/>
            <a:ext cx="8229600" cy="5940552"/>
          </a:xfrm>
        </p:spPr>
        <p:txBody>
          <a:bodyPr>
            <a:noAutofit/>
          </a:bodyPr>
          <a:lstStyle/>
          <a:p>
            <a:pPr algn="just">
              <a:lnSpc>
                <a:spcPct val="170000"/>
              </a:lnSpc>
            </a:pPr>
            <a:r>
              <a:rPr lang="en-US" sz="1600" dirty="0">
                <a:latin typeface="Cambria" pitchFamily="18" charset="0"/>
                <a:ea typeface="Cambria" pitchFamily="18" charset="0"/>
              </a:rPr>
              <a:t>This focuses on the end to end connectivity and continuity of nodes in an </a:t>
            </a:r>
            <a:r>
              <a:rPr lang="en-US" sz="1600" dirty="0" smtClean="0">
                <a:latin typeface="Cambria" pitchFamily="18" charset="0"/>
                <a:ea typeface="Cambria" pitchFamily="18" charset="0"/>
              </a:rPr>
              <a:t>either </a:t>
            </a:r>
            <a:r>
              <a:rPr lang="en-US" sz="1600" dirty="0">
                <a:latin typeface="Cambria" pitchFamily="18" charset="0"/>
                <a:ea typeface="Cambria" pitchFamily="18" charset="0"/>
              </a:rPr>
              <a:t>net network. Therefore this is referred as </a:t>
            </a:r>
            <a:r>
              <a:rPr lang="en-US" sz="1600" b="1" dirty="0">
                <a:latin typeface="Cambria" pitchFamily="18" charset="0"/>
                <a:ea typeface="Cambria" pitchFamily="18" charset="0"/>
              </a:rPr>
              <a:t>connectivity fault management </a:t>
            </a:r>
            <a:r>
              <a:rPr lang="en-US" sz="1600" dirty="0">
                <a:latin typeface="Cambria" pitchFamily="18" charset="0"/>
                <a:ea typeface="Cambria" pitchFamily="18" charset="0"/>
              </a:rPr>
              <a:t>or CHM.</a:t>
            </a:r>
            <a:endParaRPr lang="en-IN" sz="1600" dirty="0">
              <a:latin typeface="Cambria" pitchFamily="18" charset="0"/>
              <a:ea typeface="Cambria" pitchFamily="18" charset="0"/>
            </a:endParaRPr>
          </a:p>
          <a:p>
            <a:pPr algn="just">
              <a:lnSpc>
                <a:spcPct val="170000"/>
              </a:lnSpc>
            </a:pPr>
            <a:r>
              <a:rPr lang="en-US" sz="1600" dirty="0">
                <a:latin typeface="Cambria" pitchFamily="18" charset="0"/>
                <a:ea typeface="Cambria" pitchFamily="18" charset="0"/>
              </a:rPr>
              <a:t>This has the following three main functions. They are:</a:t>
            </a:r>
            <a:endParaRPr lang="en-IN" sz="1600" dirty="0">
              <a:latin typeface="Cambria" pitchFamily="18" charset="0"/>
              <a:ea typeface="Cambria" pitchFamily="18" charset="0"/>
            </a:endParaRPr>
          </a:p>
          <a:p>
            <a:pPr algn="just">
              <a:lnSpc>
                <a:spcPct val="170000"/>
              </a:lnSpc>
            </a:pPr>
            <a:r>
              <a:rPr lang="en-US" sz="1600" b="1" dirty="0">
                <a:latin typeface="Cambria" pitchFamily="18" charset="0"/>
                <a:ea typeface="Cambria" pitchFamily="18" charset="0"/>
              </a:rPr>
              <a:t>Loopback message and response (LBM/LBR)</a:t>
            </a:r>
            <a:endParaRPr lang="en-IN" sz="1600" dirty="0">
              <a:latin typeface="Cambria" pitchFamily="18" charset="0"/>
              <a:ea typeface="Cambria" pitchFamily="18" charset="0"/>
            </a:endParaRPr>
          </a:p>
          <a:p>
            <a:pPr algn="just">
              <a:lnSpc>
                <a:spcPct val="170000"/>
              </a:lnSpc>
            </a:pPr>
            <a:r>
              <a:rPr lang="en-US" sz="1600" dirty="0">
                <a:latin typeface="Cambria" pitchFamily="18" charset="0"/>
                <a:ea typeface="Cambria" pitchFamily="18" charset="0"/>
              </a:rPr>
              <a:t>LBM and LBR are used to determine the integrity of the data path. Once a network fault has been established, the service provider can verify the loss by initiating loopback test.</a:t>
            </a:r>
            <a:endParaRPr lang="en-IN" sz="1600" dirty="0">
              <a:latin typeface="Cambria" pitchFamily="18" charset="0"/>
              <a:ea typeface="Cambria" pitchFamily="18" charset="0"/>
            </a:endParaRPr>
          </a:p>
          <a:p>
            <a:pPr algn="just">
              <a:lnSpc>
                <a:spcPct val="170000"/>
              </a:lnSpc>
            </a:pPr>
            <a:r>
              <a:rPr lang="en-US" sz="1600" b="1" dirty="0">
                <a:latin typeface="Cambria" pitchFamily="18" charset="0"/>
                <a:ea typeface="Cambria" pitchFamily="18" charset="0"/>
              </a:rPr>
              <a:t>Continuity Check Messages (CCM)</a:t>
            </a:r>
            <a:endParaRPr lang="en-IN" sz="1600" dirty="0">
              <a:latin typeface="Cambria" pitchFamily="18" charset="0"/>
              <a:ea typeface="Cambria" pitchFamily="18" charset="0"/>
            </a:endParaRPr>
          </a:p>
          <a:p>
            <a:pPr algn="just">
              <a:lnSpc>
                <a:spcPct val="170000"/>
              </a:lnSpc>
            </a:pPr>
            <a:r>
              <a:rPr lang="en-US" sz="1600" dirty="0">
                <a:latin typeface="Cambria" pitchFamily="18" charset="0"/>
                <a:ea typeface="Cambria" pitchFamily="18" charset="0"/>
              </a:rPr>
              <a:t>This is an OAM protocol data unit (OAMPDU) that provides service monitoring from one end point to another.</a:t>
            </a:r>
            <a:endParaRPr lang="en-IN" sz="1600" dirty="0">
              <a:latin typeface="Cambria" pitchFamily="18" charset="0"/>
              <a:ea typeface="Cambria" pitchFamily="18" charset="0"/>
            </a:endParaRPr>
          </a:p>
          <a:p>
            <a:pPr algn="just">
              <a:lnSpc>
                <a:spcPct val="170000"/>
              </a:lnSpc>
            </a:pPr>
            <a:r>
              <a:rPr lang="en-US" sz="1600" b="1" dirty="0">
                <a:latin typeface="Cambria" pitchFamily="18" charset="0"/>
                <a:ea typeface="Cambria" pitchFamily="18" charset="0"/>
              </a:rPr>
              <a:t>Link trace message and response (ITM /LTR)</a:t>
            </a:r>
            <a:endParaRPr lang="en-IN" sz="1600" dirty="0">
              <a:latin typeface="Cambria" pitchFamily="18" charset="0"/>
              <a:ea typeface="Cambria" pitchFamily="18" charset="0"/>
            </a:endParaRPr>
          </a:p>
          <a:p>
            <a:pPr algn="just">
              <a:lnSpc>
                <a:spcPct val="170000"/>
              </a:lnSpc>
            </a:pPr>
            <a:r>
              <a:rPr lang="en-US" sz="1600" dirty="0">
                <a:latin typeface="Cambria" pitchFamily="18" charset="0"/>
                <a:ea typeface="Cambria" pitchFamily="18" charset="0"/>
              </a:rPr>
              <a:t>LTM and LTR are used by the service provide maintenance domain to verify the complete link with in the network. Once a network fault has been confirmed by the service provider, this feature can be used to isolate the specific location</a:t>
            </a:r>
            <a:r>
              <a:rPr lang="en-US" sz="1600" dirty="0" smtClean="0">
                <a:latin typeface="Cambria" pitchFamily="18" charset="0"/>
                <a:ea typeface="Cambria" pitchFamily="18" charset="0"/>
              </a:rPr>
              <a:t>.</a:t>
            </a:r>
            <a:endParaRPr lang="en-IN" sz="1600" dirty="0">
              <a:latin typeface="Cambria" pitchFamily="18" charset="0"/>
              <a:ea typeface="Cambria" pitchFamily="18" charset="0"/>
            </a:endParaRPr>
          </a:p>
        </p:txBody>
      </p:sp>
    </p:spTree>
    <p:extLst>
      <p:ext uri="{BB962C8B-B14F-4D97-AF65-F5344CB8AC3E}">
        <p14:creationId xmlns:p14="http://schemas.microsoft.com/office/powerpoint/2010/main" val="738070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467600" cy="1143000"/>
          </a:xfrm>
        </p:spPr>
        <p:txBody>
          <a:bodyPr/>
          <a:lstStyle/>
          <a:p>
            <a:r>
              <a:rPr lang="en-US" b="1" dirty="0"/>
              <a:t>b)   IEEE 802.3 </a:t>
            </a:r>
            <a:r>
              <a:rPr lang="en-US" b="1" dirty="0" smtClean="0"/>
              <a:t>ah</a:t>
            </a:r>
            <a:endParaRPr lang="en-IN" dirty="0"/>
          </a:p>
        </p:txBody>
      </p:sp>
      <p:sp>
        <p:nvSpPr>
          <p:cNvPr id="3" name="Content Placeholder 2"/>
          <p:cNvSpPr>
            <a:spLocks noGrp="1"/>
          </p:cNvSpPr>
          <p:nvPr>
            <p:ph sz="quarter" idx="1"/>
          </p:nvPr>
        </p:nvSpPr>
        <p:spPr>
          <a:xfrm>
            <a:off x="457200" y="685800"/>
            <a:ext cx="8382000" cy="6553200"/>
          </a:xfrm>
        </p:spPr>
        <p:txBody>
          <a:bodyPr>
            <a:noAutofit/>
          </a:bodyPr>
          <a:lstStyle/>
          <a:p>
            <a:pPr algn="just">
              <a:lnSpc>
                <a:spcPct val="170000"/>
              </a:lnSpc>
            </a:pPr>
            <a:r>
              <a:rPr lang="en-US" sz="1800" dirty="0">
                <a:latin typeface="Cambria" pitchFamily="18" charset="0"/>
                <a:ea typeface="Cambria" pitchFamily="18" charset="0"/>
              </a:rPr>
              <a:t>This focuses on the verification of end to end connectivity across multiple domains and hops.</a:t>
            </a:r>
            <a:endParaRPr lang="en-IN" sz="1800" dirty="0">
              <a:latin typeface="Cambria" pitchFamily="18" charset="0"/>
              <a:ea typeface="Cambria" pitchFamily="18" charset="0"/>
            </a:endParaRPr>
          </a:p>
          <a:p>
            <a:pPr algn="just">
              <a:lnSpc>
                <a:spcPct val="170000"/>
              </a:lnSpc>
            </a:pPr>
            <a:r>
              <a:rPr lang="en-US" sz="1800" dirty="0">
                <a:latin typeface="Cambria" pitchFamily="18" charset="0"/>
                <a:ea typeface="Cambria" pitchFamily="18" charset="0"/>
              </a:rPr>
              <a:t> </a:t>
            </a:r>
            <a:r>
              <a:rPr lang="en-US" sz="1800" dirty="0" smtClean="0">
                <a:latin typeface="Cambria" pitchFamily="18" charset="0"/>
                <a:ea typeface="Cambria" pitchFamily="18" charset="0"/>
              </a:rPr>
              <a:t>This </a:t>
            </a:r>
            <a:r>
              <a:rPr lang="en-US" sz="1800" dirty="0">
                <a:latin typeface="Cambria" pitchFamily="18" charset="0"/>
                <a:ea typeface="Cambria" pitchFamily="18" charset="0"/>
              </a:rPr>
              <a:t>uses the following techniques.</a:t>
            </a:r>
            <a:endParaRPr lang="en-IN" sz="1800" dirty="0">
              <a:latin typeface="Cambria" pitchFamily="18" charset="0"/>
              <a:ea typeface="Cambria" pitchFamily="18" charset="0"/>
            </a:endParaRPr>
          </a:p>
          <a:p>
            <a:pPr algn="just">
              <a:lnSpc>
                <a:spcPct val="170000"/>
              </a:lnSpc>
            </a:pPr>
            <a:r>
              <a:rPr lang="en-US" sz="1800" b="1" dirty="0">
                <a:latin typeface="Cambria" pitchFamily="18" charset="0"/>
                <a:ea typeface="Cambria" pitchFamily="18" charset="0"/>
              </a:rPr>
              <a:t>Loopback:</a:t>
            </a:r>
            <a:r>
              <a:rPr lang="en-US" sz="1800" dirty="0">
                <a:latin typeface="Cambria" pitchFamily="18" charset="0"/>
                <a:ea typeface="Cambria" pitchFamily="18" charset="0"/>
              </a:rPr>
              <a:t> An OAM entity can put its remote peer into loopback mode. This helps the administrator to ensure the link quality during installation or troubleshooting.</a:t>
            </a:r>
            <a:endParaRPr lang="en-IN" sz="1800" dirty="0">
              <a:latin typeface="Cambria" pitchFamily="18" charset="0"/>
              <a:ea typeface="Cambria" pitchFamily="18" charset="0"/>
            </a:endParaRPr>
          </a:p>
          <a:p>
            <a:pPr algn="just">
              <a:lnSpc>
                <a:spcPct val="170000"/>
              </a:lnSpc>
            </a:pPr>
            <a:r>
              <a:rPr lang="en-US" sz="1800" b="1" dirty="0">
                <a:latin typeface="Cambria" pitchFamily="18" charset="0"/>
                <a:ea typeface="Cambria" pitchFamily="18" charset="0"/>
              </a:rPr>
              <a:t>Discovery:</a:t>
            </a:r>
            <a:r>
              <a:rPr lang="en-US" sz="1800" dirty="0">
                <a:latin typeface="Cambria" pitchFamily="18" charset="0"/>
                <a:ea typeface="Cambria" pitchFamily="18" charset="0"/>
              </a:rPr>
              <a:t> This is the first phase and is used to identify the devices in the network with their OAM capabilities. If the discovery fails, all other OAM activity is terminated until the discovery is reestablished.</a:t>
            </a:r>
            <a:endParaRPr lang="en-IN" sz="1800" dirty="0">
              <a:latin typeface="Cambria" pitchFamily="18" charset="0"/>
              <a:ea typeface="Cambria" pitchFamily="18" charset="0"/>
            </a:endParaRPr>
          </a:p>
          <a:p>
            <a:pPr algn="just">
              <a:lnSpc>
                <a:spcPct val="170000"/>
              </a:lnSpc>
            </a:pPr>
            <a:r>
              <a:rPr lang="en-US" sz="1800" b="1" dirty="0">
                <a:latin typeface="Cambria" pitchFamily="18" charset="0"/>
                <a:ea typeface="Cambria" pitchFamily="18" charset="0"/>
              </a:rPr>
              <a:t>Remote failure indication:</a:t>
            </a:r>
            <a:r>
              <a:rPr lang="en-US" sz="1800" dirty="0">
                <a:latin typeface="Cambria" pitchFamily="18" charset="0"/>
                <a:ea typeface="Cambria" pitchFamily="18" charset="0"/>
              </a:rPr>
              <a:t> This technique is used to convey the degradation of an Ethernet link.</a:t>
            </a:r>
            <a:endParaRPr lang="en-IN" sz="1800" dirty="0">
              <a:latin typeface="Cambria" pitchFamily="18" charset="0"/>
              <a:ea typeface="Cambria" pitchFamily="18" charset="0"/>
            </a:endParaRPr>
          </a:p>
          <a:p>
            <a:pPr algn="just">
              <a:lnSpc>
                <a:spcPct val="170000"/>
              </a:lnSpc>
            </a:pPr>
            <a:r>
              <a:rPr lang="en-US" sz="1800" dirty="0">
                <a:latin typeface="Cambria" pitchFamily="18" charset="0"/>
                <a:ea typeface="Cambria" pitchFamily="18" charset="0"/>
              </a:rPr>
              <a:t> </a:t>
            </a:r>
            <a:r>
              <a:rPr lang="en-US" sz="1800" b="1" dirty="0">
                <a:latin typeface="Cambria" pitchFamily="18" charset="0"/>
                <a:ea typeface="Cambria" pitchFamily="18" charset="0"/>
              </a:rPr>
              <a:t>Ethernet link force:</a:t>
            </a:r>
            <a:r>
              <a:rPr lang="en-US" sz="1800" dirty="0">
                <a:latin typeface="Cambria" pitchFamily="18" charset="0"/>
                <a:ea typeface="Cambria" pitchFamily="18" charset="0"/>
              </a:rPr>
              <a:t> This technique is used for fault isolation.</a:t>
            </a:r>
            <a:endParaRPr lang="en-IN" sz="1800" dirty="0">
              <a:latin typeface="Cambria" pitchFamily="18" charset="0"/>
              <a:ea typeface="Cambria" pitchFamily="18" charset="0"/>
            </a:endParaRPr>
          </a:p>
          <a:p>
            <a:pPr algn="just">
              <a:lnSpc>
                <a:spcPct val="170000"/>
              </a:lnSpc>
            </a:pPr>
            <a:endParaRPr lang="en-IN" sz="1800" dirty="0">
              <a:latin typeface="Cambria" pitchFamily="18" charset="0"/>
              <a:ea typeface="Cambria" pitchFamily="18" charset="0"/>
            </a:endParaRPr>
          </a:p>
        </p:txBody>
      </p:sp>
    </p:spTree>
    <p:extLst>
      <p:ext uri="{BB962C8B-B14F-4D97-AF65-F5344CB8AC3E}">
        <p14:creationId xmlns:p14="http://schemas.microsoft.com/office/powerpoint/2010/main" val="1942740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Fault detection and isolation</a:t>
            </a:r>
            <a:r>
              <a:rPr lang="en-IN" dirty="0">
                <a:solidFill>
                  <a:schemeClr val="tx1"/>
                </a:solidFill>
              </a:rPr>
              <a:t/>
            </a:r>
            <a:br>
              <a:rPr lang="en-IN" dirty="0">
                <a:solidFill>
                  <a:schemeClr val="tx1"/>
                </a:solidFill>
              </a:rPr>
            </a:br>
            <a:endParaRPr lang="en-IN" dirty="0">
              <a:solidFill>
                <a:schemeClr val="tx1"/>
              </a:solidFill>
            </a:endParaRPr>
          </a:p>
        </p:txBody>
      </p:sp>
      <p:sp>
        <p:nvSpPr>
          <p:cNvPr id="3" name="Content Placeholder 2"/>
          <p:cNvSpPr>
            <a:spLocks noGrp="1"/>
          </p:cNvSpPr>
          <p:nvPr>
            <p:ph sz="quarter" idx="1"/>
          </p:nvPr>
        </p:nvSpPr>
        <p:spPr>
          <a:xfrm>
            <a:off x="457200" y="914400"/>
            <a:ext cx="8229600" cy="5867400"/>
          </a:xfrm>
        </p:spPr>
        <p:txBody>
          <a:bodyPr>
            <a:noAutofit/>
          </a:bodyPr>
          <a:lstStyle/>
          <a:p>
            <a:pPr marL="360363" indent="0" algn="just">
              <a:lnSpc>
                <a:spcPct val="170000"/>
              </a:lnSpc>
              <a:buNone/>
            </a:pPr>
            <a:r>
              <a:rPr lang="en-US" sz="1600" dirty="0">
                <a:latin typeface="Cambria" pitchFamily="18" charset="0"/>
                <a:ea typeface="Cambria" pitchFamily="18" charset="0"/>
              </a:rPr>
              <a:t>Depending on the OAM standard used, several types of test can be performed to detect, verify, locate and notify the various defect conditions. They are,</a:t>
            </a:r>
            <a:endParaRPr lang="en-IN" sz="1600" dirty="0">
              <a:latin typeface="Cambria" pitchFamily="18" charset="0"/>
              <a:ea typeface="Cambria" pitchFamily="18" charset="0"/>
            </a:endParaRPr>
          </a:p>
          <a:p>
            <a:pPr algn="just">
              <a:lnSpc>
                <a:spcPct val="170000"/>
              </a:lnSpc>
            </a:pPr>
            <a:r>
              <a:rPr lang="en-US" sz="1600" b="1" dirty="0">
                <a:latin typeface="Cambria" pitchFamily="18" charset="0"/>
                <a:ea typeface="Cambria" pitchFamily="18" charset="0"/>
              </a:rPr>
              <a:t>CSF test</a:t>
            </a:r>
            <a:endParaRPr lang="en-IN" sz="1600" b="1" dirty="0">
              <a:latin typeface="Cambria" pitchFamily="18" charset="0"/>
              <a:ea typeface="Cambria" pitchFamily="18" charset="0"/>
            </a:endParaRPr>
          </a:p>
          <a:p>
            <a:pPr marL="273050" indent="0" algn="just">
              <a:lnSpc>
                <a:spcPct val="170000"/>
              </a:lnSpc>
              <a:buNone/>
            </a:pPr>
            <a:r>
              <a:rPr lang="en-US" sz="1600" dirty="0" smtClean="0">
                <a:latin typeface="Cambria" pitchFamily="18" charset="0"/>
                <a:ea typeface="Cambria" pitchFamily="18" charset="0"/>
              </a:rPr>
              <a:t>During </a:t>
            </a:r>
            <a:r>
              <a:rPr lang="en-US" sz="1600" dirty="0">
                <a:latin typeface="Cambria" pitchFamily="18" charset="0"/>
                <a:ea typeface="Cambria" pitchFamily="18" charset="0"/>
              </a:rPr>
              <a:t>this test, the tester generates and detects a client signal fail (CSF) to validate the reception and behavior of the maintenance domain.</a:t>
            </a:r>
            <a:endParaRPr lang="en-IN" sz="1600" dirty="0">
              <a:latin typeface="Cambria" pitchFamily="18" charset="0"/>
              <a:ea typeface="Cambria" pitchFamily="18" charset="0"/>
            </a:endParaRPr>
          </a:p>
          <a:p>
            <a:pPr algn="just">
              <a:lnSpc>
                <a:spcPct val="170000"/>
              </a:lnSpc>
            </a:pPr>
            <a:r>
              <a:rPr lang="en-US" sz="1600" b="1" dirty="0">
                <a:latin typeface="Cambria" pitchFamily="18" charset="0"/>
                <a:ea typeface="Cambria" pitchFamily="18" charset="0"/>
              </a:rPr>
              <a:t>Continuity check</a:t>
            </a:r>
            <a:endParaRPr lang="en-IN" sz="1600" dirty="0">
              <a:latin typeface="Cambria" pitchFamily="18" charset="0"/>
              <a:ea typeface="Cambria" pitchFamily="18" charset="0"/>
            </a:endParaRPr>
          </a:p>
          <a:p>
            <a:pPr marL="273050" indent="0" algn="just">
              <a:lnSpc>
                <a:spcPct val="170000"/>
              </a:lnSpc>
              <a:buNone/>
            </a:pPr>
            <a:r>
              <a:rPr lang="en-US" sz="1600" dirty="0" smtClean="0">
                <a:latin typeface="Cambria" pitchFamily="18" charset="0"/>
                <a:ea typeface="Cambria" pitchFamily="18" charset="0"/>
              </a:rPr>
              <a:t>This </a:t>
            </a:r>
            <a:r>
              <a:rPr lang="en-US" sz="1600" dirty="0">
                <a:latin typeface="Cambria" pitchFamily="18" charset="0"/>
                <a:ea typeface="Cambria" pitchFamily="18" charset="0"/>
              </a:rPr>
              <a:t>is used to confirm the presence of a test equipment on a network and to verify the presence of other test </a:t>
            </a:r>
            <a:r>
              <a:rPr lang="en-US" sz="1600" dirty="0" smtClean="0">
                <a:latin typeface="Cambria" pitchFamily="18" charset="0"/>
                <a:ea typeface="Cambria" pitchFamily="18" charset="0"/>
              </a:rPr>
              <a:t>equipment's.  </a:t>
            </a:r>
            <a:r>
              <a:rPr lang="en-US" sz="1600" dirty="0">
                <a:latin typeface="Cambria" pitchFamily="18" charset="0"/>
                <a:ea typeface="Cambria" pitchFamily="18" charset="0"/>
              </a:rPr>
              <a:t>During this test transmitted frames are either received by all test equipment using an uncast destination address or by all test </a:t>
            </a:r>
            <a:r>
              <a:rPr lang="en-US" sz="1600" dirty="0" smtClean="0">
                <a:latin typeface="Cambria" pitchFamily="18" charset="0"/>
                <a:ea typeface="Cambria" pitchFamily="18" charset="0"/>
              </a:rPr>
              <a:t>equipment's </a:t>
            </a:r>
            <a:r>
              <a:rPr lang="en-US" sz="1600" dirty="0">
                <a:latin typeface="Cambria" pitchFamily="18" charset="0"/>
                <a:ea typeface="Cambria" pitchFamily="18" charset="0"/>
              </a:rPr>
              <a:t>using a multicast destination address.</a:t>
            </a:r>
            <a:endParaRPr lang="en-IN" sz="1600" dirty="0">
              <a:latin typeface="Cambria" pitchFamily="18" charset="0"/>
              <a:ea typeface="Cambria" pitchFamily="18" charset="0"/>
            </a:endParaRPr>
          </a:p>
          <a:p>
            <a:pPr algn="just">
              <a:lnSpc>
                <a:spcPct val="170000"/>
              </a:lnSpc>
            </a:pPr>
            <a:r>
              <a:rPr lang="en-US" sz="1600" b="1" dirty="0">
                <a:latin typeface="Cambria" pitchFamily="18" charset="0"/>
                <a:ea typeface="Cambria" pitchFamily="18" charset="0"/>
              </a:rPr>
              <a:t>Link trace test</a:t>
            </a:r>
            <a:endParaRPr lang="en-IN" sz="1600" dirty="0">
              <a:latin typeface="Cambria" pitchFamily="18" charset="0"/>
              <a:ea typeface="Cambria" pitchFamily="18" charset="0"/>
            </a:endParaRPr>
          </a:p>
          <a:p>
            <a:pPr marL="273050" indent="0" algn="just">
              <a:lnSpc>
                <a:spcPct val="170000"/>
              </a:lnSpc>
              <a:buNone/>
            </a:pPr>
            <a:r>
              <a:rPr lang="en-US" sz="1600" dirty="0" smtClean="0">
                <a:latin typeface="Cambria" pitchFamily="18" charset="0"/>
                <a:ea typeface="Cambria" pitchFamily="18" charset="0"/>
              </a:rPr>
              <a:t>This </a:t>
            </a:r>
            <a:r>
              <a:rPr lang="en-US" sz="1600" dirty="0">
                <a:latin typeface="Cambria" pitchFamily="18" charset="0"/>
                <a:ea typeface="Cambria" pitchFamily="18" charset="0"/>
              </a:rPr>
              <a:t>test verifies that the complete link trace reaches all the </a:t>
            </a:r>
            <a:r>
              <a:rPr lang="en-US" sz="1600" dirty="0" smtClean="0">
                <a:latin typeface="Cambria" pitchFamily="18" charset="0"/>
                <a:ea typeface="Cambria" pitchFamily="18" charset="0"/>
              </a:rPr>
              <a:t>equipment's </a:t>
            </a:r>
            <a:r>
              <a:rPr lang="en-US" sz="1600" dirty="0">
                <a:latin typeface="Cambria" pitchFamily="18" charset="0"/>
                <a:ea typeface="Cambria" pitchFamily="18" charset="0"/>
              </a:rPr>
              <a:t>in the maintenance domain. The tester will send LTM message and receives LTR messages</a:t>
            </a:r>
            <a:r>
              <a:rPr lang="en-US" sz="1600" dirty="0" smtClean="0">
                <a:latin typeface="Cambria" pitchFamily="18" charset="0"/>
                <a:ea typeface="Cambria" pitchFamily="18" charset="0"/>
              </a:rPr>
              <a:t>.</a:t>
            </a:r>
            <a:endParaRPr lang="en-IN" sz="1600" dirty="0">
              <a:latin typeface="Cambria" pitchFamily="18" charset="0"/>
              <a:ea typeface="Cambria" pitchFamily="18" charset="0"/>
            </a:endParaRPr>
          </a:p>
        </p:txBody>
      </p:sp>
    </p:spTree>
    <p:extLst>
      <p:ext uri="{BB962C8B-B14F-4D97-AF65-F5344CB8AC3E}">
        <p14:creationId xmlns:p14="http://schemas.microsoft.com/office/powerpoint/2010/main" val="1337110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305800" cy="6553200"/>
          </a:xfrm>
        </p:spPr>
        <p:txBody>
          <a:bodyPr>
            <a:normAutofit fontScale="55000" lnSpcReduction="20000"/>
          </a:bodyPr>
          <a:lstStyle/>
          <a:p>
            <a:pPr algn="just">
              <a:lnSpc>
                <a:spcPct val="170000"/>
              </a:lnSpc>
            </a:pPr>
            <a:r>
              <a:rPr lang="en-US" sz="3300" b="1" dirty="0">
                <a:latin typeface="Cambria" pitchFamily="18" charset="0"/>
                <a:ea typeface="Cambria" pitchFamily="18" charset="0"/>
              </a:rPr>
              <a:t>Test function</a:t>
            </a:r>
            <a:endParaRPr lang="en-IN" sz="3300" dirty="0">
              <a:latin typeface="Cambria" pitchFamily="18" charset="0"/>
              <a:ea typeface="Cambria" pitchFamily="18" charset="0"/>
            </a:endParaRPr>
          </a:p>
          <a:p>
            <a:pPr marL="273050" indent="0" algn="just">
              <a:lnSpc>
                <a:spcPct val="170000"/>
              </a:lnSpc>
              <a:buNone/>
            </a:pPr>
            <a:r>
              <a:rPr lang="en-US" sz="3300" dirty="0">
                <a:latin typeface="Cambria" pitchFamily="18" charset="0"/>
                <a:ea typeface="Cambria" pitchFamily="18" charset="0"/>
              </a:rPr>
              <a:t>In this, the tester generates frames with a specific test pattern and sequence number in order to verify the integrity of the signal received by the maintenance domain.</a:t>
            </a:r>
            <a:endParaRPr lang="en-IN" sz="3300" dirty="0">
              <a:latin typeface="Cambria" pitchFamily="18" charset="0"/>
              <a:ea typeface="Cambria" pitchFamily="18" charset="0"/>
            </a:endParaRPr>
          </a:p>
          <a:p>
            <a:pPr algn="just">
              <a:lnSpc>
                <a:spcPct val="170000"/>
              </a:lnSpc>
            </a:pPr>
            <a:r>
              <a:rPr lang="en-US" sz="3300" b="1" dirty="0">
                <a:latin typeface="Cambria" pitchFamily="18" charset="0"/>
                <a:ea typeface="Cambria" pitchFamily="18" charset="0"/>
              </a:rPr>
              <a:t>Loopback test</a:t>
            </a:r>
            <a:endParaRPr lang="en-IN" sz="3300" dirty="0">
              <a:latin typeface="Cambria" pitchFamily="18" charset="0"/>
              <a:ea typeface="Cambria" pitchFamily="18" charset="0"/>
            </a:endParaRPr>
          </a:p>
          <a:p>
            <a:pPr marL="273050" indent="0" algn="just">
              <a:lnSpc>
                <a:spcPct val="170000"/>
              </a:lnSpc>
              <a:buNone/>
            </a:pPr>
            <a:r>
              <a:rPr lang="en-US" sz="3300" dirty="0">
                <a:latin typeface="Cambria" pitchFamily="18" charset="0"/>
                <a:ea typeface="Cambria" pitchFamily="18" charset="0"/>
              </a:rPr>
              <a:t>During this test, the tester transmits LBM payload with a specific sequence number. The </a:t>
            </a:r>
            <a:r>
              <a:rPr lang="en-US" sz="3300" dirty="0" smtClean="0">
                <a:latin typeface="Cambria" pitchFamily="18" charset="0"/>
                <a:ea typeface="Cambria" pitchFamily="18" charset="0"/>
              </a:rPr>
              <a:t>equipment's </a:t>
            </a:r>
            <a:r>
              <a:rPr lang="en-US" sz="3300" dirty="0">
                <a:latin typeface="Cambria" pitchFamily="18" charset="0"/>
                <a:ea typeface="Cambria" pitchFamily="18" charset="0"/>
              </a:rPr>
              <a:t>responds to the LBM with an LBR payload. The test validates each received LBR and reports any invalid LBR.</a:t>
            </a:r>
            <a:endParaRPr lang="en-IN" sz="3300" dirty="0">
              <a:latin typeface="Cambria" pitchFamily="18" charset="0"/>
              <a:ea typeface="Cambria" pitchFamily="18" charset="0"/>
            </a:endParaRPr>
          </a:p>
          <a:p>
            <a:pPr algn="just">
              <a:lnSpc>
                <a:spcPct val="170000"/>
              </a:lnSpc>
            </a:pPr>
            <a:r>
              <a:rPr lang="en-US" sz="3300" b="1" dirty="0">
                <a:latin typeface="Cambria" pitchFamily="18" charset="0"/>
                <a:ea typeface="Cambria" pitchFamily="18" charset="0"/>
              </a:rPr>
              <a:t>RDI test</a:t>
            </a:r>
            <a:endParaRPr lang="en-IN" sz="3300" dirty="0">
              <a:latin typeface="Cambria" pitchFamily="18" charset="0"/>
              <a:ea typeface="Cambria" pitchFamily="18" charset="0"/>
            </a:endParaRPr>
          </a:p>
          <a:p>
            <a:pPr marL="273050" indent="0" algn="just">
              <a:lnSpc>
                <a:spcPct val="170000"/>
              </a:lnSpc>
              <a:buNone/>
            </a:pPr>
            <a:r>
              <a:rPr lang="en-US" sz="3300" dirty="0">
                <a:latin typeface="Cambria" pitchFamily="18" charset="0"/>
                <a:ea typeface="Cambria" pitchFamily="18" charset="0"/>
              </a:rPr>
              <a:t>In this the tester generates a Remote Defect Indicator (RDI) to simulate a defect and validate the reaction and behaviors of the maintenance domain.</a:t>
            </a:r>
            <a:endParaRPr lang="en-IN" sz="3300" dirty="0">
              <a:latin typeface="Cambria" pitchFamily="18" charset="0"/>
              <a:ea typeface="Cambria" pitchFamily="18" charset="0"/>
            </a:endParaRPr>
          </a:p>
          <a:p>
            <a:pPr algn="just">
              <a:lnSpc>
                <a:spcPct val="170000"/>
              </a:lnSpc>
            </a:pPr>
            <a:r>
              <a:rPr lang="en-US" sz="3300" b="1" dirty="0">
                <a:latin typeface="Cambria" pitchFamily="18" charset="0"/>
                <a:ea typeface="Cambria" pitchFamily="18" charset="0"/>
              </a:rPr>
              <a:t>Lock signal test</a:t>
            </a:r>
            <a:endParaRPr lang="en-IN" sz="3300" dirty="0">
              <a:latin typeface="Cambria" pitchFamily="18" charset="0"/>
              <a:ea typeface="Cambria" pitchFamily="18" charset="0"/>
            </a:endParaRPr>
          </a:p>
          <a:p>
            <a:pPr marL="273050" indent="0" algn="just">
              <a:lnSpc>
                <a:spcPct val="170000"/>
              </a:lnSpc>
              <a:buNone/>
            </a:pPr>
            <a:r>
              <a:rPr lang="en-US" sz="3300" dirty="0">
                <a:latin typeface="Cambria" pitchFamily="18" charset="0"/>
                <a:ea typeface="Cambria" pitchFamily="18" charset="0"/>
              </a:rPr>
              <a:t>This test is used to generate and detect locked signals. When a lock signal is received, the tester sounds an alarm.</a:t>
            </a:r>
            <a:endParaRPr lang="en-IN" sz="3300" dirty="0">
              <a:latin typeface="Cambria" pitchFamily="18" charset="0"/>
              <a:ea typeface="Cambria" pitchFamily="18" charset="0"/>
            </a:endParaRPr>
          </a:p>
          <a:p>
            <a:pPr algn="just">
              <a:lnSpc>
                <a:spcPct val="170000"/>
              </a:lnSpc>
            </a:pPr>
            <a:endParaRPr lang="en-IN" sz="2900" dirty="0">
              <a:latin typeface="Cambria" pitchFamily="18" charset="0"/>
              <a:ea typeface="Cambria" pitchFamily="18" charset="0"/>
            </a:endParaRPr>
          </a:p>
          <a:p>
            <a:pPr algn="just">
              <a:lnSpc>
                <a:spcPct val="170000"/>
              </a:lnSpc>
            </a:pPr>
            <a:endParaRPr lang="en-IN" dirty="0">
              <a:latin typeface="Cambria" pitchFamily="18" charset="0"/>
              <a:ea typeface="Cambria" pitchFamily="18" charset="0"/>
            </a:endParaRPr>
          </a:p>
          <a:p>
            <a:pPr algn="just">
              <a:lnSpc>
                <a:spcPct val="170000"/>
              </a:lnSpc>
            </a:pPr>
            <a:endParaRPr lang="en-IN" dirty="0"/>
          </a:p>
        </p:txBody>
      </p:sp>
    </p:spTree>
    <p:extLst>
      <p:ext uri="{BB962C8B-B14F-4D97-AF65-F5344CB8AC3E}">
        <p14:creationId xmlns:p14="http://schemas.microsoft.com/office/powerpoint/2010/main" val="24409877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TotalTime>
  <Words>1226</Words>
  <Application>Microsoft Office PowerPoint</Application>
  <PresentationFormat>On-screen Show (4:3)</PresentationFormat>
  <Paragraphs>85</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Oriel</vt:lpstr>
      <vt:lpstr>Qos AND TRAFFIC ENGINEERING</vt:lpstr>
      <vt:lpstr>Overview of Qos</vt:lpstr>
      <vt:lpstr>PowerPoint Presentation</vt:lpstr>
      <vt:lpstr>Important Quality of service(QoS)</vt:lpstr>
      <vt:lpstr>Techniques implemented in QoS </vt:lpstr>
      <vt:lpstr>Advantages </vt:lpstr>
      <vt:lpstr>Overview of traffic engineering techniques and protocols</vt:lpstr>
      <vt:lpstr>PowerPoint Presentation</vt:lpstr>
      <vt:lpstr>PowerPoint Presentation</vt:lpstr>
      <vt:lpstr>First in, first out queuing (FIFO) </vt:lpstr>
      <vt:lpstr>Hierarchical weighted fair quenching. </vt:lpstr>
      <vt:lpstr>OAM</vt:lpstr>
      <vt:lpstr>PowerPoint Presentation</vt:lpstr>
      <vt:lpstr>IEEE 802.1 ag </vt:lpstr>
      <vt:lpstr>b)   IEEE 802.3 ah</vt:lpstr>
      <vt:lpstr>Fault detection and isolation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Qos AND TRAFFIC ENGINEERING</dc:title>
  <dc:creator>admin</dc:creator>
  <cp:lastModifiedBy>Ashok f.</cp:lastModifiedBy>
  <cp:revision>9</cp:revision>
  <dcterms:created xsi:type="dcterms:W3CDTF">2024-03-06T05:50:25Z</dcterms:created>
  <dcterms:modified xsi:type="dcterms:W3CDTF">2024-03-09T04:16:16Z</dcterms:modified>
</cp:coreProperties>
</file>