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1" r:id="rId2"/>
    <p:sldId id="272" r:id="rId3"/>
    <p:sldId id="295" r:id="rId4"/>
    <p:sldId id="274" r:id="rId5"/>
    <p:sldId id="275" r:id="rId6"/>
    <p:sldId id="276" r:id="rId7"/>
    <p:sldId id="277" r:id="rId8"/>
    <p:sldId id="278" r:id="rId9"/>
    <p:sldId id="279" r:id="rId10"/>
    <p:sldId id="297" r:id="rId11"/>
    <p:sldId id="280" r:id="rId12"/>
    <p:sldId id="296" r:id="rId13"/>
    <p:sldId id="294" r:id="rId14"/>
    <p:sldId id="284" r:id="rId15"/>
    <p:sldId id="292" r:id="rId16"/>
    <p:sldId id="293" r:id="rId17"/>
    <p:sldId id="298"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8" d="100"/>
          <a:sy n="108" d="100"/>
        </p:scale>
        <p:origin x="1704"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81CBF5E-2210-462C-B5C4-2D9E98761249}" type="datetimeFigureOut">
              <a:rPr lang="en-US" smtClean="0"/>
              <a:pPr/>
              <a:t>3/7/2025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E655B9-D92E-4630-A0D4-501A553BF8F3}"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81CBF5E-2210-462C-B5C4-2D9E98761249}" type="datetimeFigureOut">
              <a:rPr lang="en-US" smtClean="0"/>
              <a:pPr/>
              <a:t>3/7/2025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E655B9-D92E-4630-A0D4-501A553BF8F3}"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81CBF5E-2210-462C-B5C4-2D9E98761249}" type="datetimeFigureOut">
              <a:rPr lang="en-US" smtClean="0"/>
              <a:pPr/>
              <a:t>3/7/2025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E655B9-D92E-4630-A0D4-501A553BF8F3}"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581CBF5E-2210-462C-B5C4-2D9E98761249}" type="datetimeFigureOut">
              <a:rPr lang="en-US" smtClean="0"/>
              <a:pPr/>
              <a:t>3/7/2025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E655B9-D92E-4630-A0D4-501A553BF8F3}"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581CBF5E-2210-462C-B5C4-2D9E98761249}" type="datetimeFigureOut">
              <a:rPr lang="en-US" smtClean="0"/>
              <a:pPr/>
              <a:t>3/7/2025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DE655B9-D92E-4630-A0D4-501A553BF8F3}"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581CBF5E-2210-462C-B5C4-2D9E98761249}" type="datetimeFigureOut">
              <a:rPr lang="en-US" smtClean="0"/>
              <a:pPr/>
              <a:t>3/7/2025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DE655B9-D92E-4630-A0D4-501A553BF8F3}"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81CBF5E-2210-462C-B5C4-2D9E98761249}" type="datetimeFigureOut">
              <a:rPr lang="en-US" smtClean="0"/>
              <a:pPr/>
              <a:t>3/7/2025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DE655B9-D92E-4630-A0D4-501A553BF8F3}"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1CBF5E-2210-462C-B5C4-2D9E98761249}" type="datetimeFigureOut">
              <a:rPr lang="en-US" smtClean="0"/>
              <a:pPr/>
              <a:t>3/7/2025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E655B9-D92E-4630-A0D4-501A553BF8F3}"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1CBF5E-2210-462C-B5C4-2D9E98761249}" type="datetimeFigureOut">
              <a:rPr lang="en-US" smtClean="0"/>
              <a:pPr/>
              <a:t>3/7/2025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DE655B9-D92E-4630-A0D4-501A553BF8F3}"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81CBF5E-2210-462C-B5C4-2D9E98761249}" type="datetimeFigureOut">
              <a:rPr lang="en-US" smtClean="0"/>
              <a:pPr/>
              <a:t>3/7/2025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E655B9-D92E-4630-A0D4-501A553BF8F3}"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581CBF5E-2210-462C-B5C4-2D9E98761249}" type="datetimeFigureOut">
              <a:rPr lang="en-US" smtClean="0"/>
              <a:pPr/>
              <a:t>3/7/2025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DE655B9-D92E-4630-A0D4-501A553BF8F3}"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81CBF5E-2210-462C-B5C4-2D9E98761249}" type="datetimeFigureOut">
              <a:rPr lang="en-US" smtClean="0"/>
              <a:pPr/>
              <a:t>3/7/2025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DE655B9-D92E-4630-A0D4-501A553BF8F3}"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Transport layer protocol</a:t>
            </a:r>
            <a:endParaRPr lang="en-IN" dirty="0"/>
          </a:p>
        </p:txBody>
      </p:sp>
      <p:sp>
        <p:nvSpPr>
          <p:cNvPr id="3" name="Content Placeholder 2"/>
          <p:cNvSpPr>
            <a:spLocks noGrp="1"/>
          </p:cNvSpPr>
          <p:nvPr>
            <p:ph idx="1"/>
          </p:nvPr>
        </p:nvSpPr>
        <p:spPr/>
        <p:txBody>
          <a:bodyPr>
            <a:normAutofit/>
          </a:bodyPr>
          <a:lstStyle/>
          <a:p>
            <a:pPr algn="just"/>
            <a:r>
              <a:rPr lang="en-US" dirty="0" smtClean="0"/>
              <a:t>The </a:t>
            </a:r>
            <a:r>
              <a:rPr lang="en-US" dirty="0"/>
              <a:t>transport layer protocol sits above the </a:t>
            </a:r>
            <a:r>
              <a:rPr lang="en-US" b="1" dirty="0" smtClean="0"/>
              <a:t>network or internet layer</a:t>
            </a:r>
            <a:r>
              <a:rPr lang="en-US" dirty="0" smtClean="0"/>
              <a:t> </a:t>
            </a:r>
            <a:r>
              <a:rPr lang="en-US" dirty="0"/>
              <a:t>and just below the application and other upper layer protocols. </a:t>
            </a:r>
            <a:endParaRPr lang="en-US" dirty="0" smtClean="0"/>
          </a:p>
          <a:p>
            <a:pPr algn="just"/>
            <a:r>
              <a:rPr lang="en-US" dirty="0" smtClean="0"/>
              <a:t>The </a:t>
            </a:r>
            <a:r>
              <a:rPr lang="en-US" dirty="0"/>
              <a:t>general service provided by transport layer protocol is the </a:t>
            </a:r>
            <a:r>
              <a:rPr lang="en-US" b="1" dirty="0"/>
              <a:t>end-to-end </a:t>
            </a:r>
            <a:r>
              <a:rPr lang="en-US" dirty="0"/>
              <a:t>transport of data from the sender to receiver and vice versa</a:t>
            </a:r>
            <a:r>
              <a:rPr lang="en-US" dirty="0" smtClean="0"/>
              <a:t>.</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lnSpcReduction="10000"/>
          </a:bodyPr>
          <a:lstStyle/>
          <a:p>
            <a:pPr algn="just"/>
            <a:r>
              <a:rPr lang="en-US" dirty="0" smtClean="0"/>
              <a:t>This protocol divides the sender information in to discrete message packets.</a:t>
            </a:r>
          </a:p>
          <a:p>
            <a:pPr algn="just"/>
            <a:r>
              <a:rPr lang="en-US" dirty="0" smtClean="0"/>
              <a:t> Then it delivers it to the receiver in the internet </a:t>
            </a:r>
            <a:r>
              <a:rPr lang="en-US" b="1" dirty="0" smtClean="0"/>
              <a:t>using a physical connection between them</a:t>
            </a:r>
            <a:r>
              <a:rPr lang="en-US" dirty="0" smtClean="0"/>
              <a:t>.</a:t>
            </a:r>
          </a:p>
          <a:p>
            <a:pPr algn="just"/>
            <a:r>
              <a:rPr lang="en-US" dirty="0" smtClean="0"/>
              <a:t> At the receiving end it reassembles the received message packets into original data. </a:t>
            </a:r>
          </a:p>
          <a:p>
            <a:pPr algn="just"/>
            <a:r>
              <a:rPr lang="en-US" dirty="0" smtClean="0"/>
              <a:t>This also controls the data flow between the sender and receiver.</a:t>
            </a:r>
            <a:endParaRPr lang="en-IN" dirty="0" smtClean="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3"/>
          <p:cNvSpPr>
            <a:spLocks noGrp="1"/>
          </p:cNvSpPr>
          <p:nvPr>
            <p:ph type="sldNum" sz="quarter" idx="12"/>
          </p:nvPr>
        </p:nvSpPr>
        <p:spPr/>
        <p:txBody>
          <a:bodyPr/>
          <a:lstStyle/>
          <a:p>
            <a:fld id="{0AA83953-3C53-47BD-9981-FB917249F2B3}" type="slidenum">
              <a:rPr lang="ar-SA"/>
              <a:pPr/>
              <a:t>3</a:t>
            </a:fld>
            <a:endParaRPr lang="en-US" dirty="0"/>
          </a:p>
        </p:txBody>
      </p:sp>
      <p:sp>
        <p:nvSpPr>
          <p:cNvPr id="515074"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dirty="0"/>
          </a:p>
        </p:txBody>
      </p:sp>
      <p:sp>
        <p:nvSpPr>
          <p:cNvPr id="515075"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dirty="0"/>
          </a:p>
        </p:txBody>
      </p:sp>
      <p:sp>
        <p:nvSpPr>
          <p:cNvPr id="515076"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dirty="0"/>
          </a:p>
        </p:txBody>
      </p:sp>
      <p:sp>
        <p:nvSpPr>
          <p:cNvPr id="515077"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dirty="0"/>
          </a:p>
        </p:txBody>
      </p:sp>
      <p:sp>
        <p:nvSpPr>
          <p:cNvPr id="515078"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dirty="0"/>
          </a:p>
        </p:txBody>
      </p:sp>
      <p:sp>
        <p:nvSpPr>
          <p:cNvPr id="515079"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dirty="0"/>
          </a:p>
        </p:txBody>
      </p:sp>
      <p:sp>
        <p:nvSpPr>
          <p:cNvPr id="515080" name="Rectangle 8"/>
          <p:cNvSpPr>
            <a:spLocks noChangeArrowheads="1"/>
          </p:cNvSpPr>
          <p:nvPr/>
        </p:nvSpPr>
        <p:spPr bwMode="gray">
          <a:xfrm>
            <a:off x="442913" y="65405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dirty="0"/>
          </a:p>
        </p:txBody>
      </p:sp>
      <p:sp>
        <p:nvSpPr>
          <p:cNvPr id="515081" name="Text Box 9"/>
          <p:cNvSpPr txBox="1">
            <a:spLocks noChangeArrowheads="1"/>
          </p:cNvSpPr>
          <p:nvPr/>
        </p:nvSpPr>
        <p:spPr bwMode="auto">
          <a:xfrm>
            <a:off x="1885950" y="-107950"/>
            <a:ext cx="5657850" cy="641350"/>
          </a:xfrm>
          <a:prstGeom prst="rect">
            <a:avLst/>
          </a:prstGeom>
          <a:noFill/>
          <a:ln w="9525">
            <a:noFill/>
            <a:miter lim="800000"/>
            <a:headEnd/>
            <a:tailEnd/>
          </a:ln>
          <a:effectLst/>
        </p:spPr>
        <p:txBody>
          <a:bodyPr wrap="none">
            <a:spAutoFit/>
          </a:bodyPr>
          <a:lstStyle/>
          <a:p>
            <a:r>
              <a:rPr lang="en-US" sz="3600" dirty="0">
                <a:latin typeface="Times New Roman" pitchFamily="18" charset="0"/>
              </a:rPr>
              <a:t>Position of Transport Layer</a:t>
            </a:r>
          </a:p>
        </p:txBody>
      </p:sp>
      <p:pic>
        <p:nvPicPr>
          <p:cNvPr id="515083" name="Picture 11"/>
          <p:cNvPicPr>
            <a:picLocks noChangeAspect="1" noChangeArrowheads="1"/>
          </p:cNvPicPr>
          <p:nvPr/>
        </p:nvPicPr>
        <p:blipFill>
          <a:blip r:embed="rId2"/>
          <a:srcRect/>
          <a:stretch>
            <a:fillRect/>
          </a:stretch>
        </p:blipFill>
        <p:spPr bwMode="auto">
          <a:xfrm>
            <a:off x="458788" y="1535113"/>
            <a:ext cx="8226425" cy="37877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85728"/>
            <a:ext cx="8229600" cy="5840435"/>
          </a:xfrm>
        </p:spPr>
        <p:txBody>
          <a:bodyPr>
            <a:normAutofit/>
          </a:bodyPr>
          <a:lstStyle/>
          <a:p>
            <a:pPr algn="just">
              <a:buNone/>
            </a:pPr>
            <a:r>
              <a:rPr lang="en-US" b="1" dirty="0" smtClean="0"/>
              <a:t>(</a:t>
            </a:r>
            <a:r>
              <a:rPr lang="en-US" b="1" dirty="0" err="1" smtClean="0"/>
              <a:t>i</a:t>
            </a:r>
            <a:r>
              <a:rPr lang="en-US" b="1" dirty="0" smtClean="0"/>
              <a:t>) Packetizing</a:t>
            </a:r>
            <a:endParaRPr lang="en-IN" b="1" dirty="0" smtClean="0"/>
          </a:p>
          <a:p>
            <a:pPr algn="just"/>
            <a:r>
              <a:rPr lang="en-US" dirty="0" smtClean="0"/>
              <a:t>This is a process of dividing a long message into smaller units called packets. Headers are added in each packet. In the receiving side, the data packets are reassembled to form the data string.</a:t>
            </a:r>
            <a:endParaRPr lang="en-IN" dirty="0" smtClean="0"/>
          </a:p>
          <a:p>
            <a:pPr algn="just">
              <a:buNone/>
            </a:pPr>
            <a:r>
              <a:rPr lang="en-US" b="1" dirty="0" smtClean="0"/>
              <a:t>(ii) Connection control</a:t>
            </a:r>
            <a:endParaRPr lang="en-IN" b="1" dirty="0" smtClean="0"/>
          </a:p>
          <a:p>
            <a:pPr algn="just"/>
            <a:r>
              <a:rPr lang="en-US" dirty="0" smtClean="0"/>
              <a:t>This is responsible for establishing connection between the sender and the receiver. This can be either connection oriented or connectionless.</a:t>
            </a:r>
            <a:endParaRPr lang="en-IN" dirty="0" smtClean="0"/>
          </a:p>
          <a:p>
            <a:pPr algn="just"/>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1472" y="285728"/>
            <a:ext cx="8229600" cy="5840435"/>
          </a:xfrm>
        </p:spPr>
        <p:txBody>
          <a:bodyPr>
            <a:normAutofit fontScale="92500" lnSpcReduction="20000"/>
          </a:bodyPr>
          <a:lstStyle/>
          <a:p>
            <a:pPr algn="just">
              <a:buNone/>
            </a:pPr>
            <a:r>
              <a:rPr lang="en-US" b="1" dirty="0" smtClean="0"/>
              <a:t>(iii) Addressing</a:t>
            </a:r>
            <a:endParaRPr lang="en-IN" b="1" dirty="0" smtClean="0"/>
          </a:p>
          <a:p>
            <a:pPr algn="just"/>
            <a:r>
              <a:rPr lang="en-US" dirty="0" smtClean="0"/>
              <a:t>The client needs the address of the remote computer to complete the communication. This addressing is implemented in the network layer.</a:t>
            </a:r>
            <a:endParaRPr lang="en-IN" dirty="0" smtClean="0"/>
          </a:p>
          <a:p>
            <a:pPr algn="just">
              <a:buNone/>
            </a:pPr>
            <a:r>
              <a:rPr lang="en-US" b="1" dirty="0" smtClean="0"/>
              <a:t>(iv) Providing reliability</a:t>
            </a:r>
            <a:endParaRPr lang="en-IN" b="1" dirty="0" smtClean="0"/>
          </a:p>
          <a:p>
            <a:pPr algn="just"/>
            <a:r>
              <a:rPr lang="en-US" dirty="0" smtClean="0"/>
              <a:t>To guarantee the reliable delivery of data, acknowledgment and retransmission timers are used. </a:t>
            </a:r>
          </a:p>
          <a:p>
            <a:pPr algn="just"/>
            <a:r>
              <a:rPr lang="en-US" dirty="0" smtClean="0"/>
              <a:t>Each time the data is sent a timer is started. If the receiver receives the data packet, it sends back the acknowledgment to the sender.</a:t>
            </a:r>
          </a:p>
          <a:p>
            <a:pPr algn="just"/>
            <a:r>
              <a:rPr lang="en-US" dirty="0" smtClean="0"/>
              <a:t> If the sender wont receive the acknowledgment packet with in the time, the data packet is retransmitted.</a:t>
            </a:r>
            <a:endParaRPr lang="en-IN" dirty="0" smtClean="0"/>
          </a:p>
          <a:p>
            <a:pPr algn="just"/>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Connection oriented and connection less service</a:t>
            </a:r>
            <a:r>
              <a:rPr lang="en-IN" sz="6000" dirty="0" smtClean="0"/>
              <a:t/>
            </a:r>
            <a:br>
              <a:rPr lang="en-IN" sz="6000" dirty="0" smtClean="0"/>
            </a:br>
            <a:endParaRPr lang="en-IN" dirty="0"/>
          </a:p>
        </p:txBody>
      </p:sp>
      <p:sp>
        <p:nvSpPr>
          <p:cNvPr id="3" name="Content Placeholder 2"/>
          <p:cNvSpPr>
            <a:spLocks noGrp="1"/>
          </p:cNvSpPr>
          <p:nvPr>
            <p:ph idx="1"/>
          </p:nvPr>
        </p:nvSpPr>
        <p:spPr>
          <a:xfrm>
            <a:off x="457200" y="1214422"/>
            <a:ext cx="8229600" cy="5643578"/>
          </a:xfrm>
        </p:spPr>
        <p:txBody>
          <a:bodyPr>
            <a:normAutofit fontScale="92500" lnSpcReduction="20000"/>
          </a:bodyPr>
          <a:lstStyle/>
          <a:p>
            <a:pPr algn="just"/>
            <a:r>
              <a:rPr lang="en-US" dirty="0" smtClean="0"/>
              <a:t>In connection oriented service, a physical connection </a:t>
            </a:r>
            <a:r>
              <a:rPr lang="en-US" b="1" dirty="0" smtClean="0"/>
              <a:t>must be established between the sender and the receiver</a:t>
            </a:r>
          </a:p>
          <a:p>
            <a:pPr algn="just"/>
            <a:r>
              <a:rPr lang="en-US" dirty="0" smtClean="0"/>
              <a:t>Sender requests the receiver for establishing a connection.</a:t>
            </a:r>
            <a:endParaRPr lang="en-IN" sz="4000" dirty="0" smtClean="0"/>
          </a:p>
          <a:p>
            <a:pPr lvl="1" algn="just"/>
            <a:r>
              <a:rPr lang="en-US" dirty="0" smtClean="0"/>
              <a:t>Receiver accepts the request</a:t>
            </a:r>
            <a:endParaRPr lang="en-IN" sz="4000" dirty="0" smtClean="0"/>
          </a:p>
          <a:p>
            <a:pPr lvl="1" algn="just"/>
            <a:r>
              <a:rPr lang="en-US" dirty="0" smtClean="0"/>
              <a:t>Connection established</a:t>
            </a:r>
            <a:endParaRPr lang="en-IN" sz="4000" dirty="0" smtClean="0"/>
          </a:p>
          <a:p>
            <a:pPr lvl="1" algn="just"/>
            <a:r>
              <a:rPr lang="en-US" dirty="0" smtClean="0"/>
              <a:t>Data transfer takes place between sender and receiver.</a:t>
            </a:r>
            <a:endParaRPr lang="en-IN" sz="4000" dirty="0" smtClean="0"/>
          </a:p>
          <a:p>
            <a:pPr lvl="1" algn="just"/>
            <a:r>
              <a:rPr lang="en-US" dirty="0" smtClean="0"/>
              <a:t> Connection termination after sending all data.</a:t>
            </a:r>
            <a:endParaRPr lang="en-IN" sz="4000" dirty="0" smtClean="0"/>
          </a:p>
          <a:p>
            <a:pPr algn="just"/>
            <a:r>
              <a:rPr lang="en-US" dirty="0" smtClean="0"/>
              <a:t>In connection less service data packet are send from the sender to the receiver without establishing any physical connection.</a:t>
            </a:r>
            <a:endParaRPr lang="en-IN" sz="4400" dirty="0" smtClean="0"/>
          </a:p>
          <a:p>
            <a:pPr algn="just"/>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Socket</a:t>
            </a:r>
            <a:r>
              <a:rPr lang="en-IN" dirty="0" smtClean="0"/>
              <a:t/>
            </a:r>
            <a:br>
              <a:rPr lang="en-IN" dirty="0" smtClean="0"/>
            </a:br>
            <a:endParaRPr lang="en-IN" dirty="0"/>
          </a:p>
        </p:txBody>
      </p:sp>
      <p:sp>
        <p:nvSpPr>
          <p:cNvPr id="3" name="Content Placeholder 2"/>
          <p:cNvSpPr>
            <a:spLocks noGrp="1"/>
          </p:cNvSpPr>
          <p:nvPr>
            <p:ph idx="1"/>
          </p:nvPr>
        </p:nvSpPr>
        <p:spPr>
          <a:xfrm>
            <a:off x="457200" y="836712"/>
            <a:ext cx="8229600" cy="5289451"/>
          </a:xfrm>
        </p:spPr>
        <p:txBody>
          <a:bodyPr/>
          <a:lstStyle/>
          <a:p>
            <a:pPr algn="just"/>
            <a:r>
              <a:rPr lang="en-US" dirty="0" smtClean="0"/>
              <a:t>A socket is defined as a software endpoints that establishes two way communication between a server and one or more clients in a internet protocol based computer network. </a:t>
            </a:r>
          </a:p>
          <a:p>
            <a:pPr algn="just"/>
            <a:r>
              <a:rPr lang="en-US" dirty="0" smtClean="0"/>
              <a:t>Each socket associates with a port number and a TCP/IP address. </a:t>
            </a:r>
            <a:endParaRPr lang="en-IN" dirty="0" smtClean="0"/>
          </a:p>
          <a:p>
            <a:pPr algn="just"/>
            <a:endParaRPr lang="en-IN" dirty="0"/>
          </a:p>
        </p:txBody>
      </p:sp>
      <p:pic>
        <p:nvPicPr>
          <p:cNvPr id="4" name="Picture 3"/>
          <p:cNvPicPr/>
          <p:nvPr/>
        </p:nvPicPr>
        <p:blipFill>
          <a:blip r:embed="rId2">
            <a:lum contrast="40000"/>
          </a:blip>
          <a:srcRect l="19303" t="3533" r="3753" b="3247"/>
          <a:stretch>
            <a:fillRect/>
          </a:stretch>
        </p:blipFill>
        <p:spPr bwMode="auto">
          <a:xfrm>
            <a:off x="2555776" y="3875774"/>
            <a:ext cx="5547662" cy="297120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457200" y="1643050"/>
            <a:ext cx="8686800" cy="4525963"/>
          </a:xfrm>
        </p:spPr>
        <p:txBody>
          <a:bodyPr>
            <a:noAutofit/>
          </a:bodyPr>
          <a:lstStyle/>
          <a:p>
            <a:pPr algn="just">
              <a:buNone/>
            </a:pPr>
            <a:r>
              <a:rPr lang="en-US" b="1" dirty="0" smtClean="0"/>
              <a:t>(</a:t>
            </a:r>
            <a:r>
              <a:rPr lang="en-US" b="1" dirty="0" err="1" smtClean="0"/>
              <a:t>i</a:t>
            </a:r>
            <a:r>
              <a:rPr lang="en-US" b="1" dirty="0" smtClean="0"/>
              <a:t>) Family	: </a:t>
            </a:r>
            <a:r>
              <a:rPr lang="en-US" dirty="0" smtClean="0"/>
              <a:t>This field defines the protocol group:IPV4, IPV6, UNIX   domain protocols</a:t>
            </a:r>
          </a:p>
          <a:p>
            <a:pPr algn="just">
              <a:buNone/>
            </a:pPr>
            <a:r>
              <a:rPr lang="en-US" dirty="0" smtClean="0"/>
              <a:t> </a:t>
            </a:r>
            <a:r>
              <a:rPr lang="en-US" b="1" dirty="0" smtClean="0"/>
              <a:t>(ii) Type	: </a:t>
            </a:r>
            <a:r>
              <a:rPr lang="en-US" dirty="0" smtClean="0"/>
              <a:t>This field defines the type of socket. Stream socket,         packet   socket, raw socket.</a:t>
            </a:r>
            <a:endParaRPr lang="en-IN" dirty="0" smtClean="0"/>
          </a:p>
          <a:p>
            <a:pPr algn="just">
              <a:buNone/>
            </a:pPr>
            <a:r>
              <a:rPr lang="en-US" b="1" dirty="0" smtClean="0"/>
              <a:t>(iii) Protocol 	:</a:t>
            </a:r>
            <a:r>
              <a:rPr lang="en-US" dirty="0" smtClean="0"/>
              <a:t> This field is usually set to zero for TCP and UDP.</a:t>
            </a:r>
            <a:endParaRPr lang="en-IN" dirty="0" smtClean="0"/>
          </a:p>
          <a:p>
            <a:pPr algn="just"/>
            <a:endParaRPr lang="en-IN"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lgn="just">
              <a:buNone/>
            </a:pPr>
            <a:r>
              <a:rPr lang="en-US" dirty="0" smtClean="0"/>
              <a:t>(i</a:t>
            </a:r>
            <a:r>
              <a:rPr lang="en-US" b="1" dirty="0" smtClean="0"/>
              <a:t>v) Local socket address :</a:t>
            </a:r>
            <a:r>
              <a:rPr lang="en-US" dirty="0" smtClean="0"/>
              <a:t> This field defines the local socket address, a combination of  the local IP address and the port address of the local  application program.</a:t>
            </a:r>
            <a:endParaRPr lang="en-IN" dirty="0" smtClean="0"/>
          </a:p>
          <a:p>
            <a:pPr algn="just">
              <a:buNone/>
            </a:pPr>
            <a:r>
              <a:rPr lang="en-US" b="1" dirty="0" smtClean="0"/>
              <a:t>(v) Remote socket address 	: </a:t>
            </a:r>
            <a:r>
              <a:rPr lang="en-US" dirty="0" smtClean="0"/>
              <a:t>This field defines the remote socket address, a combination  of the remote IP address and the port address of the remote application program.</a:t>
            </a:r>
            <a:endParaRPr lang="en-IN" dirty="0" smtClean="0"/>
          </a:p>
          <a:p>
            <a:endParaRPr lang="en-IN"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Transmission control protocol</a:t>
            </a:r>
            <a:endParaRPr lang="en-IN" dirty="0"/>
          </a:p>
        </p:txBody>
      </p:sp>
      <p:sp>
        <p:nvSpPr>
          <p:cNvPr id="3" name="Content Placeholder 2"/>
          <p:cNvSpPr>
            <a:spLocks noGrp="1"/>
          </p:cNvSpPr>
          <p:nvPr>
            <p:ph idx="1"/>
          </p:nvPr>
        </p:nvSpPr>
        <p:spPr/>
        <p:txBody>
          <a:bodyPr>
            <a:normAutofit lnSpcReduction="10000"/>
          </a:bodyPr>
          <a:lstStyle/>
          <a:p>
            <a:pPr algn="just"/>
            <a:r>
              <a:rPr lang="en-US" dirty="0" smtClean="0"/>
              <a:t>This protocol divides the sender information in to discrete message packets. </a:t>
            </a:r>
          </a:p>
          <a:p>
            <a:pPr algn="just"/>
            <a:r>
              <a:rPr lang="en-US" dirty="0" smtClean="0"/>
              <a:t>Then it delivers it to the receiver in the internet using a physical connection between them. </a:t>
            </a:r>
          </a:p>
          <a:p>
            <a:pPr algn="just"/>
            <a:r>
              <a:rPr lang="en-US" dirty="0" smtClean="0"/>
              <a:t>At the receiving end it reassembles the received message packets into original data. </a:t>
            </a:r>
          </a:p>
          <a:p>
            <a:pPr algn="just"/>
            <a:r>
              <a:rPr lang="en-US" dirty="0" smtClean="0"/>
              <a:t>This also controls the data flow between the sender and receiver.</a:t>
            </a:r>
            <a:endParaRPr lang="en-IN" dirty="0" smtClean="0"/>
          </a:p>
          <a:p>
            <a:pPr algn="just"/>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p:cNvSpPr>
            <a:spLocks noGrp="1"/>
          </p:cNvSpPr>
          <p:nvPr>
            <p:ph type="sldNum" sz="quarter" idx="12"/>
          </p:nvPr>
        </p:nvSpPr>
        <p:spPr>
          <a:noFill/>
        </p:spPr>
        <p:txBody>
          <a:bodyPr/>
          <a:lstStyle>
            <a:lvl1pPr>
              <a:defRPr b="1">
                <a:solidFill>
                  <a:schemeClr val="tx1"/>
                </a:solidFill>
                <a:latin typeface="Tahoma" pitchFamily="34" charset="0"/>
              </a:defRPr>
            </a:lvl1pPr>
            <a:lvl2pPr marL="742950" indent="-285750">
              <a:defRPr b="1">
                <a:solidFill>
                  <a:schemeClr val="tx1"/>
                </a:solidFill>
                <a:latin typeface="Tahoma" pitchFamily="34" charset="0"/>
              </a:defRPr>
            </a:lvl2pPr>
            <a:lvl3pPr marL="1143000" indent="-228600">
              <a:defRPr b="1">
                <a:solidFill>
                  <a:schemeClr val="tx1"/>
                </a:solidFill>
                <a:latin typeface="Tahoma" pitchFamily="34" charset="0"/>
              </a:defRPr>
            </a:lvl3pPr>
            <a:lvl4pPr marL="1600200" indent="-228600">
              <a:defRPr b="1">
                <a:solidFill>
                  <a:schemeClr val="tx1"/>
                </a:solidFill>
                <a:latin typeface="Tahoma" pitchFamily="34" charset="0"/>
              </a:defRPr>
            </a:lvl4pPr>
            <a:lvl5pPr marL="2057400" indent="-228600">
              <a:defRPr b="1">
                <a:solidFill>
                  <a:schemeClr val="tx1"/>
                </a:solidFill>
                <a:latin typeface="Tahoma" pitchFamily="34" charset="0"/>
              </a:defRPr>
            </a:lvl5pPr>
            <a:lvl6pPr marL="2514600" indent="-228600" eaLnBrk="0" fontAlgn="base" hangingPunct="0">
              <a:spcBef>
                <a:spcPct val="0"/>
              </a:spcBef>
              <a:spcAft>
                <a:spcPct val="0"/>
              </a:spcAft>
              <a:defRPr b="1">
                <a:solidFill>
                  <a:schemeClr val="tx1"/>
                </a:solidFill>
                <a:latin typeface="Tahoma" pitchFamily="34" charset="0"/>
              </a:defRPr>
            </a:lvl6pPr>
            <a:lvl7pPr marL="2971800" indent="-228600" eaLnBrk="0" fontAlgn="base" hangingPunct="0">
              <a:spcBef>
                <a:spcPct val="0"/>
              </a:spcBef>
              <a:spcAft>
                <a:spcPct val="0"/>
              </a:spcAft>
              <a:defRPr b="1">
                <a:solidFill>
                  <a:schemeClr val="tx1"/>
                </a:solidFill>
                <a:latin typeface="Tahoma" pitchFamily="34" charset="0"/>
              </a:defRPr>
            </a:lvl7pPr>
            <a:lvl8pPr marL="3429000" indent="-228600" eaLnBrk="0" fontAlgn="base" hangingPunct="0">
              <a:spcBef>
                <a:spcPct val="0"/>
              </a:spcBef>
              <a:spcAft>
                <a:spcPct val="0"/>
              </a:spcAft>
              <a:defRPr b="1">
                <a:solidFill>
                  <a:schemeClr val="tx1"/>
                </a:solidFill>
                <a:latin typeface="Tahoma" pitchFamily="34" charset="0"/>
              </a:defRPr>
            </a:lvl8pPr>
            <a:lvl9pPr marL="3886200" indent="-228600" eaLnBrk="0" fontAlgn="base" hangingPunct="0">
              <a:spcBef>
                <a:spcPct val="0"/>
              </a:spcBef>
              <a:spcAft>
                <a:spcPct val="0"/>
              </a:spcAft>
              <a:defRPr b="1">
                <a:solidFill>
                  <a:schemeClr val="tx1"/>
                </a:solidFill>
                <a:latin typeface="Tahoma" pitchFamily="34" charset="0"/>
              </a:defRPr>
            </a:lvl9pPr>
          </a:lstStyle>
          <a:p>
            <a:fld id="{69B47C8B-6A22-43E0-9F7F-D38E1D9AB379}" type="slidenum">
              <a:rPr lang="ar-SA" b="0" smtClean="0"/>
              <a:pPr/>
              <a:t>11</a:t>
            </a:fld>
            <a:endParaRPr lang="en-US" b="0" dirty="0" smtClean="0"/>
          </a:p>
        </p:txBody>
      </p:sp>
      <p:sp>
        <p:nvSpPr>
          <p:cNvPr id="66563" name="Text Box 2"/>
          <p:cNvSpPr txBox="1">
            <a:spLocks noChangeArrowheads="1"/>
          </p:cNvSpPr>
          <p:nvPr/>
        </p:nvSpPr>
        <p:spPr bwMode="auto">
          <a:xfrm>
            <a:off x="990600" y="90488"/>
            <a:ext cx="5715000" cy="366712"/>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itchFamily="34" charset="0"/>
              </a:defRPr>
            </a:lvl1pPr>
            <a:lvl2pPr marL="742950" indent="-285750">
              <a:defRPr b="1">
                <a:solidFill>
                  <a:schemeClr val="tx1"/>
                </a:solidFill>
                <a:latin typeface="Tahoma" pitchFamily="34" charset="0"/>
              </a:defRPr>
            </a:lvl2pPr>
            <a:lvl3pPr marL="1143000" indent="-228600">
              <a:defRPr b="1">
                <a:solidFill>
                  <a:schemeClr val="tx1"/>
                </a:solidFill>
                <a:latin typeface="Tahoma" pitchFamily="34" charset="0"/>
              </a:defRPr>
            </a:lvl3pPr>
            <a:lvl4pPr marL="1600200" indent="-228600">
              <a:defRPr b="1">
                <a:solidFill>
                  <a:schemeClr val="tx1"/>
                </a:solidFill>
                <a:latin typeface="Tahoma" pitchFamily="34" charset="0"/>
              </a:defRPr>
            </a:lvl4pPr>
            <a:lvl5pPr marL="2057400" indent="-228600">
              <a:defRPr b="1">
                <a:solidFill>
                  <a:schemeClr val="tx1"/>
                </a:solidFill>
                <a:latin typeface="Tahoma" pitchFamily="34" charset="0"/>
              </a:defRPr>
            </a:lvl5pPr>
            <a:lvl6pPr marL="2514600" indent="-228600" eaLnBrk="0" fontAlgn="base" hangingPunct="0">
              <a:spcBef>
                <a:spcPct val="0"/>
              </a:spcBef>
              <a:spcAft>
                <a:spcPct val="0"/>
              </a:spcAft>
              <a:defRPr b="1">
                <a:solidFill>
                  <a:schemeClr val="tx1"/>
                </a:solidFill>
                <a:latin typeface="Tahoma" pitchFamily="34" charset="0"/>
              </a:defRPr>
            </a:lvl6pPr>
            <a:lvl7pPr marL="2971800" indent="-228600" eaLnBrk="0" fontAlgn="base" hangingPunct="0">
              <a:spcBef>
                <a:spcPct val="0"/>
              </a:spcBef>
              <a:spcAft>
                <a:spcPct val="0"/>
              </a:spcAft>
              <a:defRPr b="1">
                <a:solidFill>
                  <a:schemeClr val="tx1"/>
                </a:solidFill>
                <a:latin typeface="Tahoma" pitchFamily="34" charset="0"/>
              </a:defRPr>
            </a:lvl7pPr>
            <a:lvl8pPr marL="3429000" indent="-228600" eaLnBrk="0" fontAlgn="base" hangingPunct="0">
              <a:spcBef>
                <a:spcPct val="0"/>
              </a:spcBef>
              <a:spcAft>
                <a:spcPct val="0"/>
              </a:spcAft>
              <a:defRPr b="1">
                <a:solidFill>
                  <a:schemeClr val="tx1"/>
                </a:solidFill>
                <a:latin typeface="Tahoma" pitchFamily="34" charset="0"/>
              </a:defRPr>
            </a:lvl8pPr>
            <a:lvl9pPr marL="3886200" indent="-228600" eaLnBrk="0" fontAlgn="base" hangingPunct="0">
              <a:spcBef>
                <a:spcPct val="0"/>
              </a:spcBef>
              <a:spcAft>
                <a:spcPct val="0"/>
              </a:spcAft>
              <a:defRPr b="1">
                <a:solidFill>
                  <a:schemeClr val="tx1"/>
                </a:solidFill>
                <a:latin typeface="Tahoma" pitchFamily="34" charset="0"/>
              </a:defRPr>
            </a:lvl9pPr>
          </a:lstStyle>
          <a:p>
            <a:r>
              <a:rPr lang="en-US" altLang="en-US" dirty="0">
                <a:solidFill>
                  <a:srgbClr val="0000FF"/>
                </a:solidFill>
                <a:latin typeface="Times New Roman" pitchFamily="18" charset="0"/>
              </a:rPr>
              <a:t>Figure 22.14</a:t>
            </a:r>
            <a:r>
              <a:rPr lang="en-US" altLang="en-US" dirty="0">
                <a:solidFill>
                  <a:schemeClr val="accent2"/>
                </a:solidFill>
                <a:latin typeface="Times New Roman" pitchFamily="18" charset="0"/>
              </a:rPr>
              <a:t>    </a:t>
            </a:r>
            <a:r>
              <a:rPr lang="en-US" altLang="en-US" dirty="0">
                <a:latin typeface="Times New Roman" pitchFamily="18" charset="0"/>
              </a:rPr>
              <a:t>TCP segment format</a:t>
            </a:r>
          </a:p>
        </p:txBody>
      </p:sp>
      <p:sp>
        <p:nvSpPr>
          <p:cNvPr id="66564"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sp>
        <p:nvSpPr>
          <p:cNvPr id="66565"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sp>
        <p:nvSpPr>
          <p:cNvPr id="66566"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sp>
        <p:nvSpPr>
          <p:cNvPr id="66567"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sp>
        <p:nvSpPr>
          <p:cNvPr id="66568"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sp>
        <p:nvSpPr>
          <p:cNvPr id="66569"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sp>
        <p:nvSpPr>
          <p:cNvPr id="66570"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pic>
        <p:nvPicPr>
          <p:cNvPr id="66571" name="Picture 1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5492" y="3573016"/>
            <a:ext cx="5004061" cy="30826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6572" name="Rectangle 14"/>
          <p:cNvSpPr>
            <a:spLocks noGrp="1" noChangeArrowheads="1"/>
          </p:cNvSpPr>
          <p:nvPr>
            <p:ph type="body" idx="1"/>
          </p:nvPr>
        </p:nvSpPr>
        <p:spPr bwMode="auto">
          <a:xfrm>
            <a:off x="928662" y="428604"/>
            <a:ext cx="7772400" cy="31242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eaLnBrk="1" hangingPunct="1">
              <a:lnSpc>
                <a:spcPct val="90000"/>
              </a:lnSpc>
            </a:pPr>
            <a:r>
              <a:rPr lang="en-US" sz="1800" b="1" dirty="0" smtClean="0"/>
              <a:t>Header Length</a:t>
            </a:r>
          </a:p>
          <a:p>
            <a:pPr lvl="1" eaLnBrk="1" hangingPunct="1">
              <a:lnSpc>
                <a:spcPct val="90000"/>
              </a:lnSpc>
            </a:pPr>
            <a:r>
              <a:rPr lang="en-US" sz="1600" dirty="0" smtClean="0"/>
              <a:t>Number of 4-byte words in TCP header; 20 to 60 bytes</a:t>
            </a:r>
          </a:p>
          <a:p>
            <a:pPr eaLnBrk="1" hangingPunct="1">
              <a:lnSpc>
                <a:spcPct val="90000"/>
              </a:lnSpc>
            </a:pPr>
            <a:r>
              <a:rPr lang="en-US" sz="1800" b="1" dirty="0" smtClean="0"/>
              <a:t>Reserved: </a:t>
            </a:r>
            <a:r>
              <a:rPr lang="en-US" sz="1800" dirty="0" smtClean="0"/>
              <a:t>for future use</a:t>
            </a:r>
          </a:p>
          <a:p>
            <a:pPr eaLnBrk="1" hangingPunct="1">
              <a:lnSpc>
                <a:spcPct val="90000"/>
              </a:lnSpc>
            </a:pPr>
            <a:r>
              <a:rPr lang="en-US" sz="1800" b="1" dirty="0" smtClean="0"/>
              <a:t>Control: </a:t>
            </a:r>
            <a:r>
              <a:rPr lang="en-US" sz="1800" dirty="0" smtClean="0"/>
              <a:t>Used for flow control, connection establishment and termination, mode of data transfer.</a:t>
            </a:r>
          </a:p>
          <a:p>
            <a:pPr eaLnBrk="1" hangingPunct="1">
              <a:lnSpc>
                <a:spcPct val="90000"/>
              </a:lnSpc>
            </a:pPr>
            <a:r>
              <a:rPr lang="en-US" sz="1800" b="1" dirty="0" smtClean="0"/>
              <a:t>Window size: </a:t>
            </a:r>
            <a:r>
              <a:rPr lang="en-US" sz="1800" dirty="0" smtClean="0"/>
              <a:t>Size of window in bytes</a:t>
            </a:r>
          </a:p>
          <a:p>
            <a:pPr lvl="2">
              <a:lnSpc>
                <a:spcPct val="90000"/>
              </a:lnSpc>
            </a:pPr>
            <a:r>
              <a:rPr lang="en-US" sz="1800" dirty="0" smtClean="0"/>
              <a:t>Checksum: </a:t>
            </a:r>
            <a:r>
              <a:rPr lang="en-US" sz="1600" dirty="0" smtClean="0"/>
              <a:t>Used to detect errors over the entire user datagram (header plus data)</a:t>
            </a:r>
          </a:p>
          <a:p>
            <a:pPr lvl="2">
              <a:lnSpc>
                <a:spcPct val="90000"/>
              </a:lnSpc>
            </a:pPr>
            <a:r>
              <a:rPr lang="en-US" sz="1600" dirty="0" smtClean="0"/>
              <a:t>Its optional to do checksum. If not done, put the entries as all 0s.</a:t>
            </a:r>
          </a:p>
          <a:p>
            <a:pPr eaLnBrk="1" hangingPunct="1">
              <a:lnSpc>
                <a:spcPct val="90000"/>
              </a:lnSpc>
            </a:pPr>
            <a:r>
              <a:rPr lang="en-US" sz="1800" b="1" dirty="0" smtClean="0"/>
              <a:t>Urgent pointer: </a:t>
            </a:r>
            <a:r>
              <a:rPr lang="en-US" sz="1800" dirty="0" smtClean="0"/>
              <a:t>Active only if urgent flag is set. The number is added to the sequence number to obtain the number of the last urgent byte in the data section of the segment.</a:t>
            </a:r>
          </a:p>
          <a:p>
            <a:pPr eaLnBrk="1" hangingPunct="1">
              <a:lnSpc>
                <a:spcPct val="90000"/>
              </a:lnSpc>
            </a:pPr>
            <a:r>
              <a:rPr lang="en-US" sz="1800" b="1" dirty="0" smtClean="0"/>
              <a:t>Options: </a:t>
            </a:r>
            <a:r>
              <a:rPr lang="en-US" sz="1800" dirty="0" smtClean="0"/>
              <a:t>up to 40 bytes</a:t>
            </a:r>
          </a:p>
        </p:txBody>
      </p:sp>
    </p:spTree>
    <p:extLst>
      <p:ext uri="{BB962C8B-B14F-4D97-AF65-F5344CB8AC3E}">
        <p14:creationId xmlns:p14="http://schemas.microsoft.com/office/powerpoint/2010/main" val="168446438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endParaRPr lang="en-IN" dirty="0"/>
          </a:p>
        </p:txBody>
      </p:sp>
      <p:pic>
        <p:nvPicPr>
          <p:cNvPr id="4"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2852936"/>
            <a:ext cx="7077075" cy="1811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5"/>
          <p:cNvSpPr>
            <a:spLocks noGrp="1"/>
          </p:cNvSpPr>
          <p:nvPr>
            <p:ph type="sldNum" sz="quarter" idx="12"/>
          </p:nvPr>
        </p:nvSpPr>
        <p:spPr/>
        <p:txBody>
          <a:bodyPr/>
          <a:lstStyle/>
          <a:p>
            <a:fld id="{1250F718-E10A-4611-B7AC-07679C5C5469}" type="slidenum">
              <a:rPr lang="ar-SA"/>
              <a:pPr/>
              <a:t>13</a:t>
            </a:fld>
            <a:endParaRPr lang="en-US" dirty="0"/>
          </a:p>
        </p:txBody>
      </p:sp>
      <p:sp>
        <p:nvSpPr>
          <p:cNvPr id="552962" name="Rectangle 1026"/>
          <p:cNvSpPr>
            <a:spLocks noGrp="1" noChangeArrowheads="1"/>
          </p:cNvSpPr>
          <p:nvPr>
            <p:ph type="title"/>
          </p:nvPr>
        </p:nvSpPr>
        <p:spPr bwMode="auto">
          <a:xfrm>
            <a:off x="2057400" y="76200"/>
            <a:ext cx="4343400" cy="53340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algn="ctr"/>
            <a:r>
              <a:rPr lang="en-US" sz="3200" dirty="0">
                <a:cs typeface="Tahoma" pitchFamily="34" charset="0"/>
              </a:rPr>
              <a:t>	</a:t>
            </a:r>
            <a:r>
              <a:rPr lang="en-US" sz="3200" dirty="0"/>
              <a:t>UDP</a:t>
            </a:r>
          </a:p>
        </p:txBody>
      </p:sp>
      <p:sp>
        <p:nvSpPr>
          <p:cNvPr id="552963" name="Rectangle 1027"/>
          <p:cNvSpPr>
            <a:spLocks noGrp="1" noChangeArrowheads="1"/>
          </p:cNvSpPr>
          <p:nvPr>
            <p:ph type="body" idx="1"/>
          </p:nvPr>
        </p:nvSpPr>
        <p:spPr bwMode="auto">
          <a:xfrm>
            <a:off x="685800" y="669925"/>
            <a:ext cx="7772400" cy="5999435"/>
          </a:xfrm>
          <a:noFill/>
          <a:ln>
            <a:miter lim="800000"/>
            <a:headEnd/>
            <a:tailEnd/>
          </a:ln>
        </p:spPr>
        <p:txBody>
          <a:bodyPr vert="horz" wrap="square" lIns="91440" tIns="45720" rIns="91440" bIns="45720" numCol="1" anchor="t" anchorCtr="0" compatLnSpc="1">
            <a:prstTxWarp prst="textNoShape">
              <a:avLst/>
            </a:prstTxWarp>
            <a:normAutofit fontScale="92500"/>
          </a:bodyPr>
          <a:lstStyle/>
          <a:p>
            <a:r>
              <a:rPr lang="en-US" sz="2600" dirty="0" smtClean="0"/>
              <a:t>   UDP </a:t>
            </a:r>
            <a:r>
              <a:rPr lang="en-US" sz="2600" dirty="0"/>
              <a:t>is a connectionless, unreliable transport protocol.</a:t>
            </a:r>
          </a:p>
          <a:p>
            <a:r>
              <a:rPr lang="en-US" sz="2600" dirty="0"/>
              <a:t>It does not add anything to the services of IP except for providing process-to-process communication instead of host-to-host communication.</a:t>
            </a:r>
          </a:p>
          <a:p>
            <a:r>
              <a:rPr lang="en-US" sz="2600" dirty="0"/>
              <a:t>It performs very limited error checking.</a:t>
            </a:r>
          </a:p>
          <a:p>
            <a:pPr lvl="1" algn="just"/>
            <a:r>
              <a:rPr lang="en-US" sz="2400" dirty="0"/>
              <a:t>UDP is a very small protocol with a minimum of overhead. </a:t>
            </a:r>
          </a:p>
          <a:p>
            <a:pPr lvl="1" algn="just"/>
            <a:r>
              <a:rPr lang="en-US" sz="2400" dirty="0"/>
              <a:t>If a process wants to send a small message and does not care much about reliability, it can use UDP</a:t>
            </a:r>
          </a:p>
          <a:p>
            <a:pPr lvl="1" algn="just"/>
            <a:r>
              <a:rPr lang="en-US" sz="2400" dirty="0"/>
              <a:t>Sending a small message using UDP takes much less interaction between the sender and receiver than using TCP.</a:t>
            </a:r>
          </a:p>
          <a:p>
            <a:pPr lvl="1" algn="just"/>
            <a:r>
              <a:rPr lang="en-US" sz="2400" dirty="0"/>
              <a:t>UDP is a convenient protocol for multimedia and multicasting applications.</a:t>
            </a:r>
          </a:p>
          <a:p>
            <a:pPr lvl="1" algn="just"/>
            <a:r>
              <a:rPr lang="en-US" dirty="0">
                <a:cs typeface="Tahoma" pitchFamily="34" charset="0"/>
              </a:rPr>
              <a:t>UDP is a connectionless, unreliable protocol that has no flow and error control. It uses port numbers to multiplex data from the application layer.</a:t>
            </a:r>
          </a:p>
        </p:txBody>
      </p:sp>
      <p:sp>
        <p:nvSpPr>
          <p:cNvPr id="552965" name="Rectangle 1029"/>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dirty="0"/>
          </a:p>
        </p:txBody>
      </p:sp>
      <p:sp>
        <p:nvSpPr>
          <p:cNvPr id="552966" name="Rectangle 1030"/>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dirty="0"/>
          </a:p>
        </p:txBody>
      </p:sp>
      <p:sp>
        <p:nvSpPr>
          <p:cNvPr id="552967" name="Rectangle 1031"/>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dirty="0"/>
          </a:p>
        </p:txBody>
      </p:sp>
      <p:sp>
        <p:nvSpPr>
          <p:cNvPr id="552968" name="Rectangle 1032"/>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dirty="0"/>
          </a:p>
        </p:txBody>
      </p:sp>
      <p:sp>
        <p:nvSpPr>
          <p:cNvPr id="552969" name="Rectangle 1033"/>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dirty="0"/>
          </a:p>
        </p:txBody>
      </p:sp>
      <p:sp>
        <p:nvSpPr>
          <p:cNvPr id="552970" name="Rectangle 1034"/>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dirty="0"/>
          </a:p>
        </p:txBody>
      </p:sp>
      <p:sp>
        <p:nvSpPr>
          <p:cNvPr id="552971" name="Rectangle 1035"/>
          <p:cNvSpPr>
            <a:spLocks noChangeArrowheads="1"/>
          </p:cNvSpPr>
          <p:nvPr/>
        </p:nvSpPr>
        <p:spPr bwMode="gray">
          <a:xfrm>
            <a:off x="442913" y="65405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p:cNvSpPr>
            <a:spLocks noGrp="1"/>
          </p:cNvSpPr>
          <p:nvPr>
            <p:ph type="sldNum" sz="quarter" idx="12"/>
          </p:nvPr>
        </p:nvSpPr>
        <p:spPr>
          <a:noFill/>
        </p:spPr>
        <p:txBody>
          <a:bodyPr/>
          <a:lstStyle>
            <a:lvl1pPr>
              <a:defRPr b="1">
                <a:solidFill>
                  <a:schemeClr val="tx1"/>
                </a:solidFill>
                <a:latin typeface="Tahoma" pitchFamily="34" charset="0"/>
              </a:defRPr>
            </a:lvl1pPr>
            <a:lvl2pPr marL="742950" indent="-285750">
              <a:defRPr b="1">
                <a:solidFill>
                  <a:schemeClr val="tx1"/>
                </a:solidFill>
                <a:latin typeface="Tahoma" pitchFamily="34" charset="0"/>
              </a:defRPr>
            </a:lvl2pPr>
            <a:lvl3pPr marL="1143000" indent="-228600">
              <a:defRPr b="1">
                <a:solidFill>
                  <a:schemeClr val="tx1"/>
                </a:solidFill>
                <a:latin typeface="Tahoma" pitchFamily="34" charset="0"/>
              </a:defRPr>
            </a:lvl3pPr>
            <a:lvl4pPr marL="1600200" indent="-228600">
              <a:defRPr b="1">
                <a:solidFill>
                  <a:schemeClr val="tx1"/>
                </a:solidFill>
                <a:latin typeface="Tahoma" pitchFamily="34" charset="0"/>
              </a:defRPr>
            </a:lvl4pPr>
            <a:lvl5pPr marL="2057400" indent="-228600">
              <a:defRPr b="1">
                <a:solidFill>
                  <a:schemeClr val="tx1"/>
                </a:solidFill>
                <a:latin typeface="Tahoma" pitchFamily="34" charset="0"/>
              </a:defRPr>
            </a:lvl5pPr>
            <a:lvl6pPr marL="2514600" indent="-228600" eaLnBrk="0" fontAlgn="base" hangingPunct="0">
              <a:spcBef>
                <a:spcPct val="0"/>
              </a:spcBef>
              <a:spcAft>
                <a:spcPct val="0"/>
              </a:spcAft>
              <a:defRPr b="1">
                <a:solidFill>
                  <a:schemeClr val="tx1"/>
                </a:solidFill>
                <a:latin typeface="Tahoma" pitchFamily="34" charset="0"/>
              </a:defRPr>
            </a:lvl6pPr>
            <a:lvl7pPr marL="2971800" indent="-228600" eaLnBrk="0" fontAlgn="base" hangingPunct="0">
              <a:spcBef>
                <a:spcPct val="0"/>
              </a:spcBef>
              <a:spcAft>
                <a:spcPct val="0"/>
              </a:spcAft>
              <a:defRPr b="1">
                <a:solidFill>
                  <a:schemeClr val="tx1"/>
                </a:solidFill>
                <a:latin typeface="Tahoma" pitchFamily="34" charset="0"/>
              </a:defRPr>
            </a:lvl7pPr>
            <a:lvl8pPr marL="3429000" indent="-228600" eaLnBrk="0" fontAlgn="base" hangingPunct="0">
              <a:spcBef>
                <a:spcPct val="0"/>
              </a:spcBef>
              <a:spcAft>
                <a:spcPct val="0"/>
              </a:spcAft>
              <a:defRPr b="1">
                <a:solidFill>
                  <a:schemeClr val="tx1"/>
                </a:solidFill>
                <a:latin typeface="Tahoma" pitchFamily="34" charset="0"/>
              </a:defRPr>
            </a:lvl8pPr>
            <a:lvl9pPr marL="3886200" indent="-228600" eaLnBrk="0" fontAlgn="base" hangingPunct="0">
              <a:spcBef>
                <a:spcPct val="0"/>
              </a:spcBef>
              <a:spcAft>
                <a:spcPct val="0"/>
              </a:spcAft>
              <a:defRPr b="1">
                <a:solidFill>
                  <a:schemeClr val="tx1"/>
                </a:solidFill>
                <a:latin typeface="Tahoma" pitchFamily="34" charset="0"/>
              </a:defRPr>
            </a:lvl9pPr>
          </a:lstStyle>
          <a:p>
            <a:fld id="{166371B7-0E6C-49D8-ABC0-7424008A4549}" type="slidenum">
              <a:rPr lang="ar-SA" b="0" smtClean="0"/>
              <a:pPr/>
              <a:t>14</a:t>
            </a:fld>
            <a:endParaRPr lang="en-US" b="0" dirty="0" smtClean="0"/>
          </a:p>
        </p:txBody>
      </p:sp>
      <p:sp>
        <p:nvSpPr>
          <p:cNvPr id="56323" name="Text Box 2"/>
          <p:cNvSpPr txBox="1">
            <a:spLocks noChangeArrowheads="1"/>
          </p:cNvSpPr>
          <p:nvPr/>
        </p:nvSpPr>
        <p:spPr bwMode="auto">
          <a:xfrm>
            <a:off x="1447800" y="90488"/>
            <a:ext cx="6248400" cy="641350"/>
          </a:xfrm>
          <a:prstGeom prst="rect">
            <a:avLst/>
          </a:prstGeom>
          <a:noFill/>
          <a:ln>
            <a:noFill/>
          </a:ln>
          <a:effectLst/>
          <a:extLst>
            <a:ext uri="{909E8E84-426E-40DD-AFC4-6F175D3DCCD1}">
              <a14:hiddenFill xmlns:a14="http://schemas.microsoft.com/office/drawing/2010/main">
                <a:solidFill>
                  <a:srgbClr val="00CC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b="1">
                <a:solidFill>
                  <a:schemeClr val="tx1"/>
                </a:solidFill>
                <a:latin typeface="Tahoma" pitchFamily="34" charset="0"/>
              </a:defRPr>
            </a:lvl1pPr>
            <a:lvl2pPr marL="742950" indent="-285750">
              <a:defRPr b="1">
                <a:solidFill>
                  <a:schemeClr val="tx1"/>
                </a:solidFill>
                <a:latin typeface="Tahoma" pitchFamily="34" charset="0"/>
              </a:defRPr>
            </a:lvl2pPr>
            <a:lvl3pPr marL="1143000" indent="-228600">
              <a:defRPr b="1">
                <a:solidFill>
                  <a:schemeClr val="tx1"/>
                </a:solidFill>
                <a:latin typeface="Tahoma" pitchFamily="34" charset="0"/>
              </a:defRPr>
            </a:lvl3pPr>
            <a:lvl4pPr marL="1600200" indent="-228600">
              <a:defRPr b="1">
                <a:solidFill>
                  <a:schemeClr val="tx1"/>
                </a:solidFill>
                <a:latin typeface="Tahoma" pitchFamily="34" charset="0"/>
              </a:defRPr>
            </a:lvl4pPr>
            <a:lvl5pPr marL="2057400" indent="-228600">
              <a:defRPr b="1">
                <a:solidFill>
                  <a:schemeClr val="tx1"/>
                </a:solidFill>
                <a:latin typeface="Tahoma" pitchFamily="34" charset="0"/>
              </a:defRPr>
            </a:lvl5pPr>
            <a:lvl6pPr marL="2514600" indent="-228600" eaLnBrk="0" fontAlgn="base" hangingPunct="0">
              <a:spcBef>
                <a:spcPct val="0"/>
              </a:spcBef>
              <a:spcAft>
                <a:spcPct val="0"/>
              </a:spcAft>
              <a:defRPr b="1">
                <a:solidFill>
                  <a:schemeClr val="tx1"/>
                </a:solidFill>
                <a:latin typeface="Tahoma" pitchFamily="34" charset="0"/>
              </a:defRPr>
            </a:lvl6pPr>
            <a:lvl7pPr marL="2971800" indent="-228600" eaLnBrk="0" fontAlgn="base" hangingPunct="0">
              <a:spcBef>
                <a:spcPct val="0"/>
              </a:spcBef>
              <a:spcAft>
                <a:spcPct val="0"/>
              </a:spcAft>
              <a:defRPr b="1">
                <a:solidFill>
                  <a:schemeClr val="tx1"/>
                </a:solidFill>
                <a:latin typeface="Tahoma" pitchFamily="34" charset="0"/>
              </a:defRPr>
            </a:lvl7pPr>
            <a:lvl8pPr marL="3429000" indent="-228600" eaLnBrk="0" fontAlgn="base" hangingPunct="0">
              <a:spcBef>
                <a:spcPct val="0"/>
              </a:spcBef>
              <a:spcAft>
                <a:spcPct val="0"/>
              </a:spcAft>
              <a:defRPr b="1">
                <a:solidFill>
                  <a:schemeClr val="tx1"/>
                </a:solidFill>
                <a:latin typeface="Tahoma" pitchFamily="34" charset="0"/>
              </a:defRPr>
            </a:lvl8pPr>
            <a:lvl9pPr marL="3886200" indent="-228600" eaLnBrk="0" fontAlgn="base" hangingPunct="0">
              <a:spcBef>
                <a:spcPct val="0"/>
              </a:spcBef>
              <a:spcAft>
                <a:spcPct val="0"/>
              </a:spcAft>
              <a:defRPr b="1">
                <a:solidFill>
                  <a:schemeClr val="tx1"/>
                </a:solidFill>
                <a:latin typeface="Tahoma" pitchFamily="34" charset="0"/>
              </a:defRPr>
            </a:lvl9pPr>
          </a:lstStyle>
          <a:p>
            <a:pPr algn="ctr"/>
            <a:r>
              <a:rPr lang="en-US" altLang="en-US" sz="3600" dirty="0">
                <a:latin typeface="Times New Roman" pitchFamily="18" charset="0"/>
              </a:rPr>
              <a:t>User Datagram Format</a:t>
            </a:r>
          </a:p>
        </p:txBody>
      </p:sp>
      <p:sp>
        <p:nvSpPr>
          <p:cNvPr id="56324" name="Rectangle 3"/>
          <p:cNvSpPr>
            <a:spLocks noChangeArrowheads="1"/>
          </p:cNvSpPr>
          <p:nvPr/>
        </p:nvSpPr>
        <p:spPr bwMode="ltGray">
          <a:xfrm>
            <a:off x="366713" y="107950"/>
            <a:ext cx="438150" cy="474663"/>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sp>
        <p:nvSpPr>
          <p:cNvPr id="56325"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sp>
        <p:nvSpPr>
          <p:cNvPr id="56326" name="Rectangle 5"/>
          <p:cNvSpPr>
            <a:spLocks noChangeArrowheads="1"/>
          </p:cNvSpPr>
          <p:nvPr/>
        </p:nvSpPr>
        <p:spPr bwMode="ltGray">
          <a:xfrm>
            <a:off x="490538" y="530225"/>
            <a:ext cx="422275" cy="474663"/>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sp>
        <p:nvSpPr>
          <p:cNvPr id="56327"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sp>
        <p:nvSpPr>
          <p:cNvPr id="56328"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sp>
        <p:nvSpPr>
          <p:cNvPr id="56329" name="Rectangle 8"/>
          <p:cNvSpPr>
            <a:spLocks noChangeArrowheads="1"/>
          </p:cNvSpPr>
          <p:nvPr/>
        </p:nvSpPr>
        <p:spPr bwMode="gray">
          <a:xfrm>
            <a:off x="711200" y="0"/>
            <a:ext cx="31750" cy="105251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sp>
        <p:nvSpPr>
          <p:cNvPr id="56330" name="Rectangle 9"/>
          <p:cNvSpPr>
            <a:spLocks noChangeArrowheads="1"/>
          </p:cNvSpPr>
          <p:nvPr/>
        </p:nvSpPr>
        <p:spPr bwMode="gray">
          <a:xfrm>
            <a:off x="442913" y="654050"/>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endParaRPr kumimoji="1" lang="en-US" sz="2400" b="0" dirty="0"/>
          </a:p>
        </p:txBody>
      </p:sp>
      <p:pic>
        <p:nvPicPr>
          <p:cNvPr id="56331" name="Picture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5711" y="3717032"/>
            <a:ext cx="6412577" cy="26986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32" name="Rectangle 12"/>
          <p:cNvSpPr>
            <a:spLocks noGrp="1" noChangeArrowheads="1"/>
          </p:cNvSpPr>
          <p:nvPr>
            <p:ph type="body" idx="1"/>
          </p:nvPr>
        </p:nvSpPr>
        <p:spPr bwMode="auto">
          <a:xfrm>
            <a:off x="685800" y="838200"/>
            <a:ext cx="7772400" cy="35814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eaLnBrk="1" hangingPunct="1">
              <a:lnSpc>
                <a:spcPct val="90000"/>
              </a:lnSpc>
            </a:pPr>
            <a:r>
              <a:rPr lang="en-US" sz="2000" dirty="0" smtClean="0"/>
              <a:t>UDP packets, called user datagrams, have a fixed-size header of 8 bytes.</a:t>
            </a:r>
          </a:p>
          <a:p>
            <a:pPr lvl="1" eaLnBrk="1" hangingPunct="1">
              <a:lnSpc>
                <a:spcPct val="90000"/>
              </a:lnSpc>
            </a:pPr>
            <a:r>
              <a:rPr lang="en-US" sz="1800" dirty="0" smtClean="0"/>
              <a:t>Source port number: Port number used by process running source host; 16 bits [0 to 65535]</a:t>
            </a:r>
          </a:p>
          <a:p>
            <a:pPr lvl="1" eaLnBrk="1" hangingPunct="1">
              <a:lnSpc>
                <a:spcPct val="90000"/>
              </a:lnSpc>
            </a:pPr>
            <a:r>
              <a:rPr lang="en-US" sz="1800" dirty="0" smtClean="0"/>
              <a:t>Destination port number: Port number used by process running destination host; 16 bits</a:t>
            </a:r>
          </a:p>
          <a:p>
            <a:pPr lvl="1" eaLnBrk="1" hangingPunct="1">
              <a:lnSpc>
                <a:spcPct val="90000"/>
              </a:lnSpc>
            </a:pPr>
            <a:r>
              <a:rPr lang="en-US" sz="1800" dirty="0" smtClean="0"/>
              <a:t>Length: 16-bit field; Total length of user datagram header plus data.</a:t>
            </a:r>
          </a:p>
          <a:p>
            <a:pPr lvl="1" eaLnBrk="1" hangingPunct="1">
              <a:lnSpc>
                <a:spcPct val="90000"/>
              </a:lnSpc>
            </a:pPr>
            <a:r>
              <a:rPr lang="en-US" sz="1800" dirty="0" smtClean="0"/>
              <a:t>Checksum: </a:t>
            </a:r>
          </a:p>
          <a:p>
            <a:pPr lvl="2" eaLnBrk="1" hangingPunct="1">
              <a:lnSpc>
                <a:spcPct val="90000"/>
              </a:lnSpc>
            </a:pPr>
            <a:r>
              <a:rPr lang="en-US" sz="1600" dirty="0" smtClean="0"/>
              <a:t>Used to detect errors over the entire user datagram (header plus data)</a:t>
            </a:r>
          </a:p>
          <a:p>
            <a:pPr lvl="2" eaLnBrk="1" hangingPunct="1">
              <a:lnSpc>
                <a:spcPct val="90000"/>
              </a:lnSpc>
            </a:pPr>
            <a:r>
              <a:rPr lang="en-US" sz="1600" dirty="0" smtClean="0"/>
              <a:t>Its optional to do checksum. If not done, put the entries as all 0s.</a:t>
            </a:r>
          </a:p>
        </p:txBody>
      </p:sp>
    </p:spTree>
    <p:extLst>
      <p:ext uri="{BB962C8B-B14F-4D97-AF65-F5344CB8AC3E}">
        <p14:creationId xmlns:p14="http://schemas.microsoft.com/office/powerpoint/2010/main" val="277283301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Slide Number Placeholder 5"/>
          <p:cNvSpPr>
            <a:spLocks noGrp="1"/>
          </p:cNvSpPr>
          <p:nvPr>
            <p:ph type="sldNum" sz="quarter" idx="12"/>
          </p:nvPr>
        </p:nvSpPr>
        <p:spPr/>
        <p:txBody>
          <a:bodyPr/>
          <a:lstStyle/>
          <a:p>
            <a:fld id="{6FCA0314-1A23-4ECD-B80D-10D12C5F0E5D}" type="slidenum">
              <a:rPr lang="en-US"/>
              <a:pPr/>
              <a:t>15</a:t>
            </a:fld>
            <a:endParaRPr lang="en-US" dirty="0"/>
          </a:p>
        </p:txBody>
      </p:sp>
      <p:sp>
        <p:nvSpPr>
          <p:cNvPr id="550914" name="Rectangle 2"/>
          <p:cNvSpPr>
            <a:spLocks noChangeArrowheads="1"/>
          </p:cNvSpPr>
          <p:nvPr/>
        </p:nvSpPr>
        <p:spPr bwMode="ltGray">
          <a:xfrm>
            <a:off x="366713" y="198438"/>
            <a:ext cx="438150" cy="474662"/>
          </a:xfrm>
          <a:prstGeom prst="rect">
            <a:avLst/>
          </a:prstGeom>
          <a:solidFill>
            <a:schemeClr val="accent2"/>
          </a:solidFill>
          <a:ln w="9525">
            <a:noFill/>
            <a:miter lim="800000"/>
            <a:headEnd/>
            <a:tailEnd/>
          </a:ln>
          <a:effectLst/>
        </p:spPr>
        <p:txBody>
          <a:bodyPr wrap="none" anchor="ctr"/>
          <a:lstStyle/>
          <a:p>
            <a:pPr algn="ctr" eaLnBrk="1" hangingPunct="1"/>
            <a:endParaRPr kumimoji="1" lang="en-GB" sz="2400" b="0" dirty="0"/>
          </a:p>
        </p:txBody>
      </p:sp>
      <p:sp>
        <p:nvSpPr>
          <p:cNvPr id="550915" name="Rectangle 3"/>
          <p:cNvSpPr>
            <a:spLocks noChangeArrowheads="1"/>
          </p:cNvSpPr>
          <p:nvPr/>
        </p:nvSpPr>
        <p:spPr bwMode="ltGray">
          <a:xfrm>
            <a:off x="749300" y="198438"/>
            <a:ext cx="328613" cy="474662"/>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GB" sz="2400" b="0" dirty="0"/>
          </a:p>
        </p:txBody>
      </p:sp>
      <p:sp>
        <p:nvSpPr>
          <p:cNvPr id="550916" name="Rectangle 4"/>
          <p:cNvSpPr>
            <a:spLocks noChangeArrowheads="1"/>
          </p:cNvSpPr>
          <p:nvPr/>
        </p:nvSpPr>
        <p:spPr bwMode="ltGray">
          <a:xfrm>
            <a:off x="490538" y="620713"/>
            <a:ext cx="422275" cy="474662"/>
          </a:xfrm>
          <a:prstGeom prst="rect">
            <a:avLst/>
          </a:prstGeom>
          <a:solidFill>
            <a:schemeClr val="folHlink"/>
          </a:solidFill>
          <a:ln w="9525">
            <a:noFill/>
            <a:miter lim="800000"/>
            <a:headEnd/>
            <a:tailEnd/>
          </a:ln>
          <a:effectLst/>
        </p:spPr>
        <p:txBody>
          <a:bodyPr wrap="none" anchor="ctr"/>
          <a:lstStyle/>
          <a:p>
            <a:pPr algn="ctr" eaLnBrk="1" hangingPunct="1"/>
            <a:endParaRPr kumimoji="1" lang="en-GB" sz="2400" b="0" dirty="0"/>
          </a:p>
        </p:txBody>
      </p:sp>
      <p:sp>
        <p:nvSpPr>
          <p:cNvPr id="550917" name="Rectangle 5"/>
          <p:cNvSpPr>
            <a:spLocks noChangeArrowheads="1"/>
          </p:cNvSpPr>
          <p:nvPr/>
        </p:nvSpPr>
        <p:spPr bwMode="ltGray">
          <a:xfrm>
            <a:off x="860425" y="620713"/>
            <a:ext cx="368300" cy="474662"/>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GB" sz="2400" b="0" dirty="0"/>
          </a:p>
        </p:txBody>
      </p:sp>
      <p:sp>
        <p:nvSpPr>
          <p:cNvPr id="550918" name="Rectangle 6"/>
          <p:cNvSpPr>
            <a:spLocks noChangeArrowheads="1"/>
          </p:cNvSpPr>
          <p:nvPr/>
        </p:nvSpPr>
        <p:spPr bwMode="ltGray">
          <a:xfrm>
            <a:off x="76200" y="547688"/>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GB" sz="2400" b="0" dirty="0"/>
          </a:p>
        </p:txBody>
      </p:sp>
      <p:sp>
        <p:nvSpPr>
          <p:cNvPr id="550919" name="Rectangle 7"/>
          <p:cNvSpPr>
            <a:spLocks noChangeArrowheads="1"/>
          </p:cNvSpPr>
          <p:nvPr/>
        </p:nvSpPr>
        <p:spPr bwMode="gray">
          <a:xfrm>
            <a:off x="711200" y="90488"/>
            <a:ext cx="31750" cy="1052512"/>
          </a:xfrm>
          <a:prstGeom prst="rect">
            <a:avLst/>
          </a:prstGeom>
          <a:solidFill>
            <a:schemeClr val="bg2"/>
          </a:solidFill>
          <a:ln w="9525">
            <a:noFill/>
            <a:miter lim="800000"/>
            <a:headEnd/>
            <a:tailEnd/>
          </a:ln>
          <a:effectLst/>
        </p:spPr>
        <p:txBody>
          <a:bodyPr wrap="none" anchor="ctr"/>
          <a:lstStyle/>
          <a:p>
            <a:pPr algn="ctr" eaLnBrk="1" hangingPunct="1"/>
            <a:endParaRPr kumimoji="1" lang="en-GB" sz="2400" b="0" dirty="0"/>
          </a:p>
        </p:txBody>
      </p:sp>
      <p:sp>
        <p:nvSpPr>
          <p:cNvPr id="550920" name="Rectangle 8"/>
          <p:cNvSpPr>
            <a:spLocks noChangeArrowheads="1"/>
          </p:cNvSpPr>
          <p:nvPr/>
        </p:nvSpPr>
        <p:spPr bwMode="gray">
          <a:xfrm>
            <a:off x="442913" y="744538"/>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GB" sz="2400" b="0" dirty="0"/>
          </a:p>
        </p:txBody>
      </p:sp>
      <p:sp>
        <p:nvSpPr>
          <p:cNvPr id="550921" name="Rectangle 9"/>
          <p:cNvSpPr>
            <a:spLocks noGrp="1" noChangeArrowheads="1"/>
          </p:cNvSpPr>
          <p:nvPr>
            <p:ph type="body" idx="1"/>
          </p:nvPr>
        </p:nvSpPr>
        <p:spPr bwMode="auto">
          <a:xfrm>
            <a:off x="381000" y="969963"/>
            <a:ext cx="8458200" cy="5430837"/>
          </a:xfrm>
          <a:noFill/>
          <a:ln>
            <a:miter lim="800000"/>
            <a:headEnd/>
            <a:tailEnd/>
          </a:ln>
        </p:spPr>
        <p:txBody>
          <a:bodyPr vert="horz" wrap="square" lIns="91440" tIns="45720" rIns="91440" bIns="45720" numCol="1" anchor="t" anchorCtr="0" compatLnSpc="1">
            <a:prstTxWarp prst="textNoShape">
              <a:avLst/>
            </a:prstTxWarp>
          </a:bodyPr>
          <a:lstStyle/>
          <a:p>
            <a:pPr algn="just">
              <a:lnSpc>
                <a:spcPct val="80000"/>
              </a:lnSpc>
            </a:pPr>
            <a:r>
              <a:rPr lang="en-US" sz="2800" dirty="0"/>
              <a:t>Host-to-host network layer delivery protocol for the Internet.</a:t>
            </a:r>
          </a:p>
          <a:p>
            <a:pPr algn="just">
              <a:lnSpc>
                <a:spcPct val="80000"/>
              </a:lnSpc>
            </a:pPr>
            <a:r>
              <a:rPr lang="en-US" sz="2800" dirty="0"/>
              <a:t>Unreliable and connectionless datagram protocol</a:t>
            </a:r>
          </a:p>
          <a:p>
            <a:pPr algn="just">
              <a:lnSpc>
                <a:spcPct val="80000"/>
              </a:lnSpc>
            </a:pPr>
            <a:r>
              <a:rPr lang="en-US" sz="2800" dirty="0"/>
              <a:t>Best-effort: no error control or flow control.</a:t>
            </a:r>
          </a:p>
          <a:p>
            <a:pPr algn="just">
              <a:lnSpc>
                <a:spcPct val="80000"/>
              </a:lnSpc>
            </a:pPr>
            <a:r>
              <a:rPr lang="en-US" sz="2800" dirty="0"/>
              <a:t>Has error detection mechanism to discard the packets that are corrupted.</a:t>
            </a:r>
          </a:p>
          <a:p>
            <a:pPr algn="just">
              <a:lnSpc>
                <a:spcPct val="80000"/>
              </a:lnSpc>
            </a:pPr>
            <a:r>
              <a:rPr lang="en-US" sz="2800" dirty="0"/>
              <a:t>For reliability, use IP with TCP.</a:t>
            </a:r>
          </a:p>
          <a:p>
            <a:pPr algn="just">
              <a:lnSpc>
                <a:spcPct val="80000"/>
              </a:lnSpc>
            </a:pPr>
            <a:r>
              <a:rPr lang="en-US" sz="2800" dirty="0"/>
              <a:t>Each datagram is delivered independently and via different routes.</a:t>
            </a:r>
          </a:p>
          <a:p>
            <a:pPr algn="just">
              <a:lnSpc>
                <a:spcPct val="80000"/>
              </a:lnSpc>
            </a:pPr>
            <a:r>
              <a:rPr lang="en-US" sz="2800" dirty="0"/>
              <a:t>Datagrams: Packets of IP layer.</a:t>
            </a:r>
          </a:p>
          <a:p>
            <a:pPr lvl="1" algn="just">
              <a:lnSpc>
                <a:spcPct val="80000"/>
              </a:lnSpc>
            </a:pPr>
            <a:r>
              <a:rPr lang="en-US" sz="2400" dirty="0"/>
              <a:t>Variable-length packet consisting of header [20 to 60 bytes] and data.</a:t>
            </a:r>
          </a:p>
        </p:txBody>
      </p:sp>
      <p:sp>
        <p:nvSpPr>
          <p:cNvPr id="550922" name="Rectangle 10"/>
          <p:cNvSpPr>
            <a:spLocks noGrp="1" noChangeArrowheads="1"/>
          </p:cNvSpPr>
          <p:nvPr>
            <p:ph type="title"/>
          </p:nvPr>
        </p:nvSpPr>
        <p:spPr bwMode="auto">
          <a:xfrm>
            <a:off x="2590800" y="76200"/>
            <a:ext cx="3886200" cy="609600"/>
          </a:xfrm>
          <a:noFill/>
          <a:ln>
            <a:miter lim="800000"/>
            <a:headEnd/>
            <a:tailEnd/>
          </a:ln>
        </p:spPr>
        <p:txBody>
          <a:bodyPr vert="horz" wrap="square" lIns="91440" tIns="45720" rIns="91440" bIns="45720" numCol="1" anchor="t" anchorCtr="0" compatLnSpc="1">
            <a:prstTxWarp prst="textNoShape">
              <a:avLst/>
            </a:prstTxWarp>
            <a:normAutofit fontScale="90000"/>
          </a:bodyPr>
          <a:lstStyle/>
          <a:p>
            <a:pPr algn="ctr"/>
            <a:r>
              <a:rPr lang="en-US" dirty="0"/>
              <a:t>IP</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lide Number Placeholder 5"/>
          <p:cNvSpPr>
            <a:spLocks noGrp="1"/>
          </p:cNvSpPr>
          <p:nvPr>
            <p:ph type="sldNum" sz="quarter" idx="12"/>
          </p:nvPr>
        </p:nvSpPr>
        <p:spPr/>
        <p:txBody>
          <a:bodyPr/>
          <a:lstStyle/>
          <a:p>
            <a:fld id="{404663B5-F70D-4E33-BC70-AD94B5C21AE3}" type="slidenum">
              <a:rPr lang="en-US"/>
              <a:pPr/>
              <a:t>16</a:t>
            </a:fld>
            <a:endParaRPr lang="en-US" dirty="0"/>
          </a:p>
        </p:txBody>
      </p:sp>
      <p:sp>
        <p:nvSpPr>
          <p:cNvPr id="487426" name="Text Box 2"/>
          <p:cNvSpPr txBox="1">
            <a:spLocks noChangeArrowheads="1"/>
          </p:cNvSpPr>
          <p:nvPr/>
        </p:nvSpPr>
        <p:spPr bwMode="auto">
          <a:xfrm>
            <a:off x="990600" y="76200"/>
            <a:ext cx="6705600" cy="641350"/>
          </a:xfrm>
          <a:prstGeom prst="rect">
            <a:avLst/>
          </a:prstGeom>
          <a:noFill/>
          <a:ln w="9525">
            <a:noFill/>
            <a:miter lim="800000"/>
            <a:headEnd/>
            <a:tailEnd/>
          </a:ln>
          <a:effectLst/>
        </p:spPr>
        <p:txBody>
          <a:bodyPr>
            <a:spAutoFit/>
          </a:bodyPr>
          <a:lstStyle/>
          <a:p>
            <a:pPr algn="ctr"/>
            <a:r>
              <a:rPr lang="en-US" altLang="en-US" sz="3600" b="0" dirty="0"/>
              <a:t>IP datagram</a:t>
            </a:r>
          </a:p>
        </p:txBody>
      </p:sp>
      <p:sp>
        <p:nvSpPr>
          <p:cNvPr id="487427"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dirty="0"/>
          </a:p>
        </p:txBody>
      </p:sp>
      <p:sp>
        <p:nvSpPr>
          <p:cNvPr id="48742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dirty="0"/>
          </a:p>
        </p:txBody>
      </p:sp>
      <p:sp>
        <p:nvSpPr>
          <p:cNvPr id="487429"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dirty="0"/>
          </a:p>
        </p:txBody>
      </p:sp>
      <p:sp>
        <p:nvSpPr>
          <p:cNvPr id="48743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dirty="0"/>
          </a:p>
        </p:txBody>
      </p:sp>
      <p:sp>
        <p:nvSpPr>
          <p:cNvPr id="48743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dirty="0"/>
          </a:p>
        </p:txBody>
      </p:sp>
      <p:sp>
        <p:nvSpPr>
          <p:cNvPr id="487432"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dirty="0"/>
          </a:p>
        </p:txBody>
      </p:sp>
      <p:sp>
        <p:nvSpPr>
          <p:cNvPr id="487433" name="Rectangle 9"/>
          <p:cNvSpPr>
            <a:spLocks noChangeArrowheads="1"/>
          </p:cNvSpPr>
          <p:nvPr/>
        </p:nvSpPr>
        <p:spPr bwMode="gray">
          <a:xfrm>
            <a:off x="442913" y="65405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dirty="0"/>
          </a:p>
        </p:txBody>
      </p:sp>
      <p:pic>
        <p:nvPicPr>
          <p:cNvPr id="487434" name="Picture 10"/>
          <p:cNvPicPr>
            <a:picLocks noChangeAspect="1" noChangeArrowheads="1"/>
          </p:cNvPicPr>
          <p:nvPr/>
        </p:nvPicPr>
        <p:blipFill>
          <a:blip r:embed="rId2"/>
          <a:srcRect/>
          <a:stretch>
            <a:fillRect/>
          </a:stretch>
        </p:blipFill>
        <p:spPr bwMode="auto">
          <a:xfrm>
            <a:off x="1828800" y="838200"/>
            <a:ext cx="5257800" cy="3505200"/>
          </a:xfrm>
          <a:prstGeom prst="rect">
            <a:avLst/>
          </a:prstGeom>
          <a:noFill/>
          <a:ln w="9525">
            <a:noFill/>
            <a:miter lim="800000"/>
            <a:headEnd/>
            <a:tailEnd/>
          </a:ln>
          <a:effectLst/>
        </p:spPr>
      </p:pic>
      <p:sp>
        <p:nvSpPr>
          <p:cNvPr id="487436" name="Rectangle 12"/>
          <p:cNvSpPr>
            <a:spLocks noGrp="1" noChangeArrowheads="1"/>
          </p:cNvSpPr>
          <p:nvPr>
            <p:ph type="body" idx="1"/>
          </p:nvPr>
        </p:nvSpPr>
        <p:spPr bwMode="auto">
          <a:xfrm>
            <a:off x="685800" y="4419600"/>
            <a:ext cx="7772400" cy="2057400"/>
          </a:xfrm>
          <a:noFill/>
          <a:ln>
            <a:miter lim="800000"/>
            <a:headEnd/>
            <a:tailEnd/>
          </a:ln>
        </p:spPr>
        <p:txBody>
          <a:bodyPr vert="horz" wrap="square" lIns="91440" tIns="45720" rIns="91440" bIns="45720" numCol="1" anchor="t" anchorCtr="0" compatLnSpc="1">
            <a:prstTxWarp prst="textNoShape">
              <a:avLst/>
            </a:prstTxWarp>
          </a:bodyPr>
          <a:lstStyle/>
          <a:p>
            <a:pPr>
              <a:lnSpc>
                <a:spcPct val="90000"/>
              </a:lnSpc>
            </a:pPr>
            <a:r>
              <a:rPr lang="en-US" sz="2000" dirty="0"/>
              <a:t>HLEN must be multiplied by 4 to get the length in bytes</a:t>
            </a:r>
          </a:p>
          <a:p>
            <a:pPr>
              <a:lnSpc>
                <a:spcPct val="90000"/>
              </a:lnSpc>
            </a:pPr>
            <a:r>
              <a:rPr lang="en-US" sz="2000" dirty="0"/>
              <a:t>Differentiated services: </a:t>
            </a:r>
            <a:r>
              <a:rPr lang="en-US" sz="2000" dirty="0" err="1"/>
              <a:t>QoS</a:t>
            </a:r>
            <a:endParaRPr lang="en-US" sz="2000" dirty="0"/>
          </a:p>
          <a:p>
            <a:pPr>
              <a:lnSpc>
                <a:spcPct val="90000"/>
              </a:lnSpc>
            </a:pPr>
            <a:r>
              <a:rPr lang="en-US" sz="2000" dirty="0"/>
              <a:t>Total length = length of data + header length</a:t>
            </a:r>
          </a:p>
          <a:p>
            <a:pPr>
              <a:lnSpc>
                <a:spcPct val="90000"/>
              </a:lnSpc>
            </a:pPr>
            <a:r>
              <a:rPr lang="en-US" sz="2000" dirty="0"/>
              <a:t>TTL: number of hops; approx 2 times the maximum number of routes between any two hosts. </a:t>
            </a:r>
          </a:p>
          <a:p>
            <a:pPr>
              <a:lnSpc>
                <a:spcPct val="90000"/>
              </a:lnSpc>
            </a:pPr>
            <a:r>
              <a:rPr lang="en-US" sz="2000" dirty="0"/>
              <a:t>Protocol: Defines the higher level protocol that uses IP layer.</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dirty="0"/>
          </a:p>
        </p:txBody>
      </p:sp>
      <p:pic>
        <p:nvPicPr>
          <p:cNvPr id="35842" name="Picture 2" descr="Image result for difference between tcp udp"/>
          <p:cNvPicPr>
            <a:picLocks noChangeAspect="1" noChangeArrowheads="1"/>
          </p:cNvPicPr>
          <p:nvPr/>
        </p:nvPicPr>
        <p:blipFill>
          <a:blip r:embed="rId2"/>
          <a:srcRect l="5151" t="6956" r="4189" b="10626"/>
          <a:stretch>
            <a:fillRect/>
          </a:stretch>
        </p:blipFill>
        <p:spPr bwMode="auto">
          <a:xfrm>
            <a:off x="0" y="0"/>
            <a:ext cx="9144000" cy="685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207</TotalTime>
  <Words>980</Words>
  <Application>Microsoft Office PowerPoint</Application>
  <PresentationFormat>On-screen Show (4:3)</PresentationFormat>
  <Paragraphs>87</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Tahoma</vt:lpstr>
      <vt:lpstr>Times New Roman</vt:lpstr>
      <vt:lpstr>Office Theme</vt:lpstr>
      <vt:lpstr>Transport layer protocol</vt:lpstr>
      <vt:lpstr>PowerPoint Presentation</vt:lpstr>
      <vt:lpstr>PowerPoint Presentation</vt:lpstr>
      <vt:lpstr>PowerPoint Presentation</vt:lpstr>
      <vt:lpstr>PowerPoint Presentation</vt:lpstr>
      <vt:lpstr>Connection oriented and connection less service </vt:lpstr>
      <vt:lpstr>Socket </vt:lpstr>
      <vt:lpstr>PowerPoint Presentation</vt:lpstr>
      <vt:lpstr>PowerPoint Presentation</vt:lpstr>
      <vt:lpstr>Transmission control protocol</vt:lpstr>
      <vt:lpstr>PowerPoint Presentation</vt:lpstr>
      <vt:lpstr>PowerPoint Presentation</vt:lpstr>
      <vt:lpstr> UDP</vt:lpstr>
      <vt:lpstr>PowerPoint Presentation</vt:lpstr>
      <vt:lpstr>IP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Features</dc:title>
  <dc:creator>ELCOT</dc:creator>
  <cp:lastModifiedBy>USER</cp:lastModifiedBy>
  <cp:revision>37</cp:revision>
  <dcterms:created xsi:type="dcterms:W3CDTF">2018-01-23T17:01:31Z</dcterms:created>
  <dcterms:modified xsi:type="dcterms:W3CDTF">2025-03-07T16:13:54Z</dcterms:modified>
</cp:coreProperties>
</file>