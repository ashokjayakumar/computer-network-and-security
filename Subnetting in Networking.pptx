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9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0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2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1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9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39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6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5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0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6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1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71D2B-BC1D-4301-96C6-39C7CDD716D0}" type="datetimeFigureOut">
              <a:rPr lang="en-US" smtClean="0"/>
              <a:t>5/21/2021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969CA-CA8D-485A-80D1-5AEB0C24F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4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 err="1"/>
              <a:t>Subnetting</a:t>
            </a:r>
            <a:r>
              <a:rPr lang="en-US" b="1" u="sng" dirty="0"/>
              <a:t> in </a:t>
            </a:r>
            <a:r>
              <a:rPr lang="en-US" b="1" u="sng" dirty="0" smtClean="0"/>
              <a:t>Networking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1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 process of dividing a single network into multiple sub networks is called as </a:t>
            </a:r>
            <a:r>
              <a:rPr lang="en-US" b="1" dirty="0" err="1"/>
              <a:t>subnetting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The sub networks so created are called as </a:t>
            </a:r>
            <a:r>
              <a:rPr lang="en-US" b="1" dirty="0"/>
              <a:t>subnets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4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5813"/>
            <a:ext cx="8229600" cy="5433467"/>
          </a:xfrm>
        </p:spPr>
        <p:txBody>
          <a:bodyPr>
            <a:normAutofit fontScale="70000" lnSpcReduction="20000"/>
          </a:bodyPr>
          <a:lstStyle/>
          <a:p>
            <a:pPr algn="just" fontAlgn="base">
              <a:lnSpc>
                <a:spcPct val="150000"/>
              </a:lnSpc>
            </a:pPr>
            <a:r>
              <a:rPr lang="en-US" b="1" u="sng" dirty="0"/>
              <a:t>Example-</a:t>
            </a:r>
            <a:endParaRPr lang="en-US" b="1" dirty="0"/>
          </a:p>
          <a:p>
            <a:pPr algn="just" fontAlgn="base">
              <a:lnSpc>
                <a:spcPct val="150000"/>
              </a:lnSpc>
            </a:pPr>
            <a:r>
              <a:rPr lang="en-US" dirty="0"/>
              <a:t> </a:t>
            </a:r>
            <a:r>
              <a:rPr lang="en-US" dirty="0" smtClean="0"/>
              <a:t>Following </a:t>
            </a:r>
            <a:r>
              <a:rPr lang="en-US" dirty="0"/>
              <a:t>diagram shows the </a:t>
            </a:r>
            <a:r>
              <a:rPr lang="en-US" dirty="0" smtClean="0"/>
              <a:t>sub netting </a:t>
            </a:r>
            <a:r>
              <a:rPr lang="en-US" dirty="0"/>
              <a:t>of a big single network into 4 smaller </a:t>
            </a:r>
            <a:r>
              <a:rPr lang="en-US" dirty="0" smtClean="0"/>
              <a:t>subnets-</a:t>
            </a:r>
          </a:p>
          <a:p>
            <a:pPr algn="just" fontAlgn="base">
              <a:lnSpc>
                <a:spcPct val="150000"/>
              </a:lnSpc>
            </a:pPr>
            <a:endParaRPr lang="en-US" dirty="0" smtClean="0"/>
          </a:p>
          <a:p>
            <a:pPr algn="just" fontAlgn="base">
              <a:lnSpc>
                <a:spcPct val="150000"/>
              </a:lnSpc>
            </a:pPr>
            <a:endParaRPr lang="en-US" dirty="0"/>
          </a:p>
          <a:p>
            <a:pPr algn="just" fontAlgn="base">
              <a:lnSpc>
                <a:spcPct val="150000"/>
              </a:lnSpc>
            </a:pPr>
            <a:endParaRPr lang="en-US" dirty="0" smtClean="0"/>
          </a:p>
          <a:p>
            <a:pPr algn="just" fontAlgn="base">
              <a:lnSpc>
                <a:spcPct val="150000"/>
              </a:lnSpc>
            </a:pPr>
            <a:endParaRPr lang="en-US" dirty="0" smtClean="0"/>
          </a:p>
          <a:p>
            <a:pPr algn="just" fontAlgn="base">
              <a:lnSpc>
                <a:spcPct val="150000"/>
              </a:lnSpc>
            </a:pPr>
            <a:r>
              <a:rPr lang="en-US" dirty="0" smtClean="0"/>
              <a:t>The two main advantages of sub netting a network are-</a:t>
            </a:r>
          </a:p>
          <a:p>
            <a:pPr lvl="1" algn="just" fontAlgn="base">
              <a:lnSpc>
                <a:spcPct val="150000"/>
              </a:lnSpc>
            </a:pPr>
            <a:r>
              <a:rPr lang="en-US" dirty="0" smtClean="0"/>
              <a:t>It improves the security.</a:t>
            </a:r>
          </a:p>
          <a:p>
            <a:pPr lvl="1" algn="just" fontAlgn="base">
              <a:lnSpc>
                <a:spcPct val="150000"/>
              </a:lnSpc>
            </a:pPr>
            <a:r>
              <a:rPr lang="en-US" dirty="0" smtClean="0"/>
              <a:t>The maintenance and administration of subnets is easy.</a:t>
            </a:r>
          </a:p>
          <a:p>
            <a:pPr algn="just" fontAlgn="base">
              <a:lnSpc>
                <a:spcPct val="150000"/>
              </a:lnSpc>
            </a:pPr>
            <a:endParaRPr lang="en-US" dirty="0"/>
          </a:p>
          <a:p>
            <a:pPr marL="0" indent="0" algn="just" fontAlgn="base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904231"/>
            <a:ext cx="63912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764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b="1" u="sng" dirty="0"/>
              <a:t>Subnet ID-</a:t>
            </a:r>
            <a:endParaRPr lang="en-US" b="1" dirty="0"/>
          </a:p>
          <a:p>
            <a:pPr algn="just" fontAlgn="base">
              <a:lnSpc>
                <a:spcPct val="150000"/>
              </a:lnSpc>
            </a:pPr>
            <a:r>
              <a:rPr lang="en-US" dirty="0"/>
              <a:t> </a:t>
            </a:r>
            <a:r>
              <a:rPr lang="en-US" dirty="0" smtClean="0"/>
              <a:t>Each </a:t>
            </a:r>
            <a:r>
              <a:rPr lang="en-US" dirty="0"/>
              <a:t>subnet has its unique network address known as its </a:t>
            </a:r>
            <a:r>
              <a:rPr lang="en-US" b="1" dirty="0"/>
              <a:t>Subnet ID</a:t>
            </a:r>
            <a:r>
              <a:rPr lang="en-US" dirty="0"/>
              <a:t>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The subnet ID is created by borrowing some bits from the Host ID part of the IP Address.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The number of bits borrowed depends on the number of subnets created.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8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u="sng" dirty="0" smtClean="0"/>
              <a:t>Types of Sub netting-</a:t>
            </a:r>
            <a:endParaRPr lang="en-US" b="1" dirty="0" smtClean="0"/>
          </a:p>
          <a:p>
            <a:pPr fontAlgn="base"/>
            <a:r>
              <a:rPr lang="en-US" dirty="0" smtClean="0"/>
              <a:t> Sub netting of a network may be carried out in the following two ways-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709" y="3678907"/>
            <a:ext cx="6808683" cy="234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77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7544" y="44624"/>
            <a:ext cx="835292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400" b="1" u="sng" dirty="0"/>
              <a:t>1. Fixed Length </a:t>
            </a:r>
            <a:r>
              <a:rPr lang="en-US" sz="2400" b="1" u="sng" dirty="0" err="1"/>
              <a:t>Subnetting</a:t>
            </a:r>
            <a:r>
              <a:rPr lang="en-US" sz="2400" b="1" u="sng" dirty="0"/>
              <a:t>-</a:t>
            </a:r>
            <a:endParaRPr lang="en-US" sz="2400" b="1" dirty="0"/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 </a:t>
            </a:r>
            <a:r>
              <a:rPr lang="en-US" sz="2400" dirty="0" smtClean="0"/>
              <a:t>Fixed </a:t>
            </a:r>
            <a:r>
              <a:rPr lang="en-US" sz="2400" dirty="0"/>
              <a:t>length </a:t>
            </a:r>
            <a:r>
              <a:rPr lang="en-US" sz="2400" dirty="0" smtClean="0"/>
              <a:t>sub netting </a:t>
            </a:r>
            <a:r>
              <a:rPr lang="en-US" sz="2400" dirty="0"/>
              <a:t>also called as </a:t>
            </a:r>
            <a:r>
              <a:rPr lang="en-US" sz="2400" b="1" dirty="0"/>
              <a:t>classful </a:t>
            </a:r>
            <a:r>
              <a:rPr lang="en-US" sz="2400" b="1" dirty="0" smtClean="0"/>
              <a:t>sub netting</a:t>
            </a:r>
            <a:r>
              <a:rPr lang="en-US" sz="2400" dirty="0"/>
              <a:t> divides the network into subnets where-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All the subnets are of same size.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All the subnets have equal number of hosts.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All the subnets have same subnet mask.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 </a:t>
            </a:r>
            <a:r>
              <a:rPr lang="en-US" sz="2400" b="1" u="sng" dirty="0" smtClean="0"/>
              <a:t>2</a:t>
            </a:r>
            <a:r>
              <a:rPr lang="en-US" sz="2400" b="1" u="sng" dirty="0"/>
              <a:t>. Variable Length </a:t>
            </a:r>
            <a:r>
              <a:rPr lang="en-US" sz="2400" b="1" u="sng" dirty="0" err="1"/>
              <a:t>Subnetting</a:t>
            </a:r>
            <a:r>
              <a:rPr lang="en-US" sz="2400" b="1" u="sng" dirty="0"/>
              <a:t>-</a:t>
            </a:r>
            <a:endParaRPr lang="en-US" sz="2400" b="1" dirty="0"/>
          </a:p>
          <a:p>
            <a:pPr algn="just" fontAlgn="base">
              <a:lnSpc>
                <a:spcPct val="150000"/>
              </a:lnSpc>
            </a:pPr>
            <a:r>
              <a:rPr lang="en-US" sz="2400" dirty="0" smtClean="0"/>
              <a:t>Variable </a:t>
            </a:r>
            <a:r>
              <a:rPr lang="en-US" sz="2400" dirty="0"/>
              <a:t>length </a:t>
            </a:r>
            <a:r>
              <a:rPr lang="en-US" sz="2400" dirty="0" smtClean="0"/>
              <a:t>sub netting </a:t>
            </a:r>
            <a:r>
              <a:rPr lang="en-US" sz="2400" dirty="0"/>
              <a:t>also called as </a:t>
            </a:r>
            <a:r>
              <a:rPr lang="en-US" sz="2400" b="1" dirty="0"/>
              <a:t>classless </a:t>
            </a:r>
            <a:r>
              <a:rPr lang="en-US" sz="2400" b="1" dirty="0" smtClean="0"/>
              <a:t>sub netting</a:t>
            </a:r>
            <a:r>
              <a:rPr lang="en-US" sz="2400" dirty="0"/>
              <a:t> divides the network into subnets where-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All the subnets are not of same size.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All the subnets do not have equal number of hosts.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/>
              <a:t>All the subnets do not have same subnet mask.</a:t>
            </a:r>
          </a:p>
        </p:txBody>
      </p:sp>
    </p:spTree>
    <p:extLst>
      <p:ext uri="{BB962C8B-B14F-4D97-AF65-F5344CB8AC3E}">
        <p14:creationId xmlns:p14="http://schemas.microsoft.com/office/powerpoint/2010/main" val="321451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pPr fontAlgn="base"/>
            <a:r>
              <a:rPr lang="en-US" b="1" u="sng" dirty="0"/>
              <a:t>Example-01:</a:t>
            </a:r>
            <a:endParaRPr lang="en-US" b="1" dirty="0"/>
          </a:p>
          <a:p>
            <a:pPr fontAlgn="base"/>
            <a:r>
              <a:rPr lang="en-US" dirty="0"/>
              <a:t> </a:t>
            </a:r>
            <a:r>
              <a:rPr lang="en-US" dirty="0" smtClean="0"/>
              <a:t>Consider-</a:t>
            </a:r>
            <a:endParaRPr lang="en-US" dirty="0"/>
          </a:p>
          <a:p>
            <a:pPr fontAlgn="base"/>
            <a:r>
              <a:rPr lang="en-US" dirty="0"/>
              <a:t>We have a big single network having IP Address 200.1.2.0.</a:t>
            </a:r>
          </a:p>
          <a:p>
            <a:pPr fontAlgn="base"/>
            <a:r>
              <a:rPr lang="en-US" dirty="0"/>
              <a:t>We want to do </a:t>
            </a:r>
            <a:r>
              <a:rPr lang="en-US" dirty="0" err="1"/>
              <a:t>subnetting</a:t>
            </a:r>
            <a:r>
              <a:rPr lang="en-US" dirty="0"/>
              <a:t> and divide this network into 2 subnets.</a:t>
            </a:r>
          </a:p>
          <a:p>
            <a:pPr fontAlgn="base"/>
            <a:r>
              <a:rPr lang="en-US" dirty="0"/>
              <a:t> </a:t>
            </a:r>
            <a:r>
              <a:rPr lang="en-US" dirty="0" smtClean="0"/>
              <a:t>Clearly</a:t>
            </a:r>
            <a:r>
              <a:rPr lang="en-US" dirty="0"/>
              <a:t>, the given network belongs to class C.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4322415"/>
            <a:ext cx="32289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80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algn="just" fontAlgn="base">
              <a:lnSpc>
                <a:spcPct val="150000"/>
              </a:lnSpc>
            </a:pPr>
            <a:r>
              <a:rPr lang="en-US" dirty="0"/>
              <a:t>For creating two subnets and to represent their subnet IDs, we require 1 bit.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So,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We borrow one bit from the Host ID part.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After borrowing one bit, Host ID part remains with only 7 bits.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 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869160"/>
            <a:ext cx="366712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0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 fontAlgn="base"/>
            <a:r>
              <a:rPr lang="en-US" dirty="0"/>
              <a:t>If borrowed bit = 0, then it represents the first subnet.</a:t>
            </a:r>
          </a:p>
          <a:p>
            <a:pPr fontAlgn="base"/>
            <a:r>
              <a:rPr lang="en-US" dirty="0"/>
              <a:t>If borrowed bit = 1, then it represents the second subnet.</a:t>
            </a:r>
          </a:p>
          <a:p>
            <a:pPr fontAlgn="base"/>
            <a:r>
              <a:rPr lang="en-US" dirty="0"/>
              <a:t> </a:t>
            </a:r>
            <a:r>
              <a:rPr lang="en-US" dirty="0" smtClean="0"/>
              <a:t>IP </a:t>
            </a:r>
            <a:r>
              <a:rPr lang="en-US" dirty="0"/>
              <a:t>Address of the two subnets are-</a:t>
            </a:r>
          </a:p>
          <a:p>
            <a:pPr fontAlgn="base"/>
            <a:r>
              <a:rPr lang="en-US" dirty="0"/>
              <a:t>200.1.2.</a:t>
            </a:r>
            <a:r>
              <a:rPr lang="en-US" b="1" dirty="0"/>
              <a:t>0</a:t>
            </a:r>
            <a:r>
              <a:rPr lang="en-US" dirty="0"/>
              <a:t>0000000 = 200.1.2.0</a:t>
            </a:r>
          </a:p>
          <a:p>
            <a:pPr fontAlgn="base"/>
            <a:r>
              <a:rPr lang="en-US" dirty="0"/>
              <a:t>200.1.2.</a:t>
            </a:r>
            <a:r>
              <a:rPr lang="en-US" b="1" dirty="0"/>
              <a:t>1</a:t>
            </a:r>
            <a:r>
              <a:rPr lang="en-US" dirty="0"/>
              <a:t>0000000 = 200.1.2.128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4221088"/>
            <a:ext cx="6257925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4478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For 1st Subnet-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/>
            <a:r>
              <a:rPr lang="en-US" dirty="0"/>
              <a:t>IP Address of the subnet = 200.1.2.0</a:t>
            </a:r>
          </a:p>
          <a:p>
            <a:pPr fontAlgn="base"/>
            <a:r>
              <a:rPr lang="en-US" dirty="0"/>
              <a:t>Total number of IP Addresses = 2</a:t>
            </a:r>
            <a:r>
              <a:rPr lang="en-US" baseline="30000" dirty="0"/>
              <a:t>7</a:t>
            </a:r>
            <a:r>
              <a:rPr lang="en-US" dirty="0"/>
              <a:t> = 128</a:t>
            </a:r>
          </a:p>
          <a:p>
            <a:pPr fontAlgn="base"/>
            <a:r>
              <a:rPr lang="en-US" dirty="0"/>
              <a:t>Total number of hosts that can be configured = 128 – 2 = 126</a:t>
            </a:r>
          </a:p>
          <a:p>
            <a:pPr fontAlgn="base"/>
            <a:r>
              <a:rPr lang="en-US" dirty="0"/>
              <a:t>Range of IP Addresses = [200.1.2.</a:t>
            </a:r>
            <a:r>
              <a:rPr lang="en-US" b="1" dirty="0"/>
              <a:t>0</a:t>
            </a:r>
            <a:r>
              <a:rPr lang="en-US" dirty="0"/>
              <a:t>0000000, 200.1.2.</a:t>
            </a:r>
            <a:r>
              <a:rPr lang="en-US" b="1" dirty="0"/>
              <a:t>0</a:t>
            </a:r>
            <a:r>
              <a:rPr lang="en-US" dirty="0"/>
              <a:t>1111111] = [200.1.2.0, 200.1.2.127]</a:t>
            </a:r>
          </a:p>
          <a:p>
            <a:pPr fontAlgn="base"/>
            <a:r>
              <a:rPr lang="en-US" dirty="0"/>
              <a:t>Direct Broadcast Address = 200.1.2.</a:t>
            </a:r>
            <a:r>
              <a:rPr lang="en-US" b="1" dirty="0"/>
              <a:t>0</a:t>
            </a:r>
            <a:r>
              <a:rPr lang="en-US" dirty="0"/>
              <a:t>1111111 = 200.1.2.127</a:t>
            </a:r>
          </a:p>
          <a:p>
            <a:pPr fontAlgn="base"/>
            <a:r>
              <a:rPr lang="en-US" dirty="0"/>
              <a:t>Limited Broadcast Address = 255.255.255.255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For 2nd Subnet-</a:t>
            </a:r>
            <a:endParaRPr lang="en-US" b="1" dirty="0"/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IP Address of the subnet = 200.1.2.128</a:t>
            </a:r>
          </a:p>
          <a:p>
            <a:pPr fontAlgn="base"/>
            <a:r>
              <a:rPr lang="en-US" dirty="0"/>
              <a:t>Total number of IP Addresses = 2</a:t>
            </a:r>
            <a:r>
              <a:rPr lang="en-US" baseline="30000" dirty="0"/>
              <a:t>7</a:t>
            </a:r>
            <a:r>
              <a:rPr lang="en-US" dirty="0"/>
              <a:t> = 128</a:t>
            </a:r>
          </a:p>
          <a:p>
            <a:pPr fontAlgn="base"/>
            <a:r>
              <a:rPr lang="en-US" dirty="0"/>
              <a:t>Total number of hosts that can be configured = 128 – 2 = 126</a:t>
            </a:r>
          </a:p>
          <a:p>
            <a:pPr fontAlgn="base"/>
            <a:r>
              <a:rPr lang="en-US" dirty="0"/>
              <a:t>Range of IP Addresses = [200.1.2.</a:t>
            </a:r>
            <a:r>
              <a:rPr lang="en-US" b="1" dirty="0"/>
              <a:t>1</a:t>
            </a:r>
            <a:r>
              <a:rPr lang="en-US" dirty="0"/>
              <a:t>0000000, 200.1.2.</a:t>
            </a:r>
            <a:r>
              <a:rPr lang="en-US" b="1" dirty="0"/>
              <a:t>1</a:t>
            </a:r>
            <a:r>
              <a:rPr lang="en-US" dirty="0"/>
              <a:t>1111111] = [200.1.2.128, 200.1.2.255]</a:t>
            </a:r>
          </a:p>
          <a:p>
            <a:pPr fontAlgn="base"/>
            <a:r>
              <a:rPr lang="en-US" dirty="0"/>
              <a:t>Direct Broadcast Address = 200.1.2.</a:t>
            </a:r>
            <a:r>
              <a:rPr lang="en-US" b="1" dirty="0"/>
              <a:t>1</a:t>
            </a:r>
            <a:r>
              <a:rPr lang="en-US" dirty="0"/>
              <a:t>1111111 = 200.1.2.255</a:t>
            </a:r>
          </a:p>
          <a:p>
            <a:pPr fontAlgn="base"/>
            <a:r>
              <a:rPr lang="en-US" dirty="0"/>
              <a:t>Limited Broadcast Address = 255.255.255.255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53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Subnetting in Networking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Subnetting in Networking</dc:title>
  <dc:creator>HP</dc:creator>
  <cp:lastModifiedBy>HP</cp:lastModifiedBy>
  <cp:revision>2</cp:revision>
  <dcterms:created xsi:type="dcterms:W3CDTF">2021-05-21T09:27:15Z</dcterms:created>
  <dcterms:modified xsi:type="dcterms:W3CDTF">2021-05-21T09:39:35Z</dcterms:modified>
</cp:coreProperties>
</file>