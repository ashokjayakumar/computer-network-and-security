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6" r:id="rId7"/>
    <p:sldId id="262" r:id="rId8"/>
    <p:sldId id="263" r:id="rId9"/>
    <p:sldId id="264" r:id="rId10"/>
    <p:sldId id="265" r:id="rId11"/>
    <p:sldId id="267" r:id="rId12"/>
    <p:sldId id="273" r:id="rId13"/>
    <p:sldId id="272" r:id="rId14"/>
    <p:sldId id="268" r:id="rId15"/>
    <p:sldId id="270" r:id="rId16"/>
    <p:sldId id="269" r:id="rId17"/>
    <p:sldId id="271"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94" d="100"/>
          <a:sy n="94" d="100"/>
        </p:scale>
        <p:origin x="-882" y="3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03B0ED6-6168-4938-992E-3F75E3C0A707}" type="datetimeFigureOut">
              <a:rPr lang="en-US" smtClean="0"/>
              <a:t>3/12/2025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8A019D-175C-41CB-9428-E2D0CF8F4854}" type="slidenum">
              <a:rPr lang="en-US" smtClean="0"/>
              <a:t>‹#›</a:t>
            </a:fld>
            <a:endParaRPr lang="en-US"/>
          </a:p>
        </p:txBody>
      </p:sp>
    </p:spTree>
    <p:extLst>
      <p:ext uri="{BB962C8B-B14F-4D97-AF65-F5344CB8AC3E}">
        <p14:creationId xmlns:p14="http://schemas.microsoft.com/office/powerpoint/2010/main" val="24241110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03B0ED6-6168-4938-992E-3F75E3C0A707}" type="datetimeFigureOut">
              <a:rPr lang="en-US" smtClean="0"/>
              <a:t>3/12/2025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8A019D-175C-41CB-9428-E2D0CF8F4854}" type="slidenum">
              <a:rPr lang="en-US" smtClean="0"/>
              <a:t>‹#›</a:t>
            </a:fld>
            <a:endParaRPr lang="en-US"/>
          </a:p>
        </p:txBody>
      </p:sp>
    </p:spTree>
    <p:extLst>
      <p:ext uri="{BB962C8B-B14F-4D97-AF65-F5344CB8AC3E}">
        <p14:creationId xmlns:p14="http://schemas.microsoft.com/office/powerpoint/2010/main" val="7559531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03B0ED6-6168-4938-992E-3F75E3C0A707}" type="datetimeFigureOut">
              <a:rPr lang="en-US" smtClean="0"/>
              <a:t>3/12/2025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8A019D-175C-41CB-9428-E2D0CF8F4854}" type="slidenum">
              <a:rPr lang="en-US" smtClean="0"/>
              <a:t>‹#›</a:t>
            </a:fld>
            <a:endParaRPr lang="en-US"/>
          </a:p>
        </p:txBody>
      </p:sp>
    </p:spTree>
    <p:extLst>
      <p:ext uri="{BB962C8B-B14F-4D97-AF65-F5344CB8AC3E}">
        <p14:creationId xmlns:p14="http://schemas.microsoft.com/office/powerpoint/2010/main" val="23522117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03B0ED6-6168-4938-992E-3F75E3C0A707}" type="datetimeFigureOut">
              <a:rPr lang="en-US" smtClean="0"/>
              <a:t>3/12/2025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8A019D-175C-41CB-9428-E2D0CF8F4854}" type="slidenum">
              <a:rPr lang="en-US" smtClean="0"/>
              <a:t>‹#›</a:t>
            </a:fld>
            <a:endParaRPr lang="en-US"/>
          </a:p>
        </p:txBody>
      </p:sp>
    </p:spTree>
    <p:extLst>
      <p:ext uri="{BB962C8B-B14F-4D97-AF65-F5344CB8AC3E}">
        <p14:creationId xmlns:p14="http://schemas.microsoft.com/office/powerpoint/2010/main" val="286147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03B0ED6-6168-4938-992E-3F75E3C0A707}" type="datetimeFigureOut">
              <a:rPr lang="en-US" smtClean="0"/>
              <a:t>3/12/2025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98A019D-175C-41CB-9428-E2D0CF8F4854}" type="slidenum">
              <a:rPr lang="en-US" smtClean="0"/>
              <a:t>‹#›</a:t>
            </a:fld>
            <a:endParaRPr lang="en-US"/>
          </a:p>
        </p:txBody>
      </p:sp>
    </p:spTree>
    <p:extLst>
      <p:ext uri="{BB962C8B-B14F-4D97-AF65-F5344CB8AC3E}">
        <p14:creationId xmlns:p14="http://schemas.microsoft.com/office/powerpoint/2010/main" val="646278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03B0ED6-6168-4938-992E-3F75E3C0A707}" type="datetimeFigureOut">
              <a:rPr lang="en-US" smtClean="0"/>
              <a:t>3/12/2025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8A019D-175C-41CB-9428-E2D0CF8F4854}" type="slidenum">
              <a:rPr lang="en-US" smtClean="0"/>
              <a:t>‹#›</a:t>
            </a:fld>
            <a:endParaRPr lang="en-US"/>
          </a:p>
        </p:txBody>
      </p:sp>
    </p:spTree>
    <p:extLst>
      <p:ext uri="{BB962C8B-B14F-4D97-AF65-F5344CB8AC3E}">
        <p14:creationId xmlns:p14="http://schemas.microsoft.com/office/powerpoint/2010/main" val="9696648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3B0ED6-6168-4938-992E-3F75E3C0A707}" type="datetimeFigureOut">
              <a:rPr lang="en-US" smtClean="0"/>
              <a:t>3/12/2025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98A019D-175C-41CB-9428-E2D0CF8F4854}" type="slidenum">
              <a:rPr lang="en-US" smtClean="0"/>
              <a:t>‹#›</a:t>
            </a:fld>
            <a:endParaRPr lang="en-US"/>
          </a:p>
        </p:txBody>
      </p:sp>
    </p:spTree>
    <p:extLst>
      <p:ext uri="{BB962C8B-B14F-4D97-AF65-F5344CB8AC3E}">
        <p14:creationId xmlns:p14="http://schemas.microsoft.com/office/powerpoint/2010/main" val="8955632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03B0ED6-6168-4938-992E-3F75E3C0A707}" type="datetimeFigureOut">
              <a:rPr lang="en-US" smtClean="0"/>
              <a:t>3/12/2025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8A019D-175C-41CB-9428-E2D0CF8F4854}" type="slidenum">
              <a:rPr lang="en-US" smtClean="0"/>
              <a:t>‹#›</a:t>
            </a:fld>
            <a:endParaRPr lang="en-US"/>
          </a:p>
        </p:txBody>
      </p:sp>
    </p:spTree>
    <p:extLst>
      <p:ext uri="{BB962C8B-B14F-4D97-AF65-F5344CB8AC3E}">
        <p14:creationId xmlns:p14="http://schemas.microsoft.com/office/powerpoint/2010/main" val="25024775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03B0ED6-6168-4938-992E-3F75E3C0A707}" type="datetimeFigureOut">
              <a:rPr lang="en-US" smtClean="0"/>
              <a:t>3/12/2025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8A019D-175C-41CB-9428-E2D0CF8F4854}" type="slidenum">
              <a:rPr lang="en-US" smtClean="0"/>
              <a:t>‹#›</a:t>
            </a:fld>
            <a:endParaRPr lang="en-US"/>
          </a:p>
        </p:txBody>
      </p:sp>
    </p:spTree>
    <p:extLst>
      <p:ext uri="{BB962C8B-B14F-4D97-AF65-F5344CB8AC3E}">
        <p14:creationId xmlns:p14="http://schemas.microsoft.com/office/powerpoint/2010/main" val="1506567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03B0ED6-6168-4938-992E-3F75E3C0A707}" type="datetimeFigureOut">
              <a:rPr lang="en-US" smtClean="0"/>
              <a:t>3/12/2025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8A019D-175C-41CB-9428-E2D0CF8F4854}" type="slidenum">
              <a:rPr lang="en-US" smtClean="0"/>
              <a:t>‹#›</a:t>
            </a:fld>
            <a:endParaRPr lang="en-US"/>
          </a:p>
        </p:txBody>
      </p:sp>
    </p:spTree>
    <p:extLst>
      <p:ext uri="{BB962C8B-B14F-4D97-AF65-F5344CB8AC3E}">
        <p14:creationId xmlns:p14="http://schemas.microsoft.com/office/powerpoint/2010/main" val="16890025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03B0ED6-6168-4938-992E-3F75E3C0A707}" type="datetimeFigureOut">
              <a:rPr lang="en-US" smtClean="0"/>
              <a:t>3/12/2025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8A019D-175C-41CB-9428-E2D0CF8F4854}" type="slidenum">
              <a:rPr lang="en-US" smtClean="0"/>
              <a:t>‹#›</a:t>
            </a:fld>
            <a:endParaRPr lang="en-US"/>
          </a:p>
        </p:txBody>
      </p:sp>
    </p:spTree>
    <p:extLst>
      <p:ext uri="{BB962C8B-B14F-4D97-AF65-F5344CB8AC3E}">
        <p14:creationId xmlns:p14="http://schemas.microsoft.com/office/powerpoint/2010/main" val="16167891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3B0ED6-6168-4938-992E-3F75E3C0A707}" type="datetimeFigureOut">
              <a:rPr lang="en-US" smtClean="0"/>
              <a:t>3/12/2025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8A019D-175C-41CB-9428-E2D0CF8F4854}" type="slidenum">
              <a:rPr lang="en-US" smtClean="0"/>
              <a:t>‹#›</a:t>
            </a:fld>
            <a:endParaRPr lang="en-US"/>
          </a:p>
        </p:txBody>
      </p:sp>
    </p:spTree>
    <p:extLst>
      <p:ext uri="{BB962C8B-B14F-4D97-AF65-F5344CB8AC3E}">
        <p14:creationId xmlns:p14="http://schemas.microsoft.com/office/powerpoint/2010/main" val="19299184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NETWORK &amp; UDP PROTOCOLS</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8239690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UDP (User datagram protocol</a:t>
            </a:r>
            <a:r>
              <a:rPr lang="en-US" b="1" dirty="0" smtClean="0"/>
              <a:t>)</a:t>
            </a:r>
            <a:endParaRPr lang="en-US" dirty="0"/>
          </a:p>
        </p:txBody>
      </p:sp>
      <p:sp>
        <p:nvSpPr>
          <p:cNvPr id="3" name="Content Placeholder 2"/>
          <p:cNvSpPr>
            <a:spLocks noGrp="1"/>
          </p:cNvSpPr>
          <p:nvPr>
            <p:ph idx="1"/>
          </p:nvPr>
        </p:nvSpPr>
        <p:spPr/>
        <p:txBody>
          <a:bodyPr/>
          <a:lstStyle/>
          <a:p>
            <a:pPr algn="just">
              <a:lnSpc>
                <a:spcPct val="150000"/>
              </a:lnSpc>
            </a:pPr>
            <a:r>
              <a:rPr lang="en-US" dirty="0"/>
              <a:t>UDP is a set of rules used to send data between computers over internet. For data transmission, </a:t>
            </a:r>
            <a:r>
              <a:rPr lang="en-US" dirty="0" smtClean="0"/>
              <a:t>This protocol </a:t>
            </a:r>
            <a:r>
              <a:rPr lang="en-US" dirty="0"/>
              <a:t>needs no connection between the computers. This protocol will not guarantee the delivery of data between systems.</a:t>
            </a:r>
          </a:p>
        </p:txBody>
      </p:sp>
    </p:spTree>
    <p:extLst>
      <p:ext uri="{BB962C8B-B14F-4D97-AF65-F5344CB8AC3E}">
        <p14:creationId xmlns:p14="http://schemas.microsoft.com/office/powerpoint/2010/main" val="6085214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75450" y="2492896"/>
            <a:ext cx="8195410" cy="28083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961682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04664"/>
            <a:ext cx="8229600" cy="6264696"/>
          </a:xfrm>
        </p:spPr>
        <p:txBody>
          <a:bodyPr>
            <a:normAutofit fontScale="62500" lnSpcReduction="20000"/>
          </a:bodyPr>
          <a:lstStyle/>
          <a:p>
            <a:pPr algn="just" fontAlgn="base">
              <a:lnSpc>
                <a:spcPct val="170000"/>
              </a:lnSpc>
            </a:pPr>
            <a:r>
              <a:rPr lang="en-US" b="1" dirty="0"/>
              <a:t>The UDP header consists of four fields each of 2 bytes in length –</a:t>
            </a:r>
            <a:endParaRPr lang="en-US" dirty="0"/>
          </a:p>
          <a:p>
            <a:pPr algn="just" fontAlgn="base">
              <a:lnSpc>
                <a:spcPct val="170000"/>
              </a:lnSpc>
            </a:pPr>
            <a:r>
              <a:rPr lang="en-US" b="1" dirty="0"/>
              <a:t>Source Port</a:t>
            </a:r>
            <a:r>
              <a:rPr lang="en-US" dirty="0"/>
              <a:t> (16 bits) – This field identifies the sender’s port. Cleared to zero if not used.</a:t>
            </a:r>
          </a:p>
          <a:p>
            <a:pPr algn="just" fontAlgn="base">
              <a:lnSpc>
                <a:spcPct val="170000"/>
              </a:lnSpc>
            </a:pPr>
            <a:r>
              <a:rPr lang="en-US" b="1" dirty="0"/>
              <a:t>Destination Port</a:t>
            </a:r>
            <a:r>
              <a:rPr lang="en-US" dirty="0"/>
              <a:t> (16 bits) – This field identifies the receiver’s port.</a:t>
            </a:r>
          </a:p>
          <a:p>
            <a:pPr algn="just" fontAlgn="base">
              <a:lnSpc>
                <a:spcPct val="170000"/>
              </a:lnSpc>
            </a:pPr>
            <a:r>
              <a:rPr lang="en-US" b="1" dirty="0"/>
              <a:t>Length</a:t>
            </a:r>
            <a:r>
              <a:rPr lang="en-US" dirty="0"/>
              <a:t> (16 bits) – The length in bytes of the UDP header and the encapsulated data. The minimum value for this field is 8.</a:t>
            </a:r>
          </a:p>
          <a:p>
            <a:pPr algn="just" fontAlgn="base">
              <a:lnSpc>
                <a:spcPct val="170000"/>
              </a:lnSpc>
            </a:pPr>
            <a:r>
              <a:rPr lang="en-US" b="1" dirty="0"/>
              <a:t>Checksum</a:t>
            </a:r>
            <a:r>
              <a:rPr lang="en-US" dirty="0"/>
              <a:t> (16 bits) – The checksum field may be used for error-checking of the header and data. This field is optional in IPv4, and mandatory in IPv6. The field carries all-zeros if unused. Needed with zero bytes at the end to make a multiple of two bytes. If the checksum is cleared to zero, then the checksum is disabled. If the computed checksum is zero, then this field must be set to 0xFFFF</a:t>
            </a:r>
          </a:p>
          <a:p>
            <a:pPr algn="just">
              <a:lnSpc>
                <a:spcPct val="170000"/>
              </a:lnSpc>
            </a:pPr>
            <a:endParaRPr lang="en-US" dirty="0"/>
          </a:p>
        </p:txBody>
      </p:sp>
    </p:spTree>
    <p:extLst>
      <p:ext uri="{BB962C8B-B14F-4D97-AF65-F5344CB8AC3E}">
        <p14:creationId xmlns:p14="http://schemas.microsoft.com/office/powerpoint/2010/main" val="22853303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Network Layer Protocol</a:t>
            </a:r>
            <a:endParaRPr lang="en-US" dirty="0"/>
          </a:p>
        </p:txBody>
      </p:sp>
      <p:sp>
        <p:nvSpPr>
          <p:cNvPr id="3" name="Content Placeholder 2"/>
          <p:cNvSpPr>
            <a:spLocks noGrp="1"/>
          </p:cNvSpPr>
          <p:nvPr>
            <p:ph idx="1"/>
          </p:nvPr>
        </p:nvSpPr>
        <p:spPr>
          <a:xfrm>
            <a:off x="457200" y="1412776"/>
            <a:ext cx="8229600" cy="4997152"/>
          </a:xfrm>
        </p:spPr>
        <p:txBody>
          <a:bodyPr>
            <a:normAutofit fontScale="70000" lnSpcReduction="20000"/>
          </a:bodyPr>
          <a:lstStyle/>
          <a:p>
            <a:pPr algn="just">
              <a:lnSpc>
                <a:spcPct val="160000"/>
              </a:lnSpc>
            </a:pPr>
            <a:r>
              <a:rPr lang="en-US" b="1" dirty="0"/>
              <a:t>Internet protocol (IP)</a:t>
            </a:r>
            <a:endParaRPr lang="en-US" dirty="0"/>
          </a:p>
          <a:p>
            <a:pPr algn="just">
              <a:lnSpc>
                <a:spcPct val="160000"/>
              </a:lnSpc>
            </a:pPr>
            <a:r>
              <a:rPr lang="en-US" dirty="0"/>
              <a:t>Internet </a:t>
            </a:r>
            <a:r>
              <a:rPr lang="en-US" dirty="0" smtClean="0"/>
              <a:t>is defined </a:t>
            </a:r>
            <a:r>
              <a:rPr lang="en-US" dirty="0"/>
              <a:t>as an interconnection of </a:t>
            </a:r>
            <a:r>
              <a:rPr lang="en-US" dirty="0" smtClean="0"/>
              <a:t>autonomous </a:t>
            </a:r>
            <a:r>
              <a:rPr lang="en-US" dirty="0"/>
              <a:t>computers located at different points.. </a:t>
            </a:r>
            <a:endParaRPr lang="en-US" dirty="0" smtClean="0"/>
          </a:p>
          <a:p>
            <a:pPr algn="just">
              <a:lnSpc>
                <a:spcPct val="160000"/>
              </a:lnSpc>
            </a:pPr>
            <a:r>
              <a:rPr lang="en-US" dirty="0" smtClean="0"/>
              <a:t>To make  </a:t>
            </a:r>
            <a:r>
              <a:rPr lang="en-US" dirty="0"/>
              <a:t>communication among these computers, we are in need of communication standards (structure, </a:t>
            </a:r>
            <a:r>
              <a:rPr lang="en-US" dirty="0" err="1"/>
              <a:t>etc</a:t>
            </a:r>
            <a:r>
              <a:rPr lang="en-US" dirty="0"/>
              <a:t>). These standards are called </a:t>
            </a:r>
            <a:r>
              <a:rPr lang="en-US" b="1" dirty="0"/>
              <a:t>protocols</a:t>
            </a:r>
            <a:r>
              <a:rPr lang="en-US" dirty="0"/>
              <a:t>. </a:t>
            </a:r>
            <a:endParaRPr lang="en-US" dirty="0" smtClean="0"/>
          </a:p>
          <a:p>
            <a:pPr algn="just">
              <a:lnSpc>
                <a:spcPct val="160000"/>
              </a:lnSpc>
            </a:pPr>
            <a:r>
              <a:rPr lang="en-US" dirty="0" smtClean="0"/>
              <a:t>Therefore </a:t>
            </a:r>
            <a:r>
              <a:rPr lang="en-US" b="1" dirty="0"/>
              <a:t>internet protocol (IP)</a:t>
            </a:r>
            <a:r>
              <a:rPr lang="en-US" dirty="0"/>
              <a:t> is defined as a standard used for </a:t>
            </a:r>
            <a:r>
              <a:rPr lang="en-US" b="1" dirty="0"/>
              <a:t>communicating </a:t>
            </a:r>
            <a:r>
              <a:rPr lang="en-US" b="1" dirty="0" smtClean="0"/>
              <a:t>data packets</a:t>
            </a:r>
            <a:r>
              <a:rPr lang="en-US" dirty="0" smtClean="0"/>
              <a:t> </a:t>
            </a:r>
            <a:r>
              <a:rPr lang="en-US" dirty="0"/>
              <a:t>(datagrams) from source to destination using Internet. In general internet protocol (IP) takes care of handling the actual delivery of data. </a:t>
            </a:r>
          </a:p>
        </p:txBody>
      </p:sp>
    </p:spTree>
    <p:extLst>
      <p:ext uri="{BB962C8B-B14F-4D97-AF65-F5344CB8AC3E}">
        <p14:creationId xmlns:p14="http://schemas.microsoft.com/office/powerpoint/2010/main" val="9618092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074"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32961" t="17169" r="13170" b="17307"/>
          <a:stretch/>
        </p:blipFill>
        <p:spPr bwMode="auto">
          <a:xfrm>
            <a:off x="683568" y="637309"/>
            <a:ext cx="7854731" cy="53716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725869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4624"/>
            <a:ext cx="8229600" cy="6336704"/>
          </a:xfrm>
        </p:spPr>
        <p:txBody>
          <a:bodyPr>
            <a:noAutofit/>
          </a:bodyPr>
          <a:lstStyle/>
          <a:p>
            <a:pPr algn="just"/>
            <a:r>
              <a:rPr lang="en-US" sz="2000" b="1" dirty="0"/>
              <a:t>Version</a:t>
            </a:r>
            <a:endParaRPr lang="en-US" sz="2000" dirty="0"/>
          </a:p>
          <a:p>
            <a:pPr lvl="1" algn="just"/>
            <a:r>
              <a:rPr lang="en-US" sz="1800" dirty="0"/>
              <a:t>It contains the version of the protocol used. For </a:t>
            </a:r>
            <a:r>
              <a:rPr lang="en-US" sz="1800" i="1" dirty="0"/>
              <a:t>example IPV</a:t>
            </a:r>
            <a:r>
              <a:rPr lang="en-US" sz="1800" i="1" baseline="-25000" dirty="0"/>
              <a:t>4</a:t>
            </a:r>
            <a:r>
              <a:rPr lang="en-US" sz="1800" i="1" dirty="0"/>
              <a:t>, IPV</a:t>
            </a:r>
            <a:r>
              <a:rPr lang="en-US" sz="1800" i="1" baseline="-25000" dirty="0"/>
              <a:t>6</a:t>
            </a:r>
            <a:r>
              <a:rPr lang="en-US" sz="1800" dirty="0"/>
              <a:t>.</a:t>
            </a:r>
          </a:p>
          <a:p>
            <a:pPr algn="just"/>
            <a:r>
              <a:rPr lang="en-US" sz="2000" b="1" dirty="0"/>
              <a:t>IHL</a:t>
            </a:r>
            <a:endParaRPr lang="en-US" sz="2000" dirty="0"/>
          </a:p>
          <a:p>
            <a:pPr lvl="1" algn="just"/>
            <a:r>
              <a:rPr lang="en-US" sz="1800" dirty="0"/>
              <a:t>It contains the length of the datagram header in 32 bit </a:t>
            </a:r>
            <a:r>
              <a:rPr lang="en-US" sz="1800" dirty="0" smtClean="0"/>
              <a:t>length.</a:t>
            </a:r>
          </a:p>
          <a:p>
            <a:pPr algn="just"/>
            <a:r>
              <a:rPr lang="en-US" sz="2000" b="1" dirty="0" smtClean="0"/>
              <a:t>Type </a:t>
            </a:r>
            <a:r>
              <a:rPr lang="en-US" sz="2000" b="1" dirty="0"/>
              <a:t>of service</a:t>
            </a:r>
            <a:endParaRPr lang="en-US" sz="2000" dirty="0"/>
          </a:p>
          <a:p>
            <a:pPr lvl="1" algn="just"/>
            <a:r>
              <a:rPr lang="en-US" sz="1800" dirty="0"/>
              <a:t>This is used to tell the subnet about the service it wants. For example, for file transfer, error free transmission is more important than fast transmission.</a:t>
            </a:r>
          </a:p>
          <a:p>
            <a:pPr algn="just"/>
            <a:r>
              <a:rPr lang="en-US" sz="2000" b="1" dirty="0"/>
              <a:t>Total length</a:t>
            </a:r>
            <a:endParaRPr lang="en-US" sz="2000" dirty="0"/>
          </a:p>
          <a:p>
            <a:pPr lvl="1" algn="just"/>
            <a:r>
              <a:rPr lang="en-US" sz="1800" dirty="0"/>
              <a:t>This field contains total length of the datagram including header and data. The maximum length is 65, 535 bytes.</a:t>
            </a:r>
          </a:p>
          <a:p>
            <a:pPr algn="just"/>
            <a:r>
              <a:rPr lang="en-US" sz="2000" b="1" dirty="0"/>
              <a:t>Identification</a:t>
            </a:r>
            <a:endParaRPr lang="en-US" sz="2000" dirty="0"/>
          </a:p>
          <a:p>
            <a:pPr lvl="1" algn="just"/>
            <a:r>
              <a:rPr lang="en-US" sz="1800" dirty="0"/>
              <a:t>The identification number helps the destination in reassembling the datagram.</a:t>
            </a:r>
          </a:p>
          <a:p>
            <a:pPr algn="just"/>
            <a:r>
              <a:rPr lang="en-US" sz="2000" b="1" dirty="0"/>
              <a:t>Flag</a:t>
            </a:r>
            <a:endParaRPr lang="en-US" sz="2000" dirty="0"/>
          </a:p>
          <a:p>
            <a:pPr lvl="1" algn="just"/>
            <a:r>
              <a:rPr lang="en-US" sz="1800" dirty="0"/>
              <a:t>This is a three bit field. First bit is reserved. The next bit is ‘called do not fragment bit. if it is 1, the router will not fragment the datagram because, the destination is incapable of putting the pieces back together again. If 0, the datagram will be fragmented.</a:t>
            </a:r>
          </a:p>
          <a:p>
            <a:pPr algn="just"/>
            <a:endParaRPr lang="en-US" sz="2000" dirty="0"/>
          </a:p>
        </p:txBody>
      </p:sp>
    </p:spTree>
    <p:extLst>
      <p:ext uri="{BB962C8B-B14F-4D97-AF65-F5344CB8AC3E}">
        <p14:creationId xmlns:p14="http://schemas.microsoft.com/office/powerpoint/2010/main" val="13836048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76672"/>
            <a:ext cx="8229600" cy="6120680"/>
          </a:xfrm>
        </p:spPr>
        <p:txBody>
          <a:bodyPr>
            <a:noAutofit/>
          </a:bodyPr>
          <a:lstStyle/>
          <a:p>
            <a:pPr algn="just"/>
            <a:r>
              <a:rPr lang="en-US" sz="1800" b="1" dirty="0" smtClean="0"/>
              <a:t>Fragment offset</a:t>
            </a:r>
            <a:endParaRPr lang="en-US" sz="1800" dirty="0" smtClean="0"/>
          </a:p>
          <a:p>
            <a:pPr lvl="1" algn="just"/>
            <a:r>
              <a:rPr lang="en-US" sz="1600" dirty="0" smtClean="0"/>
              <a:t>This value tells the relative position of the fragment (portion) within the datagram.</a:t>
            </a:r>
          </a:p>
          <a:p>
            <a:pPr algn="just"/>
            <a:r>
              <a:rPr lang="en-US" sz="1800" b="1" dirty="0" smtClean="0"/>
              <a:t>Time to live</a:t>
            </a:r>
            <a:endParaRPr lang="en-US" sz="1800" dirty="0" smtClean="0"/>
          </a:p>
          <a:p>
            <a:pPr lvl="1" algn="just"/>
            <a:r>
              <a:rPr lang="en-US" sz="1600" dirty="0" smtClean="0"/>
              <a:t>This value is used to control the packet life time. This contains a counter. For each hop (jump) from one router to other the counter value will be decremented.</a:t>
            </a:r>
          </a:p>
          <a:p>
            <a:pPr algn="just"/>
            <a:r>
              <a:rPr lang="en-US" sz="1800" b="1" dirty="0" smtClean="0"/>
              <a:t>Protocol</a:t>
            </a:r>
            <a:endParaRPr lang="en-US" sz="1800" dirty="0" smtClean="0"/>
          </a:p>
          <a:p>
            <a:pPr lvl="1" algn="just"/>
            <a:r>
              <a:rPr lang="en-US" sz="1600" dirty="0" smtClean="0"/>
              <a:t>This field defines the higher level protocol that uses the services of IP layer.</a:t>
            </a:r>
          </a:p>
          <a:p>
            <a:pPr algn="just"/>
            <a:r>
              <a:rPr lang="en-US" sz="1800" b="1" dirty="0" smtClean="0"/>
              <a:t>Header checksum</a:t>
            </a:r>
            <a:endParaRPr lang="en-US" sz="1800" dirty="0" smtClean="0"/>
          </a:p>
          <a:p>
            <a:pPr lvl="1" algn="just"/>
            <a:r>
              <a:rPr lang="en-US" sz="1600" dirty="0" smtClean="0"/>
              <a:t>This value is used to check the errors generated by bad memory words inside a router.</a:t>
            </a:r>
          </a:p>
          <a:p>
            <a:pPr algn="just"/>
            <a:r>
              <a:rPr lang="en-US" sz="1800" b="1" dirty="0" smtClean="0"/>
              <a:t>Destination address</a:t>
            </a:r>
            <a:endParaRPr lang="en-US" sz="1800" dirty="0" smtClean="0"/>
          </a:p>
          <a:p>
            <a:pPr lvl="1" algn="just"/>
            <a:r>
              <a:rPr lang="en-US" sz="1600" dirty="0" smtClean="0"/>
              <a:t>IP address of the destination.</a:t>
            </a:r>
          </a:p>
          <a:p>
            <a:pPr algn="just"/>
            <a:r>
              <a:rPr lang="en-US" sz="1800" b="1" dirty="0" smtClean="0"/>
              <a:t>Source address</a:t>
            </a:r>
            <a:endParaRPr lang="en-US" sz="1800" dirty="0" smtClean="0"/>
          </a:p>
          <a:p>
            <a:pPr lvl="1" algn="just"/>
            <a:r>
              <a:rPr lang="en-US" sz="1600" dirty="0" smtClean="0"/>
              <a:t>IP address of the source.</a:t>
            </a:r>
          </a:p>
          <a:p>
            <a:pPr algn="just"/>
            <a:r>
              <a:rPr lang="en-US" sz="1800" b="1" dirty="0" smtClean="0"/>
              <a:t>Option</a:t>
            </a:r>
            <a:endParaRPr lang="en-US" sz="1800" dirty="0" smtClean="0"/>
          </a:p>
          <a:p>
            <a:pPr lvl="1" algn="just"/>
            <a:r>
              <a:rPr lang="en-US" sz="1600" dirty="0" smtClean="0"/>
              <a:t>This field is used for network testing and debugging. </a:t>
            </a:r>
          </a:p>
          <a:p>
            <a:pPr algn="just"/>
            <a:r>
              <a:rPr lang="en-US" sz="1800" b="1" dirty="0" smtClean="0"/>
              <a:t>Data</a:t>
            </a:r>
            <a:endParaRPr lang="en-US" sz="1800" dirty="0" smtClean="0"/>
          </a:p>
          <a:p>
            <a:pPr lvl="1" algn="just"/>
            <a:r>
              <a:rPr lang="en-US" sz="1600" dirty="0" smtClean="0"/>
              <a:t>This field contains the user data to be send to the destination.</a:t>
            </a:r>
          </a:p>
          <a:p>
            <a:pPr algn="just"/>
            <a:endParaRPr lang="en-US" sz="1800" dirty="0"/>
          </a:p>
        </p:txBody>
      </p:sp>
    </p:spTree>
    <p:extLst>
      <p:ext uri="{BB962C8B-B14F-4D97-AF65-F5344CB8AC3E}">
        <p14:creationId xmlns:p14="http://schemas.microsoft.com/office/powerpoint/2010/main" val="387570151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Interior gateway protocols (IGP)</a:t>
            </a:r>
            <a:endParaRPr lang="en-US" dirty="0"/>
          </a:p>
        </p:txBody>
      </p:sp>
      <p:sp>
        <p:nvSpPr>
          <p:cNvPr id="3" name="Content Placeholder 2"/>
          <p:cNvSpPr>
            <a:spLocks noGrp="1"/>
          </p:cNvSpPr>
          <p:nvPr>
            <p:ph idx="1"/>
          </p:nvPr>
        </p:nvSpPr>
        <p:spPr/>
        <p:txBody>
          <a:bodyPr>
            <a:normAutofit fontScale="85000" lnSpcReduction="10000"/>
          </a:bodyPr>
          <a:lstStyle/>
          <a:p>
            <a:pPr algn="just">
              <a:lnSpc>
                <a:spcPct val="150000"/>
              </a:lnSpc>
            </a:pPr>
            <a:r>
              <a:rPr lang="en-US" dirty="0" smtClean="0"/>
              <a:t>A </a:t>
            </a:r>
            <a:r>
              <a:rPr lang="en-US" dirty="0"/>
              <a:t>interior gateway protocol is a protocol for exchanging routing information between hosts (terminal) connected in routers within an autonomous network such as LAN. The exchanged routing information will be then used by the Internet protocol (IP) to route the transmission. The following are the different types of interior gateway protocol.</a:t>
            </a:r>
          </a:p>
          <a:p>
            <a:pPr algn="just">
              <a:lnSpc>
                <a:spcPct val="150000"/>
              </a:lnSpc>
            </a:pPr>
            <a:endParaRPr lang="en-US" dirty="0"/>
          </a:p>
        </p:txBody>
      </p:sp>
    </p:spTree>
    <p:extLst>
      <p:ext uri="{BB962C8B-B14F-4D97-AF65-F5344CB8AC3E}">
        <p14:creationId xmlns:p14="http://schemas.microsoft.com/office/powerpoint/2010/main" val="344297130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52736"/>
            <a:ext cx="8229600" cy="5472608"/>
          </a:xfrm>
        </p:spPr>
        <p:txBody>
          <a:bodyPr/>
          <a:lstStyle/>
          <a:p>
            <a:r>
              <a:rPr lang="en-US" b="1" dirty="0" smtClean="0"/>
              <a:t>ICMPv4</a:t>
            </a:r>
            <a:r>
              <a:rPr lang="en-US" dirty="0" smtClean="0"/>
              <a:t> </a:t>
            </a:r>
            <a:r>
              <a:rPr lang="en-US" dirty="0" smtClean="0"/>
              <a:t>(</a:t>
            </a:r>
            <a:r>
              <a:rPr lang="en-IN" dirty="0" smtClean="0"/>
              <a:t>internet </a:t>
            </a:r>
            <a:r>
              <a:rPr lang="en-IN" dirty="0"/>
              <a:t>Control Message Protocol version 4 </a:t>
            </a:r>
            <a:r>
              <a:rPr lang="en-IN" dirty="0" smtClean="0"/>
              <a:t>)</a:t>
            </a:r>
            <a:r>
              <a:rPr lang="en-US" dirty="0" smtClean="0"/>
              <a:t>– It helps </a:t>
            </a:r>
            <a:r>
              <a:rPr lang="en-US" dirty="0" smtClean="0"/>
              <a:t>IPv4 to handle some errors that may occur in delivery.</a:t>
            </a:r>
          </a:p>
          <a:p>
            <a:r>
              <a:rPr lang="en-US" b="1" dirty="0" smtClean="0"/>
              <a:t>IGMP(</a:t>
            </a:r>
            <a:r>
              <a:rPr lang="en-IN" dirty="0"/>
              <a:t>Internet Group Management Protocol</a:t>
            </a:r>
            <a:r>
              <a:rPr lang="en-US" b="1" dirty="0" smtClean="0"/>
              <a:t>)</a:t>
            </a:r>
            <a:r>
              <a:rPr lang="en-US" dirty="0" smtClean="0"/>
              <a:t> – It is </a:t>
            </a:r>
            <a:r>
              <a:rPr lang="en-US" dirty="0" smtClean="0"/>
              <a:t>used to help IPv4 in multicasting.</a:t>
            </a:r>
          </a:p>
          <a:p>
            <a:r>
              <a:rPr lang="en-US" b="1" dirty="0" smtClean="0"/>
              <a:t>ARP</a:t>
            </a:r>
            <a:r>
              <a:rPr lang="en-US" dirty="0" smtClean="0"/>
              <a:t> </a:t>
            </a:r>
            <a:r>
              <a:rPr lang="en-US" dirty="0" smtClean="0"/>
              <a:t>(</a:t>
            </a:r>
            <a:r>
              <a:rPr lang="en-IN" dirty="0"/>
              <a:t>Address Resolution Protocol</a:t>
            </a:r>
            <a:r>
              <a:rPr lang="en-US" dirty="0" smtClean="0"/>
              <a:t>)– It is </a:t>
            </a:r>
            <a:r>
              <a:rPr lang="en-US" dirty="0" smtClean="0"/>
              <a:t>used in address mapping</a:t>
            </a:r>
          </a:p>
          <a:p>
            <a:r>
              <a:rPr lang="en-US" b="1" dirty="0" smtClean="0"/>
              <a:t>RARP</a:t>
            </a:r>
            <a:r>
              <a:rPr lang="en-US" dirty="0" smtClean="0"/>
              <a:t> </a:t>
            </a:r>
            <a:r>
              <a:rPr lang="en-US" dirty="0" smtClean="0"/>
              <a:t>(</a:t>
            </a:r>
            <a:r>
              <a:rPr lang="en-IN" dirty="0"/>
              <a:t>Reverse Address Resolution Protocol</a:t>
            </a:r>
            <a:r>
              <a:rPr lang="en-US" dirty="0" smtClean="0"/>
              <a:t>)-It </a:t>
            </a:r>
            <a:r>
              <a:rPr lang="en-US" dirty="0"/>
              <a:t>is protocol used to find the IP address of a host terminal.</a:t>
            </a:r>
          </a:p>
          <a:p>
            <a:endParaRPr lang="en-US" dirty="0"/>
          </a:p>
        </p:txBody>
      </p:sp>
    </p:spTree>
    <p:extLst>
      <p:ext uri="{BB962C8B-B14F-4D97-AF65-F5344CB8AC3E}">
        <p14:creationId xmlns:p14="http://schemas.microsoft.com/office/powerpoint/2010/main" val="167642517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384"/>
            <a:ext cx="8229600" cy="1143000"/>
          </a:xfrm>
        </p:spPr>
        <p:txBody>
          <a:bodyPr/>
          <a:lstStyle/>
          <a:p>
            <a:r>
              <a:rPr lang="en-US" dirty="0" smtClean="0"/>
              <a:t>ICMP</a:t>
            </a:r>
            <a:endParaRPr lang="en-US" dirty="0"/>
          </a:p>
        </p:txBody>
      </p:sp>
      <p:sp>
        <p:nvSpPr>
          <p:cNvPr id="3" name="Content Placeholder 2"/>
          <p:cNvSpPr>
            <a:spLocks noGrp="1"/>
          </p:cNvSpPr>
          <p:nvPr>
            <p:ph idx="1"/>
          </p:nvPr>
        </p:nvSpPr>
        <p:spPr>
          <a:xfrm>
            <a:off x="467544" y="980728"/>
            <a:ext cx="8229600" cy="4997152"/>
          </a:xfrm>
        </p:spPr>
        <p:txBody>
          <a:bodyPr>
            <a:normAutofit fontScale="77500" lnSpcReduction="20000"/>
          </a:bodyPr>
          <a:lstStyle/>
          <a:p>
            <a:pPr algn="just">
              <a:lnSpc>
                <a:spcPct val="160000"/>
              </a:lnSpc>
            </a:pPr>
            <a:r>
              <a:rPr lang="en-US" dirty="0"/>
              <a:t>The Internet Control Message Protocol (ICMP) is a </a:t>
            </a:r>
            <a:r>
              <a:rPr lang="en-US" dirty="0" smtClean="0"/>
              <a:t>network </a:t>
            </a:r>
            <a:r>
              <a:rPr lang="en-US" dirty="0"/>
              <a:t>layer protocol used by network devices to diagnose network communication issues</a:t>
            </a:r>
            <a:r>
              <a:rPr lang="en-US" dirty="0" smtClean="0"/>
              <a:t>.</a:t>
            </a:r>
          </a:p>
          <a:p>
            <a:pPr algn="just">
              <a:lnSpc>
                <a:spcPct val="160000"/>
              </a:lnSpc>
            </a:pPr>
            <a:r>
              <a:rPr lang="en-US" dirty="0" smtClean="0"/>
              <a:t> </a:t>
            </a:r>
            <a:r>
              <a:rPr lang="en-US" dirty="0"/>
              <a:t>ICMP is mainly used to determine whether or not data is reaching its intended destination in a timely manner. Commonly, the ICMP protocol is used on network devices, such as routers. </a:t>
            </a:r>
            <a:endParaRPr lang="en-US" dirty="0" smtClean="0"/>
          </a:p>
          <a:p>
            <a:pPr algn="just">
              <a:lnSpc>
                <a:spcPct val="160000"/>
              </a:lnSpc>
            </a:pPr>
            <a:r>
              <a:rPr lang="en-US" dirty="0" smtClean="0"/>
              <a:t>ICMP </a:t>
            </a:r>
            <a:r>
              <a:rPr lang="en-US" dirty="0"/>
              <a:t>is crucial for error reporting and testing, but it can also be used in distributed denial-of-service (DDoS) attacks.</a:t>
            </a:r>
          </a:p>
        </p:txBody>
      </p:sp>
    </p:spTree>
    <p:extLst>
      <p:ext uri="{BB962C8B-B14F-4D97-AF65-F5344CB8AC3E}">
        <p14:creationId xmlns:p14="http://schemas.microsoft.com/office/powerpoint/2010/main" val="161787969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67544" y="1700808"/>
            <a:ext cx="8129396" cy="2791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5081686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3568" y="908720"/>
            <a:ext cx="7824617" cy="53285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734096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76672"/>
            <a:ext cx="8229600" cy="5649491"/>
          </a:xfrm>
        </p:spPr>
        <p:txBody>
          <a:bodyPr>
            <a:normAutofit fontScale="62500" lnSpcReduction="20000"/>
          </a:bodyPr>
          <a:lstStyle/>
          <a:p>
            <a:pPr algn="just">
              <a:lnSpc>
                <a:spcPct val="160000"/>
              </a:lnSpc>
            </a:pPr>
            <a:r>
              <a:rPr lang="en-US" b="1" dirty="0"/>
              <a:t>ARP</a:t>
            </a:r>
            <a:endParaRPr lang="en-US" dirty="0"/>
          </a:p>
          <a:p>
            <a:pPr algn="just">
              <a:lnSpc>
                <a:spcPct val="160000"/>
              </a:lnSpc>
            </a:pPr>
            <a:r>
              <a:rPr lang="en-US" sz="4000" dirty="0"/>
              <a:t>The full form of ARP is address resolution </a:t>
            </a:r>
            <a:r>
              <a:rPr lang="en-US" sz="4000" dirty="0" smtClean="0"/>
              <a:t>protocol.</a:t>
            </a:r>
          </a:p>
          <a:p>
            <a:pPr algn="just">
              <a:lnSpc>
                <a:spcPct val="160000"/>
              </a:lnSpc>
            </a:pPr>
            <a:r>
              <a:rPr lang="en-US" sz="4000" dirty="0" smtClean="0"/>
              <a:t> </a:t>
            </a:r>
            <a:r>
              <a:rPr lang="en-US" sz="4000" dirty="0"/>
              <a:t>It is a network layer protocol used to convert IP address into physical address such as an </a:t>
            </a:r>
            <a:r>
              <a:rPr lang="en-US" sz="4000" dirty="0" smtClean="0"/>
              <a:t>Ethernet </a:t>
            </a:r>
            <a:r>
              <a:rPr lang="en-US" sz="4000" dirty="0"/>
              <a:t>address</a:t>
            </a:r>
            <a:r>
              <a:rPr lang="en-US" sz="4000" dirty="0" smtClean="0"/>
              <a:t>.</a:t>
            </a:r>
          </a:p>
          <a:p>
            <a:pPr algn="just">
              <a:lnSpc>
                <a:spcPct val="160000"/>
              </a:lnSpc>
            </a:pPr>
            <a:r>
              <a:rPr lang="en-US" sz="4000" dirty="0" smtClean="0"/>
              <a:t> </a:t>
            </a:r>
            <a:r>
              <a:rPr lang="en-US" sz="4000" dirty="0"/>
              <a:t>If a host terminal need the physical address of another host, it gives the ARP request to the TCP/IP network terminals with the IP address. </a:t>
            </a:r>
            <a:endParaRPr lang="en-US" sz="4000" dirty="0" smtClean="0"/>
          </a:p>
          <a:p>
            <a:pPr algn="just">
              <a:lnSpc>
                <a:spcPct val="160000"/>
              </a:lnSpc>
            </a:pPr>
            <a:r>
              <a:rPr lang="en-US" sz="4000" dirty="0" smtClean="0"/>
              <a:t>The </a:t>
            </a:r>
            <a:r>
              <a:rPr lang="en-US" sz="4000" dirty="0"/>
              <a:t>host terminal on the network that has the IP address then replies with its physical address to the requesting host terminal.</a:t>
            </a:r>
          </a:p>
          <a:p>
            <a:pPr algn="just">
              <a:lnSpc>
                <a:spcPct val="160000"/>
              </a:lnSpc>
            </a:pPr>
            <a:endParaRPr lang="en-US" sz="4000" dirty="0"/>
          </a:p>
        </p:txBody>
      </p:sp>
    </p:spTree>
    <p:extLst>
      <p:ext uri="{BB962C8B-B14F-4D97-AF65-F5344CB8AC3E}">
        <p14:creationId xmlns:p14="http://schemas.microsoft.com/office/powerpoint/2010/main" val="7868697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098"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23862"/>
          <a:stretch/>
        </p:blipFill>
        <p:spPr bwMode="auto">
          <a:xfrm>
            <a:off x="107504" y="548680"/>
            <a:ext cx="8928992" cy="55858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167786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88640"/>
            <a:ext cx="8229600" cy="5937523"/>
          </a:xfrm>
        </p:spPr>
        <p:txBody>
          <a:bodyPr>
            <a:normAutofit/>
          </a:bodyPr>
          <a:lstStyle/>
          <a:p>
            <a:pPr algn="just"/>
            <a:r>
              <a:rPr lang="en-US" b="1" dirty="0"/>
              <a:t>RARP</a:t>
            </a:r>
            <a:endParaRPr lang="en-US" dirty="0"/>
          </a:p>
          <a:p>
            <a:pPr algn="just"/>
            <a:r>
              <a:rPr lang="en-US" dirty="0"/>
              <a:t>The full form RARP is reverse address resolution protocol. It is protocol used to find the IP address of a host terminal.</a:t>
            </a:r>
          </a:p>
          <a:p>
            <a:pPr algn="just"/>
            <a:r>
              <a:rPr lang="en-US" dirty="0"/>
              <a:t>When a host terminal need its IP address it gives a RARP request to the TCP/IP network terminals. The server on the network recognizes the request and returns the IP address.</a:t>
            </a:r>
          </a:p>
          <a:p>
            <a:pPr algn="just"/>
            <a:endParaRPr lang="en-US" dirty="0"/>
          </a:p>
        </p:txBody>
      </p:sp>
    </p:spTree>
    <p:extLst>
      <p:ext uri="{BB962C8B-B14F-4D97-AF65-F5344CB8AC3E}">
        <p14:creationId xmlns:p14="http://schemas.microsoft.com/office/powerpoint/2010/main" val="3046531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1520" y="692696"/>
            <a:ext cx="8248849" cy="5505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95540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103</TotalTime>
  <Words>733</Words>
  <Application>Microsoft Office PowerPoint</Application>
  <PresentationFormat>On-screen Show (4:3)</PresentationFormat>
  <Paragraphs>59</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NETWORK &amp; UDP PROTOCOLS</vt:lpstr>
      <vt:lpstr>UDP (User datagram protocol)</vt:lpstr>
      <vt:lpstr>PowerPoint Presentation</vt:lpstr>
      <vt:lpstr>PowerPoint Presentation</vt:lpstr>
      <vt:lpstr>Network Layer Protocol</vt:lpstr>
      <vt:lpstr>PowerPoint Presentation</vt:lpstr>
      <vt:lpstr>PowerPoint Presentation</vt:lpstr>
      <vt:lpstr>PowerPoint Presentation</vt:lpstr>
      <vt:lpstr>Interior gateway protocols (IGP)</vt:lpstr>
      <vt:lpstr>PowerPoint Presentation</vt:lpstr>
      <vt:lpstr>ICMP</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Ashok f.</cp:lastModifiedBy>
  <cp:revision>12</cp:revision>
  <dcterms:created xsi:type="dcterms:W3CDTF">2021-05-12T12:12:54Z</dcterms:created>
  <dcterms:modified xsi:type="dcterms:W3CDTF">2025-03-12T06:02:26Z</dcterms:modified>
</cp:coreProperties>
</file>