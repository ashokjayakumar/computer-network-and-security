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1" r:id="rId5"/>
    <p:sldId id="262" r:id="rId6"/>
    <p:sldId id="258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74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A00"/>
    <a:srgbClr val="FBE197"/>
    <a:srgbClr val="F6E56A"/>
    <a:srgbClr val="C125FF"/>
    <a:srgbClr val="5EEC3C"/>
    <a:srgbClr val="FFA3FF"/>
    <a:srgbClr val="FA6AF3"/>
    <a:srgbClr val="D47A02"/>
    <a:srgbClr val="E6B254"/>
    <a:srgbClr val="BF7E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450" y="24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75" y="1197405"/>
            <a:ext cx="7635250" cy="229057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1D3A00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</a:t>
            </a:r>
            <a:r>
              <a:rPr lang="en-US" dirty="0" smtClean="0"/>
              <a:t>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375" y="3487979"/>
            <a:ext cx="7635250" cy="106893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0"/>
            <a:ext cx="7940659" cy="119740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1D3A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502815"/>
            <a:ext cx="7940660" cy="3359510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433880"/>
            <a:ext cx="6413610" cy="916229"/>
          </a:xfrm>
          <a:noFill/>
        </p:spPr>
        <p:txBody>
          <a:bodyPr>
            <a:normAutofit/>
          </a:bodyPr>
          <a:lstStyle>
            <a:lvl1pPr algn="l">
              <a:defRPr sz="3600">
                <a:solidFill>
                  <a:srgbClr val="1D3A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1425" y="1350111"/>
            <a:ext cx="6413610" cy="3359510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0"/>
            <a:ext cx="8246070" cy="119740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1D3A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7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7" y="212791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769394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75" y="1655520"/>
            <a:ext cx="7635250" cy="2290575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Application Layer</a:t>
            </a:r>
            <a:br>
              <a:rPr lang="en-US" sz="4400" b="1" dirty="0" smtClean="0"/>
            </a:br>
            <a:r>
              <a:rPr lang="en-US" sz="4400" b="1" dirty="0" smtClean="0"/>
              <a:t>Protocols</a:t>
            </a:r>
            <a:endParaRPr lang="en-US" sz="4400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application layer is present at the top of the OSI model. </a:t>
            </a:r>
            <a:endParaRPr lang="en-IN" dirty="0" smtClean="0"/>
          </a:p>
          <a:p>
            <a:pPr algn="just"/>
            <a:r>
              <a:rPr lang="en-IN" dirty="0" smtClean="0"/>
              <a:t>It </a:t>
            </a:r>
            <a:r>
              <a:rPr lang="en-IN" dirty="0"/>
              <a:t>is the layer through which users interact. It provides services to the user. </a:t>
            </a:r>
            <a:endParaRPr lang="en-IN" dirty="0" smtClean="0"/>
          </a:p>
          <a:p>
            <a:pPr algn="just"/>
            <a:r>
              <a:rPr lang="en-IN" dirty="0" smtClean="0"/>
              <a:t>Application </a:t>
            </a:r>
            <a:r>
              <a:rPr lang="en-IN" dirty="0"/>
              <a:t>layer performs several kinds of functions which are requirement in any kind of application or communication process.</a:t>
            </a:r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Telnet</a:t>
            </a:r>
            <a:endParaRPr lang="en-US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/>
              <a:t>TELNET</a:t>
            </a:r>
            <a:r>
              <a:rPr lang="en-IN" dirty="0"/>
              <a:t> stands for</a:t>
            </a:r>
            <a:r>
              <a:rPr lang="en-IN" b="1" dirty="0"/>
              <a:t> Tel</a:t>
            </a:r>
            <a:r>
              <a:rPr lang="en-IN" dirty="0"/>
              <a:t>etype </a:t>
            </a:r>
            <a:r>
              <a:rPr lang="en-IN" b="1" dirty="0"/>
              <a:t>Net</a:t>
            </a:r>
            <a:r>
              <a:rPr lang="en-IN" dirty="0"/>
              <a:t>work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It </a:t>
            </a:r>
            <a:r>
              <a:rPr lang="en-IN" dirty="0"/>
              <a:t>is a type of protocol that enables one computer to connect to the </a:t>
            </a:r>
            <a:r>
              <a:rPr lang="en-IN" dirty="0" smtClean="0"/>
              <a:t>remote computer.</a:t>
            </a:r>
          </a:p>
          <a:p>
            <a:pPr algn="just"/>
            <a:r>
              <a:rPr lang="en-IN" dirty="0"/>
              <a:t>The computer which starts the connection is known as the</a:t>
            </a:r>
            <a:r>
              <a:rPr lang="en-IN" b="1" dirty="0"/>
              <a:t> local computer</a:t>
            </a:r>
            <a:r>
              <a:rPr lang="en-IN" dirty="0"/>
              <a:t>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Telnet</a:t>
            </a:r>
            <a:endParaRPr lang="en-US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The computer which </a:t>
            </a:r>
            <a:r>
              <a:rPr lang="en-IN" dirty="0" smtClean="0"/>
              <a:t>accepts </a:t>
            </a:r>
            <a:r>
              <a:rPr lang="en-IN" dirty="0"/>
              <a:t>the connection known as the </a:t>
            </a:r>
            <a:r>
              <a:rPr lang="en-IN" b="1" dirty="0"/>
              <a:t>remote computer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Telnet </a:t>
            </a:r>
            <a:r>
              <a:rPr lang="en-IN" dirty="0"/>
              <a:t>operates on a client/server principle</a:t>
            </a:r>
            <a:r>
              <a:rPr lang="en-IN" dirty="0" smtClean="0"/>
              <a:t>.</a:t>
            </a:r>
          </a:p>
          <a:p>
            <a:pPr algn="just"/>
            <a:r>
              <a:rPr lang="en-IN" dirty="0"/>
              <a:t>The local computer uses a telnet client program and the remote computers use a telnet server program.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74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Telnet </a:t>
            </a:r>
            <a:r>
              <a:rPr lang="en-IN" b="1" dirty="0" smtClean="0"/>
              <a:t>Logging</a:t>
            </a:r>
            <a:endParaRPr lang="en-US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>
              <a:lnSpc>
                <a:spcPct val="150000"/>
              </a:lnSpc>
            </a:pPr>
            <a:r>
              <a:rPr lang="en-IN" dirty="0" smtClean="0"/>
              <a:t>The </a:t>
            </a:r>
            <a:r>
              <a:rPr lang="en-IN" dirty="0"/>
              <a:t>logging process can be further categorized into two parts:</a:t>
            </a:r>
          </a:p>
          <a:p>
            <a:pPr marL="1257300" indent="-514350" fontAlgn="base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Local Login</a:t>
            </a:r>
          </a:p>
          <a:p>
            <a:pPr marL="1257300" indent="-514350" fontAlgn="base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Remote Login</a:t>
            </a:r>
          </a:p>
        </p:txBody>
      </p:sp>
    </p:spTree>
    <p:extLst>
      <p:ext uri="{BB962C8B-B14F-4D97-AF65-F5344CB8AC3E}">
        <p14:creationId xmlns:p14="http://schemas.microsoft.com/office/powerpoint/2010/main" val="385584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57300" indent="-514350" fontAlgn="base">
              <a:lnSpc>
                <a:spcPct val="150000"/>
              </a:lnSpc>
            </a:pPr>
            <a:r>
              <a:rPr lang="en-IN" dirty="0"/>
              <a:t>Local Login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 In local </a:t>
            </a:r>
            <a:r>
              <a:rPr lang="en-IN" dirty="0" smtClean="0"/>
              <a:t>login</a:t>
            </a:r>
            <a:r>
              <a:rPr lang="en-IN" dirty="0"/>
              <a:t>, a user logs into a local </a:t>
            </a:r>
            <a:r>
              <a:rPr lang="en-IN" dirty="0" smtClean="0"/>
              <a:t>system </a:t>
            </a:r>
            <a:r>
              <a:rPr lang="en-IN" dirty="0"/>
              <a:t>and directly connected to the target </a:t>
            </a:r>
            <a:r>
              <a:rPr lang="en-IN" dirty="0" smtClean="0"/>
              <a:t>computer.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omputer Network Telne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61179" y="66240"/>
            <a:ext cx="4477851" cy="50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6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57300" indent="-514350" fontAlgn="base">
              <a:lnSpc>
                <a:spcPct val="150000"/>
              </a:lnSpc>
            </a:pPr>
            <a:r>
              <a:rPr lang="en-IN" dirty="0"/>
              <a:t>Local Login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The terminal driver accepts keystrokes entered by the user when the workstation is running the terminal emulator.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95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57300" indent="-514350" fontAlgn="base">
              <a:lnSpc>
                <a:spcPct val="150000"/>
              </a:lnSpc>
            </a:pPr>
            <a:r>
              <a:rPr lang="en-IN" dirty="0"/>
              <a:t>Local Login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/>
              <a:t>The terminal driver subsequently forwards these characters to the operating system, which launches the required application software.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07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57300" indent="-514350" fontAlgn="base">
              <a:lnSpc>
                <a:spcPct val="150000"/>
              </a:lnSpc>
            </a:pPr>
            <a:r>
              <a:rPr lang="en-IN" dirty="0"/>
              <a:t>Remote Login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/>
              <a:t>In </a:t>
            </a:r>
            <a:r>
              <a:rPr lang="en-IN" dirty="0"/>
              <a:t>a remote login, a user logs into a remote machine when the user wants to access an application program or utility located on a remote machine and connected to target computer through internet. 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419976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2" descr="Computer Network Telne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557" y="739290"/>
            <a:ext cx="6786888" cy="381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10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0"/>
            <a:ext cx="8246070" cy="1197405"/>
          </a:xfrm>
        </p:spPr>
        <p:txBody>
          <a:bodyPr/>
          <a:lstStyle/>
          <a:p>
            <a:pPr marL="1257300" indent="-514350" fontAlgn="base">
              <a:lnSpc>
                <a:spcPct val="150000"/>
              </a:lnSpc>
            </a:pPr>
            <a:r>
              <a:rPr lang="en-IN" b="1" dirty="0">
                <a:effectLst/>
              </a:rPr>
              <a:t>Procedure of </a:t>
            </a:r>
            <a:r>
              <a:rPr lang="en-IN" b="1" dirty="0" smtClean="0">
                <a:effectLst/>
              </a:rPr>
              <a:t>Remote </a:t>
            </a:r>
            <a:r>
              <a:rPr lang="en-IN" b="1" dirty="0">
                <a:effectLst/>
              </a:rPr>
              <a:t>Login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When the user types something on local computer, then local operating system accepts character.</a:t>
            </a:r>
          </a:p>
          <a:p>
            <a:pPr marL="514350" indent="-51435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Local computer does not interpret the characters, it will send them to TELNET client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7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0"/>
            <a:ext cx="8246070" cy="1197405"/>
          </a:xfrm>
        </p:spPr>
        <p:txBody>
          <a:bodyPr/>
          <a:lstStyle/>
          <a:p>
            <a:pPr marL="1257300" indent="-514350" fontAlgn="base">
              <a:lnSpc>
                <a:spcPct val="150000"/>
              </a:lnSpc>
            </a:pPr>
            <a:r>
              <a:rPr lang="en-IN" b="1" dirty="0">
                <a:effectLst/>
              </a:rPr>
              <a:t>Procedure of </a:t>
            </a:r>
            <a:r>
              <a:rPr lang="en-IN" b="1" dirty="0" smtClean="0">
                <a:effectLst/>
              </a:rPr>
              <a:t>Remote </a:t>
            </a:r>
            <a:r>
              <a:rPr lang="en-IN" b="1" dirty="0">
                <a:effectLst/>
              </a:rPr>
              <a:t>Login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 algn="just" fontAlgn="base">
              <a:lnSpc>
                <a:spcPct val="150000"/>
              </a:lnSpc>
              <a:buFont typeface="+mj-lt"/>
              <a:buAutoNum type="arabicPeriod" startAt="3"/>
            </a:pPr>
            <a:r>
              <a:rPr lang="en-IN" dirty="0" smtClean="0"/>
              <a:t>TELNET </a:t>
            </a:r>
            <a:r>
              <a:rPr lang="en-IN" dirty="0"/>
              <a:t>client transforms these characters to a universal character set called</a:t>
            </a:r>
            <a:r>
              <a:rPr lang="en-IN" b="1" dirty="0"/>
              <a:t> Network Virtual Terminal (NVT) characters </a:t>
            </a:r>
            <a:r>
              <a:rPr lang="en-IN" dirty="0"/>
              <a:t>and it will pass them to the local TCP/IP protocol Stack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08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0"/>
            <a:ext cx="8246070" cy="1197405"/>
          </a:xfrm>
        </p:spPr>
        <p:txBody>
          <a:bodyPr/>
          <a:lstStyle/>
          <a:p>
            <a:pPr marL="1257300" indent="-514350" fontAlgn="base">
              <a:lnSpc>
                <a:spcPct val="150000"/>
              </a:lnSpc>
            </a:pPr>
            <a:r>
              <a:rPr lang="en-IN" b="1" dirty="0">
                <a:effectLst/>
              </a:rPr>
              <a:t>Procedure of </a:t>
            </a:r>
            <a:r>
              <a:rPr lang="en-IN" b="1" dirty="0" smtClean="0">
                <a:effectLst/>
              </a:rPr>
              <a:t>Remote </a:t>
            </a:r>
            <a:r>
              <a:rPr lang="en-IN" b="1" dirty="0">
                <a:effectLst/>
              </a:rPr>
              <a:t>Login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 algn="just" fontAlgn="base">
              <a:lnSpc>
                <a:spcPct val="150000"/>
              </a:lnSpc>
              <a:buFont typeface="+mj-lt"/>
              <a:buAutoNum type="arabicPeriod" startAt="4"/>
            </a:pPr>
            <a:r>
              <a:rPr lang="en-IN" dirty="0" smtClean="0"/>
              <a:t>Commands </a:t>
            </a:r>
            <a:r>
              <a:rPr lang="en-IN" dirty="0"/>
              <a:t>or text which is in the form of NVT, travel through Internet and it will arrive at the TCP/IP stack at remote computer.</a:t>
            </a:r>
          </a:p>
          <a:p>
            <a:pPr marL="514350" indent="-514350" algn="just" fontAlgn="base">
              <a:lnSpc>
                <a:spcPct val="150000"/>
              </a:lnSpc>
              <a:buFont typeface="+mj-lt"/>
              <a:buAutoNum type="arabicPeriod" startAt="5"/>
            </a:pPr>
            <a:r>
              <a:rPr lang="en-IN" dirty="0"/>
              <a:t>Characters are then delivered to operating system and which later on passed to TELNET server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24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0"/>
            <a:ext cx="8246070" cy="1197405"/>
          </a:xfrm>
        </p:spPr>
        <p:txBody>
          <a:bodyPr/>
          <a:lstStyle/>
          <a:p>
            <a:pPr marL="1257300" indent="-514350" fontAlgn="base">
              <a:lnSpc>
                <a:spcPct val="150000"/>
              </a:lnSpc>
            </a:pPr>
            <a:r>
              <a:rPr lang="en-IN" b="1" dirty="0">
                <a:effectLst/>
              </a:rPr>
              <a:t>Procedure of </a:t>
            </a:r>
            <a:r>
              <a:rPr lang="en-IN" b="1" dirty="0" smtClean="0">
                <a:effectLst/>
              </a:rPr>
              <a:t>Remote </a:t>
            </a:r>
            <a:r>
              <a:rPr lang="en-IN" b="1" dirty="0">
                <a:effectLst/>
              </a:rPr>
              <a:t>Login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 algn="just" fontAlgn="base">
              <a:lnSpc>
                <a:spcPct val="150000"/>
              </a:lnSpc>
              <a:buFont typeface="+mj-lt"/>
              <a:buAutoNum type="arabicPeriod" startAt="6"/>
            </a:pPr>
            <a:r>
              <a:rPr lang="en-IN" dirty="0" smtClean="0"/>
              <a:t>Then </a:t>
            </a:r>
            <a:r>
              <a:rPr lang="en-IN" dirty="0"/>
              <a:t>TELNET server changes that characters to characters which can be understandable by remote computer</a:t>
            </a:r>
            <a:r>
              <a:rPr lang="en-IN" dirty="0" smtClean="0"/>
              <a:t>.</a:t>
            </a:r>
          </a:p>
          <a:p>
            <a:pPr marL="514350" indent="-514350" algn="just" fontAlgn="base">
              <a:lnSpc>
                <a:spcPct val="150000"/>
              </a:lnSpc>
              <a:buFont typeface="+mj-lt"/>
              <a:buAutoNum type="arabicPeriod" startAt="6"/>
            </a:pPr>
            <a:r>
              <a:rPr lang="en-IN" dirty="0"/>
              <a:t>Remote operating system receives character from a </a:t>
            </a:r>
            <a:r>
              <a:rPr lang="en-IN" b="1" dirty="0"/>
              <a:t>pseudo-terminal </a:t>
            </a:r>
            <a:r>
              <a:rPr lang="en-IN" b="1" dirty="0" smtClean="0"/>
              <a:t>driver.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13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0"/>
            <a:ext cx="8246070" cy="1197405"/>
          </a:xfrm>
        </p:spPr>
        <p:txBody>
          <a:bodyPr/>
          <a:lstStyle/>
          <a:p>
            <a:pPr marL="1257300" indent="-514350" fontAlgn="base">
              <a:lnSpc>
                <a:spcPct val="150000"/>
              </a:lnSpc>
            </a:pPr>
            <a:r>
              <a:rPr lang="en-IN" b="1" dirty="0">
                <a:effectLst/>
              </a:rPr>
              <a:t>Procedure of </a:t>
            </a:r>
            <a:r>
              <a:rPr lang="en-IN" b="1" dirty="0" smtClean="0">
                <a:effectLst/>
              </a:rPr>
              <a:t>Remote </a:t>
            </a:r>
            <a:r>
              <a:rPr lang="en-IN" b="1" dirty="0">
                <a:effectLst/>
              </a:rPr>
              <a:t>Login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n-IN" dirty="0" smtClean="0"/>
              <a:t>	A</a:t>
            </a:r>
            <a:r>
              <a:rPr lang="en-IN" dirty="0"/>
              <a:t> </a:t>
            </a:r>
            <a:r>
              <a:rPr lang="en-IN" b="1" dirty="0"/>
              <a:t>pseudo-terminal driver</a:t>
            </a:r>
            <a:r>
              <a:rPr lang="en-IN" dirty="0" smtClean="0"/>
              <a:t>, </a:t>
            </a:r>
            <a:r>
              <a:rPr lang="en-IN" dirty="0"/>
              <a:t>which is a piece of </a:t>
            </a:r>
            <a:r>
              <a:rPr lang="en-IN" dirty="0" smtClean="0"/>
              <a:t>	software </a:t>
            </a:r>
            <a:r>
              <a:rPr lang="en-IN" dirty="0"/>
              <a:t>that pretends that characters are </a:t>
            </a:r>
            <a:r>
              <a:rPr lang="en-IN" dirty="0" smtClean="0"/>
              <a:t>	coming </a:t>
            </a:r>
            <a:r>
              <a:rPr lang="en-IN" dirty="0"/>
              <a:t>from a terminal.</a:t>
            </a:r>
          </a:p>
          <a:p>
            <a:pPr marL="514350" indent="-514350" algn="just" fontAlgn="base">
              <a:lnSpc>
                <a:spcPct val="150000"/>
              </a:lnSpc>
              <a:buFont typeface="+mj-lt"/>
              <a:buAutoNum type="arabicPeriod" startAt="8"/>
            </a:pPr>
            <a:r>
              <a:rPr lang="en-IN" dirty="0"/>
              <a:t>Operating system then passes character to the appropriate application program.</a:t>
            </a:r>
          </a:p>
        </p:txBody>
      </p:sp>
    </p:spTree>
    <p:extLst>
      <p:ext uri="{BB962C8B-B14F-4D97-AF65-F5344CB8AC3E}">
        <p14:creationId xmlns:p14="http://schemas.microsoft.com/office/powerpoint/2010/main" val="133724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887656"/>
              </p:ext>
            </p:extLst>
          </p:nvPr>
        </p:nvGraphicFramePr>
        <p:xfrm>
          <a:off x="296260" y="1655520"/>
          <a:ext cx="8551480" cy="334999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275731"/>
                <a:gridCol w="4275749"/>
              </a:tblGrid>
              <a:tr h="4531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effectLst/>
                        </a:rPr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effectLst/>
                        </a:rPr>
                        <a:t>Disadvantages</a:t>
                      </a:r>
                    </a:p>
                  </a:txBody>
                  <a:tcPr anchor="ctr"/>
                </a:tc>
              </a:tr>
              <a:tr h="1226566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effectLst/>
                        </a:rPr>
                        <a:t>1. It is versatile.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effectLst/>
                        </a:rPr>
                        <a:t>1. The data exchange is unencrypted, which makes sharing of delicate information like passwords and user IDs unsafe.</a:t>
                      </a:r>
                    </a:p>
                  </a:txBody>
                  <a:tcPr anchor="ctr"/>
                </a:tc>
              </a:tr>
              <a:tr h="793081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</a:rPr>
                        <a:t>2. </a:t>
                      </a:r>
                      <a:r>
                        <a:rPr lang="en-IN" sz="2000" dirty="0" smtClean="0">
                          <a:effectLst/>
                        </a:rPr>
                        <a:t>It provides unlimited access to target resources.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effectLst/>
                        </a:rPr>
                        <a:t>2. Full access makes it easier for hackers to enter.</a:t>
                      </a:r>
                    </a:p>
                  </a:txBody>
                  <a:tcPr anchor="ctr"/>
                </a:tc>
              </a:tr>
              <a:tr h="793081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</a:rPr>
                        <a:t>3. </a:t>
                      </a:r>
                      <a:r>
                        <a:rPr lang="en-IN" sz="2000" dirty="0" smtClean="0">
                          <a:effectLst/>
                        </a:rPr>
                        <a:t>It can be used cross-platform.</a:t>
                      </a:r>
                    </a:p>
                    <a:p>
                      <a:pPr algn="just"/>
                      <a:endParaRPr lang="en-IN" sz="2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effectLst/>
                        </a:rPr>
                        <a:t>3. Using TELNET, only a few servers can be reached.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4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On-screen Show (16:9)</PresentationFormat>
  <Paragraphs>47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Application Layer Protocols</vt:lpstr>
      <vt:lpstr>What is?</vt:lpstr>
      <vt:lpstr>Telnet</vt:lpstr>
      <vt:lpstr>Telnet</vt:lpstr>
      <vt:lpstr>Telnet Logging</vt:lpstr>
      <vt:lpstr>Local Login</vt:lpstr>
      <vt:lpstr>PowerPoint Presentation</vt:lpstr>
      <vt:lpstr>Local Login</vt:lpstr>
      <vt:lpstr>Local Login</vt:lpstr>
      <vt:lpstr>Remote Login</vt:lpstr>
      <vt:lpstr>PowerPoint Presentation</vt:lpstr>
      <vt:lpstr>Procedure of Remote Login</vt:lpstr>
      <vt:lpstr>Procedure of Remote Login</vt:lpstr>
      <vt:lpstr>Procedure of Remote Login</vt:lpstr>
      <vt:lpstr>Procedure of Remote Login</vt:lpstr>
      <vt:lpstr>Procedure of Remote Login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2024-02-17T11:01:27Z</dcterms:modified>
</cp:coreProperties>
</file>