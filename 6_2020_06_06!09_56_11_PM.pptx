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960" r:id="rId1"/>
  </p:sld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2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302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114" d="100"/>
          <a:sy n="114" d="100"/>
        </p:scale>
        <p:origin x="-222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ar-SA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0E891673-FC25-4080-B790-3CD9A4E9DEB9}" type="datetimeFigureOut">
              <a:rPr lang="ar-SA" smtClean="0"/>
              <a:pPr/>
              <a:t>11/10/1441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ar-SA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DA08B826-3BC8-4357-A489-C82B94095E7A}" type="slidenum">
              <a:rPr lang="ar-SA" smtClean="0"/>
              <a:pPr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rtl="1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r" rtl="1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r" rtl="1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r" rtl="1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r" rtl="1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r" rtl="1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r" rtl="1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r" rtl="1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r" rtl="1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r" rtl="1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81200"/>
            <a:ext cx="8458200" cy="1470025"/>
          </a:xfrm>
        </p:spPr>
        <p:txBody>
          <a:bodyPr/>
          <a:lstStyle/>
          <a:p>
            <a:pPr algn="ctr"/>
            <a:r>
              <a:rPr lang="en-US" i="1" dirty="0"/>
              <a:t>The OSI Model and</a:t>
            </a:r>
            <a:br>
              <a:rPr lang="en-US" i="1" dirty="0"/>
            </a:br>
            <a:r>
              <a:rPr lang="en-US" i="1" dirty="0"/>
              <a:t>the TCP/IP Protocol Suite</a:t>
            </a:r>
            <a:endParaRPr lang="ar-S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91000"/>
            <a:ext cx="5334000" cy="1752600"/>
          </a:xfrm>
        </p:spPr>
        <p:txBody>
          <a:bodyPr/>
          <a:lstStyle/>
          <a:p>
            <a:endParaRPr lang="ar-S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/>
          <a:lstStyle/>
          <a:p>
            <a:r>
              <a:rPr lang="en-US" b="1" dirty="0"/>
              <a:t>OBJECTIVES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74336"/>
          </a:xfrm>
        </p:spPr>
        <p:txBody>
          <a:bodyPr>
            <a:normAutofit fontScale="85000" lnSpcReduction="10000"/>
          </a:bodyPr>
          <a:lstStyle/>
          <a:p>
            <a:pPr algn="just" rtl="0"/>
            <a:r>
              <a:rPr lang="en-US" dirty="0"/>
              <a:t>To discuss the idea of </a:t>
            </a:r>
            <a:r>
              <a:rPr lang="en-US" b="1" dirty="0">
                <a:solidFill>
                  <a:srgbClr val="0070C0"/>
                </a:solidFill>
              </a:rPr>
              <a:t>multiple layering </a:t>
            </a:r>
            <a:r>
              <a:rPr lang="en-US" dirty="0"/>
              <a:t>in data communication and  networking and the interrelationship between layers.</a:t>
            </a:r>
          </a:p>
          <a:p>
            <a:pPr algn="just" rtl="0"/>
            <a:r>
              <a:rPr lang="en-US" dirty="0"/>
              <a:t>To discuss the </a:t>
            </a:r>
            <a:r>
              <a:rPr lang="en-US" b="1" dirty="0">
                <a:solidFill>
                  <a:srgbClr val="0070C0"/>
                </a:solidFill>
              </a:rPr>
              <a:t>OSI model </a:t>
            </a:r>
            <a:r>
              <a:rPr lang="en-US" dirty="0"/>
              <a:t>and its layer architecture and to show the interface between the layers.</a:t>
            </a:r>
          </a:p>
          <a:p>
            <a:pPr algn="just" rtl="0"/>
            <a:r>
              <a:rPr lang="en-US" dirty="0"/>
              <a:t>To briefly discuss the </a:t>
            </a:r>
            <a:r>
              <a:rPr lang="en-US" b="1" dirty="0">
                <a:solidFill>
                  <a:srgbClr val="0070C0"/>
                </a:solidFill>
              </a:rPr>
              <a:t>functions of each layer </a:t>
            </a:r>
            <a:r>
              <a:rPr lang="en-US" dirty="0"/>
              <a:t>in the OSI model.</a:t>
            </a:r>
          </a:p>
          <a:p>
            <a:pPr algn="just" rtl="0"/>
            <a:r>
              <a:rPr lang="en-US" dirty="0"/>
              <a:t>To introduce the </a:t>
            </a:r>
            <a:r>
              <a:rPr lang="en-US" b="1" dirty="0">
                <a:solidFill>
                  <a:srgbClr val="0070C0"/>
                </a:solidFill>
              </a:rPr>
              <a:t>TCP/IP protocol</a:t>
            </a:r>
            <a:r>
              <a:rPr lang="en-US" dirty="0"/>
              <a:t> suite and compare its layers with the ones in the OSI model.</a:t>
            </a:r>
          </a:p>
          <a:p>
            <a:pPr algn="just" rtl="0"/>
            <a:r>
              <a:rPr lang="en-US" dirty="0"/>
              <a:t>To show the </a:t>
            </a:r>
            <a:r>
              <a:rPr lang="en-US" b="1" dirty="0">
                <a:solidFill>
                  <a:srgbClr val="0070C0"/>
                </a:solidFill>
              </a:rPr>
              <a:t>functionality of each layer </a:t>
            </a:r>
            <a:r>
              <a:rPr lang="en-US" dirty="0"/>
              <a:t>in the TCP/IP protocol with some examples.</a:t>
            </a:r>
          </a:p>
          <a:p>
            <a:pPr algn="just" rtl="0"/>
            <a:r>
              <a:rPr lang="en-US" dirty="0"/>
              <a:t>To discuss the </a:t>
            </a:r>
            <a:r>
              <a:rPr lang="en-US" b="1" dirty="0">
                <a:solidFill>
                  <a:srgbClr val="0070C0"/>
                </a:solidFill>
              </a:rPr>
              <a:t>addressing mechanism </a:t>
            </a:r>
            <a:r>
              <a:rPr lang="en-US" dirty="0"/>
              <a:t>used in some layers of the TCP/IP protocol suite for the delivery of a message from the source to the destination.</a:t>
            </a:r>
          </a:p>
          <a:p>
            <a:pPr algn="l" rtl="0"/>
            <a:endParaRPr lang="ar-S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/>
          <a:lstStyle/>
          <a:p>
            <a:r>
              <a:rPr lang="en-US" dirty="0"/>
              <a:t>Introduction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219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The layered model that dominated data communication and networking literature </a:t>
            </a:r>
            <a:r>
              <a:rPr lang="en-US" sz="2400" b="1" dirty="0">
                <a:solidFill>
                  <a:srgbClr val="0070C0"/>
                </a:solidFill>
              </a:rPr>
              <a:t>before 1990 </a:t>
            </a:r>
            <a:r>
              <a:rPr lang="en-US" sz="2400" dirty="0"/>
              <a:t>was the </a:t>
            </a:r>
            <a:r>
              <a:rPr lang="en-US" sz="2400" b="1" dirty="0"/>
              <a:t>Open Systems Interconnection (OSI) model. </a:t>
            </a:r>
            <a:r>
              <a:rPr lang="en-US" sz="2400" b="1" dirty="0">
                <a:solidFill>
                  <a:srgbClr val="FF0000"/>
                </a:solidFill>
              </a:rPr>
              <a:t>Everyone believed that the OSI model would become the </a:t>
            </a:r>
            <a:r>
              <a:rPr lang="en-US" sz="2400" dirty="0">
                <a:solidFill>
                  <a:srgbClr val="FF0000"/>
                </a:solidFill>
              </a:rPr>
              <a:t>ultimate standard for data communications—but this did not happen</a:t>
            </a:r>
            <a:r>
              <a:rPr lang="en-US" sz="2400" dirty="0"/>
              <a:t>. The </a:t>
            </a:r>
            <a:r>
              <a:rPr lang="en-US" sz="2400" b="1" dirty="0"/>
              <a:t>TCP/IP protocol suite became the dominant commercial architecture </a:t>
            </a:r>
            <a:r>
              <a:rPr lang="en-US" sz="2400" dirty="0"/>
              <a:t>because it was used and tested extensively in the </a:t>
            </a:r>
            <a:r>
              <a:rPr lang="en-US" sz="2400" b="1" dirty="0">
                <a:solidFill>
                  <a:srgbClr val="FF0000"/>
                </a:solidFill>
              </a:rPr>
              <a:t>Internet</a:t>
            </a:r>
            <a:r>
              <a:rPr lang="en-US" sz="2400" dirty="0"/>
              <a:t>; the OSI model was </a:t>
            </a:r>
            <a:r>
              <a:rPr lang="en-US" sz="2400" b="1" dirty="0">
                <a:solidFill>
                  <a:srgbClr val="0070C0"/>
                </a:solidFill>
              </a:rPr>
              <a:t>never fully implemented</a:t>
            </a:r>
            <a:r>
              <a:rPr lang="en-US" sz="2400" dirty="0"/>
              <a:t>.</a:t>
            </a:r>
            <a:endParaRPr lang="ar-SA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/>
          <a:lstStyle/>
          <a:p>
            <a:r>
              <a:rPr lang="en-US" b="1" dirty="0"/>
              <a:t>PROTOCOL LAYERS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2438400"/>
          </a:xfrm>
        </p:spPr>
        <p:txBody>
          <a:bodyPr/>
          <a:lstStyle/>
          <a:p>
            <a:pPr algn="just" rtl="0"/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protocol</a:t>
            </a:r>
            <a:r>
              <a:rPr lang="en-US" dirty="0"/>
              <a:t> is required when two entities need to communicate.</a:t>
            </a:r>
          </a:p>
          <a:p>
            <a:pPr algn="just" rtl="0"/>
            <a:r>
              <a:rPr lang="en-US" dirty="0"/>
              <a:t>When communication is </a:t>
            </a:r>
            <a:r>
              <a:rPr lang="en-US" b="1" dirty="0">
                <a:solidFill>
                  <a:srgbClr val="0000FF"/>
                </a:solidFill>
              </a:rPr>
              <a:t>not simple</a:t>
            </a:r>
            <a:r>
              <a:rPr lang="en-US" dirty="0"/>
              <a:t>, we may </a:t>
            </a:r>
            <a:r>
              <a:rPr lang="en-US" b="1" dirty="0">
                <a:solidFill>
                  <a:srgbClr val="0000FF"/>
                </a:solidFill>
              </a:rPr>
              <a:t>divide the complex task </a:t>
            </a:r>
            <a:r>
              <a:rPr lang="en-US" dirty="0"/>
              <a:t>of communication into several layers.</a:t>
            </a:r>
            <a:endParaRPr lang="ar-S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5029200"/>
            <a:ext cx="5410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09600" y="38862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b="1" dirty="0"/>
              <a:t>Example  (face to face)</a:t>
            </a:r>
          </a:p>
          <a:p>
            <a:pPr algn="l"/>
            <a:r>
              <a:rPr lang="en-US" sz="2400" dirty="0"/>
              <a:t>Assume Maria and Ann are neighbors with a lot of common ideas.</a:t>
            </a:r>
            <a:endParaRPr lang="ar-SA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458200" cy="2057400"/>
          </a:xfrm>
        </p:spPr>
        <p:txBody>
          <a:bodyPr/>
          <a:lstStyle/>
          <a:p>
            <a:pPr algn="l" rtl="0"/>
            <a:r>
              <a:rPr lang="en-US" dirty="0"/>
              <a:t>Example ( Different Cities)</a:t>
            </a:r>
          </a:p>
          <a:p>
            <a:pPr algn="just" rtl="0"/>
            <a:r>
              <a:rPr lang="en-US" sz="2400" dirty="0"/>
              <a:t>Now assume that Ann has to move to </a:t>
            </a:r>
            <a:r>
              <a:rPr lang="en-US" sz="2400" dirty="0">
                <a:solidFill>
                  <a:srgbClr val="0000FF"/>
                </a:solidFill>
              </a:rPr>
              <a:t>another town </a:t>
            </a:r>
            <a:r>
              <a:rPr lang="en-US" sz="2400" dirty="0"/>
              <a:t>because of her job.</a:t>
            </a:r>
            <a:endParaRPr lang="ar-SA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971800"/>
            <a:ext cx="7058025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/>
          <a:lstStyle/>
          <a:p>
            <a:r>
              <a:rPr lang="en-US" b="1" dirty="0"/>
              <a:t>PROTOCOL LAYERS</a:t>
            </a:r>
            <a:endParaRPr lang="ar-S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r>
              <a:rPr lang="en-US" b="1" dirty="0"/>
              <a:t>Protocol Hierarchies</a:t>
            </a:r>
            <a:endParaRPr lang="ar-SA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0" y="1219200"/>
            <a:ext cx="4419600" cy="5355336"/>
          </a:xfrm>
        </p:spPr>
        <p:txBody>
          <a:bodyPr>
            <a:noAutofit/>
          </a:bodyPr>
          <a:lstStyle/>
          <a:p>
            <a:pPr algn="just" rtl="0"/>
            <a:r>
              <a:rPr lang="en-US" sz="2200" dirty="0"/>
              <a:t>To </a:t>
            </a:r>
            <a:r>
              <a:rPr lang="en-US" sz="2200" dirty="0">
                <a:solidFill>
                  <a:srgbClr val="FF0000"/>
                </a:solidFill>
              </a:rPr>
              <a:t>reduce their design complexity</a:t>
            </a:r>
            <a:r>
              <a:rPr lang="en-US" sz="2200" dirty="0"/>
              <a:t>, most networks are organized as a stack of layers or levels, each one built upon the one below it. </a:t>
            </a:r>
          </a:p>
          <a:p>
            <a:pPr algn="just" rtl="0"/>
            <a:r>
              <a:rPr lang="en-US" sz="2200" dirty="0"/>
              <a:t>The </a:t>
            </a:r>
            <a:r>
              <a:rPr lang="en-US" sz="2200" dirty="0">
                <a:solidFill>
                  <a:srgbClr val="0000FF"/>
                </a:solidFill>
              </a:rPr>
              <a:t>purpose</a:t>
            </a:r>
            <a:r>
              <a:rPr lang="en-US" sz="2200" dirty="0"/>
              <a:t> of each layer is to offer </a:t>
            </a:r>
            <a:r>
              <a:rPr lang="en-US" sz="2200" dirty="0">
                <a:solidFill>
                  <a:srgbClr val="FF0000"/>
                </a:solidFill>
              </a:rPr>
              <a:t>certain services to the higher layers </a:t>
            </a:r>
            <a:r>
              <a:rPr lang="en-US" sz="2200" dirty="0"/>
              <a:t>while shielding those layers from the details of how the offered services are actually implemented. </a:t>
            </a:r>
          </a:p>
          <a:p>
            <a:pPr algn="just" rtl="0"/>
            <a:r>
              <a:rPr lang="en-US" sz="2200" dirty="0"/>
              <a:t>In reality, </a:t>
            </a:r>
            <a:r>
              <a:rPr lang="en-US" sz="2200" dirty="0">
                <a:solidFill>
                  <a:srgbClr val="FF0000"/>
                </a:solidFill>
              </a:rPr>
              <a:t>no data are directly transferred f</a:t>
            </a:r>
            <a:r>
              <a:rPr lang="en-US" sz="2200" dirty="0"/>
              <a:t>rom layer n on one machine to layer n on another machine. </a:t>
            </a:r>
          </a:p>
          <a:p>
            <a:pPr algn="just" rtl="0"/>
            <a:endParaRPr lang="en-US" sz="2200" dirty="0"/>
          </a:p>
          <a:p>
            <a:pPr algn="just" rtl="0">
              <a:buNone/>
            </a:pPr>
            <a:endParaRPr lang="en-US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3000"/>
            <a:ext cx="46196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381000" y="5410200"/>
            <a:ext cx="381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interface</a:t>
            </a:r>
            <a:r>
              <a:rPr lang="en-US" b="1" dirty="0"/>
              <a:t> defines which primitive operations and services the lower layer makes available to the upper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/>
          <a:lstStyle/>
          <a:p>
            <a:r>
              <a:rPr lang="en-US" b="1" dirty="0"/>
              <a:t>THE OSI MODEL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4572000"/>
          </a:xfrm>
        </p:spPr>
        <p:txBody>
          <a:bodyPr/>
          <a:lstStyle/>
          <a:p>
            <a:pPr algn="just" rtl="0"/>
            <a:r>
              <a:rPr lang="en-US" sz="2400" dirty="0"/>
              <a:t>This model is based on a proposal developed by the </a:t>
            </a:r>
            <a:r>
              <a:rPr lang="en-US" sz="2400" dirty="0">
                <a:solidFill>
                  <a:srgbClr val="0000FF"/>
                </a:solidFill>
              </a:rPr>
              <a:t>International Standards Organization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0000FF"/>
                </a:solidFill>
              </a:rPr>
              <a:t>ISO</a:t>
            </a:r>
            <a:r>
              <a:rPr lang="en-US" sz="2400" dirty="0"/>
              <a:t>) as a first step toward international standardization of the protocols used in the various layers.</a:t>
            </a:r>
          </a:p>
          <a:p>
            <a:pPr algn="just" rtl="0"/>
            <a:endParaRPr lang="en-US" sz="1200" dirty="0"/>
          </a:p>
          <a:p>
            <a:pPr algn="just" rtl="0"/>
            <a:r>
              <a:rPr lang="en-US" sz="2400" dirty="0"/>
              <a:t>The model is called the </a:t>
            </a:r>
            <a:r>
              <a:rPr lang="en-US" sz="2400" dirty="0">
                <a:solidFill>
                  <a:srgbClr val="FF0000"/>
                </a:solidFill>
              </a:rPr>
              <a:t>Open Systems Interconnection</a:t>
            </a:r>
            <a:r>
              <a:rPr lang="en-US" sz="2400" dirty="0"/>
              <a:t> (</a:t>
            </a:r>
            <a:r>
              <a:rPr lang="en-US" sz="2400" b="1" dirty="0">
                <a:solidFill>
                  <a:srgbClr val="FF0000"/>
                </a:solidFill>
              </a:rPr>
              <a:t>OSI</a:t>
            </a:r>
            <a:r>
              <a:rPr lang="en-US" sz="2400" dirty="0"/>
              <a:t>) Reference Model because it deals with </a:t>
            </a:r>
            <a:r>
              <a:rPr lang="en-US" sz="2400" b="1" dirty="0"/>
              <a:t>connecting open systems</a:t>
            </a:r>
            <a:r>
              <a:rPr lang="en-US" sz="2400" dirty="0"/>
              <a:t>. It was first introduced in the late 1970s.</a:t>
            </a:r>
          </a:p>
          <a:p>
            <a:pPr algn="just" rtl="0"/>
            <a:endParaRPr lang="en-US" sz="1200" dirty="0"/>
          </a:p>
          <a:p>
            <a:pPr algn="just" rtl="0"/>
            <a:r>
              <a:rPr lang="en-US" sz="2400" dirty="0"/>
              <a:t>An </a:t>
            </a:r>
            <a:r>
              <a:rPr lang="en-US" sz="2400" dirty="0">
                <a:solidFill>
                  <a:srgbClr val="FF0000"/>
                </a:solidFill>
              </a:rPr>
              <a:t>open system </a:t>
            </a:r>
            <a:r>
              <a:rPr lang="en-US" sz="2400" dirty="0"/>
              <a:t>is a set of protocols that allows any two different systems to communicate regardless of their underlying architecture.</a:t>
            </a:r>
          </a:p>
          <a:p>
            <a:pPr algn="just" rtl="0"/>
            <a:endParaRPr lang="ar-S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5638800"/>
            <a:ext cx="566224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5202936"/>
          </a:xfrm>
        </p:spPr>
        <p:txBody>
          <a:bodyPr>
            <a:normAutofit/>
          </a:bodyPr>
          <a:lstStyle/>
          <a:p>
            <a:pPr algn="just" rtl="0"/>
            <a:r>
              <a:rPr lang="en-US" sz="2500" dirty="0"/>
              <a:t>The purpose of the OSI model is to show how to </a:t>
            </a:r>
            <a:r>
              <a:rPr lang="en-US" sz="2500" dirty="0">
                <a:solidFill>
                  <a:srgbClr val="FF0000"/>
                </a:solidFill>
              </a:rPr>
              <a:t>facilitate communication </a:t>
            </a:r>
            <a:r>
              <a:rPr lang="en-US" sz="2500" dirty="0"/>
              <a:t>between different systems </a:t>
            </a:r>
            <a:r>
              <a:rPr lang="en-US" sz="2500" dirty="0">
                <a:solidFill>
                  <a:srgbClr val="0000FF"/>
                </a:solidFill>
              </a:rPr>
              <a:t>without requiring changes </a:t>
            </a:r>
            <a:r>
              <a:rPr lang="en-US" sz="2500" dirty="0"/>
              <a:t>to the logic of the underlying hardware and software. </a:t>
            </a:r>
          </a:p>
          <a:p>
            <a:pPr algn="just" rtl="0"/>
            <a:r>
              <a:rPr lang="en-US" sz="2500" dirty="0"/>
              <a:t>The </a:t>
            </a:r>
            <a:r>
              <a:rPr lang="en-US" sz="2500" dirty="0">
                <a:solidFill>
                  <a:srgbClr val="FF0000"/>
                </a:solidFill>
              </a:rPr>
              <a:t>OSI model is not a protocol</a:t>
            </a:r>
            <a:r>
              <a:rPr lang="en-US" sz="2500" dirty="0"/>
              <a:t>; it is a model for understanding and designing a network architecture that is flexible, robust, and interoperable.</a:t>
            </a:r>
          </a:p>
          <a:p>
            <a:pPr algn="just" rtl="0"/>
            <a:r>
              <a:rPr lang="en-US" sz="2500" dirty="0"/>
              <a:t>The OSI model is a </a:t>
            </a:r>
            <a:r>
              <a:rPr lang="en-US" sz="2500" b="1" dirty="0">
                <a:solidFill>
                  <a:srgbClr val="FF0000"/>
                </a:solidFill>
              </a:rPr>
              <a:t>layered framework </a:t>
            </a:r>
            <a:r>
              <a:rPr lang="en-US" sz="2500" dirty="0"/>
              <a:t>for the design of network systems that allows communication between </a:t>
            </a:r>
            <a:r>
              <a:rPr lang="en-US" sz="2500" dirty="0">
                <a:solidFill>
                  <a:srgbClr val="0000FF"/>
                </a:solidFill>
              </a:rPr>
              <a:t>all types of computer systems.</a:t>
            </a:r>
          </a:p>
          <a:p>
            <a:pPr algn="just" rtl="0"/>
            <a:endParaRPr lang="ar-SA" sz="2400" dirty="0">
              <a:solidFill>
                <a:srgbClr val="0000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/>
          <a:lstStyle/>
          <a:p>
            <a:r>
              <a:rPr lang="en-US" b="1" dirty="0"/>
              <a:t>THE OSI MODEL</a:t>
            </a:r>
            <a:endParaRPr lang="ar-S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1524000"/>
          </a:xfrm>
        </p:spPr>
        <p:txBody>
          <a:bodyPr>
            <a:normAutofit/>
          </a:bodyPr>
          <a:lstStyle/>
          <a:p>
            <a:pPr algn="just" rtl="0"/>
            <a:r>
              <a:rPr lang="en-US" sz="2600" dirty="0"/>
              <a:t>It consists of </a:t>
            </a:r>
            <a:r>
              <a:rPr lang="en-US" sz="2600" dirty="0">
                <a:solidFill>
                  <a:srgbClr val="FF0000"/>
                </a:solidFill>
              </a:rPr>
              <a:t>seven separate but related layers</a:t>
            </a:r>
            <a:r>
              <a:rPr lang="en-US" sz="2600" dirty="0"/>
              <a:t>, each of which defines a part of the process of moving information across a network 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/>
          <a:lstStyle/>
          <a:p>
            <a:r>
              <a:rPr lang="en-US" b="1" dirty="0"/>
              <a:t>THE OSI MODEL</a:t>
            </a:r>
            <a:endParaRPr lang="ar-SA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667000"/>
            <a:ext cx="416242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705600" y="5334000"/>
            <a:ext cx="228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network</a:t>
            </a:r>
            <a:r>
              <a:rPr lang="en-US" b="1" dirty="0"/>
              <a:t> support layers</a:t>
            </a:r>
            <a:endParaRPr lang="ar-SA" b="1" dirty="0"/>
          </a:p>
        </p:txBody>
      </p:sp>
      <p:sp>
        <p:nvSpPr>
          <p:cNvPr id="7" name="Right Brace 6"/>
          <p:cNvSpPr/>
          <p:nvPr/>
        </p:nvSpPr>
        <p:spPr>
          <a:xfrm>
            <a:off x="6553200" y="4953000"/>
            <a:ext cx="457200" cy="1371600"/>
          </a:xfrm>
          <a:prstGeom prst="rightBrace">
            <a:avLst>
              <a:gd name="adj1" fmla="val 41666"/>
              <a:gd name="adj2" fmla="val 46825"/>
            </a:avLst>
          </a:prstGeom>
          <a:noFill/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" name="Right Brace 7"/>
          <p:cNvSpPr/>
          <p:nvPr/>
        </p:nvSpPr>
        <p:spPr>
          <a:xfrm>
            <a:off x="6506028" y="2830284"/>
            <a:ext cx="457200" cy="1371600"/>
          </a:xfrm>
          <a:prstGeom prst="rightBrace">
            <a:avLst>
              <a:gd name="adj1" fmla="val 41666"/>
              <a:gd name="adj2" fmla="val 46825"/>
            </a:avLst>
          </a:prstGeom>
          <a:noFill/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9" name="Rectangle 8"/>
          <p:cNvSpPr/>
          <p:nvPr/>
        </p:nvSpPr>
        <p:spPr>
          <a:xfrm>
            <a:off x="6705600" y="3163669"/>
            <a:ext cx="205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user</a:t>
            </a:r>
            <a:r>
              <a:rPr lang="en-US" b="1" dirty="0"/>
              <a:t> support layers</a:t>
            </a:r>
            <a:endParaRPr lang="ar-SA" b="1" dirty="0"/>
          </a:p>
        </p:txBody>
      </p:sp>
      <p:sp>
        <p:nvSpPr>
          <p:cNvPr id="10" name="Right Brace 9"/>
          <p:cNvSpPr/>
          <p:nvPr/>
        </p:nvSpPr>
        <p:spPr>
          <a:xfrm>
            <a:off x="6553200" y="4343400"/>
            <a:ext cx="304800" cy="381000"/>
          </a:xfrm>
          <a:prstGeom prst="rightBrace">
            <a:avLst>
              <a:gd name="adj1" fmla="val 26322"/>
              <a:gd name="adj2" fmla="val 54444"/>
            </a:avLst>
          </a:prstGeom>
          <a:noFill/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11" name="Rectangle 10"/>
          <p:cNvSpPr/>
          <p:nvPr/>
        </p:nvSpPr>
        <p:spPr>
          <a:xfrm>
            <a:off x="6477000" y="4267200"/>
            <a:ext cx="205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links the two subgroups</a:t>
            </a:r>
            <a:endParaRPr lang="ar-SA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Layered Architecture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219200"/>
            <a:ext cx="3810000" cy="5943600"/>
          </a:xfrm>
        </p:spPr>
        <p:txBody>
          <a:bodyPr>
            <a:noAutofit/>
          </a:bodyPr>
          <a:lstStyle/>
          <a:p>
            <a:pPr algn="just" rtl="0">
              <a:buFont typeface="Arial" pitchFamily="34" charset="0"/>
              <a:buChar char="•"/>
            </a:pPr>
            <a:r>
              <a:rPr lang="en-US" sz="2000" dirty="0"/>
              <a:t>As the message travels from </a:t>
            </a:r>
            <a:r>
              <a:rPr lang="en-US" sz="2000" dirty="0">
                <a:solidFill>
                  <a:srgbClr val="FF0000"/>
                </a:solidFill>
              </a:rPr>
              <a:t>A to B</a:t>
            </a:r>
            <a:r>
              <a:rPr lang="en-US" sz="2000" dirty="0"/>
              <a:t>, it may pass through many </a:t>
            </a:r>
            <a:r>
              <a:rPr lang="en-US" sz="2000" dirty="0">
                <a:solidFill>
                  <a:srgbClr val="0000FF"/>
                </a:solidFill>
              </a:rPr>
              <a:t>intermediate nodes</a:t>
            </a:r>
            <a:r>
              <a:rPr lang="en-US" sz="2000" dirty="0"/>
              <a:t>. These intermediate nodes usually involve </a:t>
            </a:r>
            <a:r>
              <a:rPr lang="en-US" sz="2000" dirty="0">
                <a:solidFill>
                  <a:srgbClr val="0000FF"/>
                </a:solidFill>
              </a:rPr>
              <a:t>only the first three  layers </a:t>
            </a:r>
            <a:r>
              <a:rPr lang="en-US" sz="2000" dirty="0"/>
              <a:t>of the OSI model.</a:t>
            </a:r>
          </a:p>
          <a:p>
            <a:pPr algn="just" rtl="0">
              <a:buFont typeface="Arial" pitchFamily="34" charset="0"/>
              <a:buChar char="•"/>
            </a:pPr>
            <a:r>
              <a:rPr lang="en-US" sz="2000" dirty="0"/>
              <a:t>Each layer defines a </a:t>
            </a:r>
            <a:r>
              <a:rPr lang="en-US" sz="2000" dirty="0">
                <a:solidFill>
                  <a:srgbClr val="0000FF"/>
                </a:solidFill>
              </a:rPr>
              <a:t>family of functions </a:t>
            </a:r>
            <a:r>
              <a:rPr lang="en-US" sz="2000" dirty="0"/>
              <a:t>distinct from those of the other layers.</a:t>
            </a:r>
          </a:p>
          <a:p>
            <a:pPr algn="just" rtl="0"/>
            <a:r>
              <a:rPr lang="en-US" sz="2000" dirty="0"/>
              <a:t>Within a </a:t>
            </a:r>
            <a:r>
              <a:rPr lang="en-US" sz="2000" dirty="0">
                <a:solidFill>
                  <a:srgbClr val="0000FF"/>
                </a:solidFill>
              </a:rPr>
              <a:t>single machine</a:t>
            </a:r>
            <a:r>
              <a:rPr lang="en-US" sz="2000" dirty="0"/>
              <a:t>, each layer calls upon the </a:t>
            </a:r>
            <a:r>
              <a:rPr lang="en-US" sz="2000" dirty="0">
                <a:solidFill>
                  <a:srgbClr val="0000FF"/>
                </a:solidFill>
              </a:rPr>
              <a:t>services of the layer just below it</a:t>
            </a:r>
            <a:r>
              <a:rPr lang="en-US" sz="2000" dirty="0"/>
              <a:t>. </a:t>
            </a:r>
            <a:r>
              <a:rPr lang="en-US" sz="2000" dirty="0">
                <a:solidFill>
                  <a:srgbClr val="FF0000"/>
                </a:solidFill>
              </a:rPr>
              <a:t>Layer 3, for example, uses the services provided by layer 2 and provides services for layer 4.</a:t>
            </a:r>
          </a:p>
          <a:p>
            <a:pPr algn="just" rtl="0">
              <a:buFont typeface="Arial" pitchFamily="34" charset="0"/>
              <a:buChar char="•"/>
            </a:pPr>
            <a:endParaRPr lang="ar-SA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28486"/>
            <a:ext cx="5334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81000" y="5791200"/>
            <a:ext cx="4724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sz="2000" dirty="0"/>
              <a:t>Between machines, </a:t>
            </a:r>
            <a:r>
              <a:rPr lang="en-US" sz="2000" dirty="0">
                <a:solidFill>
                  <a:srgbClr val="FF0000"/>
                </a:solidFill>
              </a:rPr>
              <a:t>layer x </a:t>
            </a:r>
            <a:r>
              <a:rPr lang="en-US" sz="2000" dirty="0"/>
              <a:t>on one machine </a:t>
            </a:r>
            <a:r>
              <a:rPr lang="en-US" sz="2000" b="1" dirty="0"/>
              <a:t>logically communicates </a:t>
            </a:r>
            <a:r>
              <a:rPr lang="en-US" sz="2000" dirty="0"/>
              <a:t>with </a:t>
            </a:r>
            <a:r>
              <a:rPr lang="en-US" sz="2000" dirty="0">
                <a:solidFill>
                  <a:srgbClr val="FF0000"/>
                </a:solidFill>
              </a:rPr>
              <a:t>layer x </a:t>
            </a:r>
            <a:r>
              <a:rPr lang="en-US" sz="2000" dirty="0"/>
              <a:t>on another machine.</a:t>
            </a:r>
            <a:endParaRPr lang="ar-SA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279136"/>
          </a:xfrm>
        </p:spPr>
        <p:txBody>
          <a:bodyPr/>
          <a:lstStyle/>
          <a:p>
            <a:pPr algn="just" rtl="0"/>
            <a:r>
              <a:rPr lang="en-US" b="1" dirty="0">
                <a:solidFill>
                  <a:srgbClr val="0000FF"/>
                </a:solidFill>
              </a:rPr>
              <a:t>Interfaces between Layers</a:t>
            </a:r>
            <a:r>
              <a:rPr lang="en-US" b="1" dirty="0"/>
              <a:t>: </a:t>
            </a:r>
            <a:r>
              <a:rPr lang="en-US" sz="2400" b="1" dirty="0"/>
              <a:t> Each interface </a:t>
            </a:r>
            <a:r>
              <a:rPr lang="en-US" sz="2400" b="1" dirty="0">
                <a:solidFill>
                  <a:srgbClr val="FF0000"/>
                </a:solidFill>
              </a:rPr>
              <a:t>defines what information and services </a:t>
            </a:r>
            <a:r>
              <a:rPr lang="en-US" sz="2400" b="1" dirty="0"/>
              <a:t>a layer must provide for the layer above it.</a:t>
            </a:r>
          </a:p>
          <a:p>
            <a:pPr algn="just" rtl="0"/>
            <a:endParaRPr lang="en-US" sz="2400" b="1" i="1" dirty="0"/>
          </a:p>
          <a:p>
            <a:pPr algn="just" rtl="0"/>
            <a:r>
              <a:rPr lang="en-US" sz="2400" b="1" dirty="0"/>
              <a:t>The </a:t>
            </a:r>
            <a:r>
              <a:rPr lang="en-US" sz="2400" b="1" dirty="0">
                <a:solidFill>
                  <a:srgbClr val="0000FF"/>
                </a:solidFill>
              </a:rPr>
              <a:t>upper OSI layers </a:t>
            </a:r>
            <a:r>
              <a:rPr lang="en-US" sz="2400" b="1" dirty="0"/>
              <a:t>are almost always implemented in </a:t>
            </a:r>
            <a:r>
              <a:rPr lang="en-US" sz="2400" b="1" dirty="0">
                <a:solidFill>
                  <a:srgbClr val="FF0000"/>
                </a:solidFill>
              </a:rPr>
              <a:t>software</a:t>
            </a:r>
            <a:r>
              <a:rPr lang="en-US" sz="2400" b="1" dirty="0"/>
              <a:t>; </a:t>
            </a:r>
            <a:r>
              <a:rPr lang="en-US" sz="2400" b="1" dirty="0">
                <a:solidFill>
                  <a:srgbClr val="0000FF"/>
                </a:solidFill>
              </a:rPr>
              <a:t>lower layers </a:t>
            </a:r>
            <a:r>
              <a:rPr lang="en-US" sz="2400" b="1" dirty="0"/>
              <a:t>are a </a:t>
            </a:r>
            <a:r>
              <a:rPr lang="en-US" sz="2400" b="1" dirty="0">
                <a:solidFill>
                  <a:srgbClr val="FF0000"/>
                </a:solidFill>
              </a:rPr>
              <a:t>combination of hardware and software</a:t>
            </a:r>
            <a:r>
              <a:rPr lang="en-US" sz="2400" b="1" dirty="0"/>
              <a:t>, except for the </a:t>
            </a:r>
            <a:r>
              <a:rPr lang="en-US" sz="2400" b="1" dirty="0">
                <a:solidFill>
                  <a:srgbClr val="0000FF"/>
                </a:solidFill>
              </a:rPr>
              <a:t>physical layer</a:t>
            </a:r>
            <a:r>
              <a:rPr lang="en-US" sz="2400" b="1" dirty="0"/>
              <a:t>, which is </a:t>
            </a:r>
            <a:r>
              <a:rPr lang="en-US" sz="2400" b="1" dirty="0">
                <a:solidFill>
                  <a:srgbClr val="FF0000"/>
                </a:solidFill>
              </a:rPr>
              <a:t>mostly hardware</a:t>
            </a:r>
            <a:r>
              <a:rPr lang="en-US" sz="2400" b="1" dirty="0"/>
              <a:t>.</a:t>
            </a:r>
            <a:endParaRPr lang="ar-SA" sz="2400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Layered Architecture</a:t>
            </a:r>
            <a:endParaRPr lang="ar-SA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Encapsulation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400" y="457200"/>
            <a:ext cx="3124200" cy="6629400"/>
          </a:xfrm>
        </p:spPr>
        <p:txBody>
          <a:bodyPr>
            <a:noAutofit/>
          </a:bodyPr>
          <a:lstStyle/>
          <a:p>
            <a:pPr algn="l" rtl="0"/>
            <a:endParaRPr lang="en-US" sz="2000" dirty="0"/>
          </a:p>
          <a:p>
            <a:pPr algn="just" rtl="0"/>
            <a:r>
              <a:rPr lang="en-US" sz="2000" dirty="0"/>
              <a:t>The process starts at </a:t>
            </a:r>
            <a:r>
              <a:rPr lang="en-US" sz="2000" dirty="0">
                <a:solidFill>
                  <a:srgbClr val="0000FF"/>
                </a:solidFill>
              </a:rPr>
              <a:t>layer 7 (the application layer)</a:t>
            </a:r>
            <a:r>
              <a:rPr lang="en-US" sz="2000" dirty="0"/>
              <a:t>, then moves from layer to layer in descending, sequential order. At each layer, a </a:t>
            </a:r>
            <a:r>
              <a:rPr lang="en-US" sz="2000" b="1" dirty="0">
                <a:solidFill>
                  <a:srgbClr val="FF0000"/>
                </a:solidFill>
              </a:rPr>
              <a:t>header</a:t>
            </a:r>
            <a:r>
              <a:rPr lang="en-US" sz="2000" dirty="0"/>
              <a:t> can be </a:t>
            </a:r>
            <a:r>
              <a:rPr lang="en-US" sz="2000" dirty="0">
                <a:solidFill>
                  <a:srgbClr val="FF0000"/>
                </a:solidFill>
              </a:rPr>
              <a:t>added</a:t>
            </a:r>
            <a:r>
              <a:rPr lang="en-US" sz="2000" dirty="0"/>
              <a:t> to the data unit. </a:t>
            </a:r>
            <a:r>
              <a:rPr lang="en-US" sz="2000" dirty="0">
                <a:solidFill>
                  <a:srgbClr val="0000FF"/>
                </a:solidFill>
              </a:rPr>
              <a:t>At layer 2</a:t>
            </a:r>
            <a:r>
              <a:rPr lang="en-US" sz="2000" dirty="0"/>
              <a:t>, a </a:t>
            </a:r>
            <a:r>
              <a:rPr lang="en-US" sz="2000" b="1" dirty="0">
                <a:solidFill>
                  <a:srgbClr val="FF0000"/>
                </a:solidFill>
              </a:rPr>
              <a:t>trailer</a:t>
            </a:r>
            <a:r>
              <a:rPr lang="en-US" sz="2000" dirty="0"/>
              <a:t> may also be added. When the formatted data unit passes through the physical layer (layer 1), it is changed into an </a:t>
            </a:r>
            <a:r>
              <a:rPr lang="en-US" sz="2000" dirty="0">
                <a:solidFill>
                  <a:srgbClr val="0000FF"/>
                </a:solidFill>
              </a:rPr>
              <a:t>electromagnetic signal</a:t>
            </a:r>
            <a:r>
              <a:rPr lang="en-US" sz="2000" dirty="0"/>
              <a:t> and transported along a physical link.</a:t>
            </a:r>
            <a:endParaRPr lang="ar-SA" sz="2000" dirty="0"/>
          </a:p>
          <a:p>
            <a:pPr algn="l" rtl="0"/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456" y="1219200"/>
            <a:ext cx="5638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04800" y="5553670"/>
            <a:ext cx="5638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b="1" dirty="0"/>
              <a:t>A </a:t>
            </a:r>
            <a:r>
              <a:rPr lang="en-US" b="1" dirty="0">
                <a:solidFill>
                  <a:srgbClr val="0000FF"/>
                </a:solidFill>
              </a:rPr>
              <a:t>packet at level 7 is encapsulated </a:t>
            </a:r>
            <a:r>
              <a:rPr lang="en-US" b="1" dirty="0"/>
              <a:t>in the packet at level 6. The whole packet at level 6 is encapsulated in a packet at level 5, and so on.</a:t>
            </a:r>
            <a:endParaRPr lang="ar-SA" b="1" dirty="0"/>
          </a:p>
        </p:txBody>
      </p:sp>
      <p:sp>
        <p:nvSpPr>
          <p:cNvPr id="6" name="TextBox 5"/>
          <p:cNvSpPr txBox="1"/>
          <p:nvPr/>
        </p:nvSpPr>
        <p:spPr>
          <a:xfrm>
            <a:off x="-112488" y="4347030"/>
            <a:ext cx="762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Bits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243114" y="3995058"/>
            <a:ext cx="9906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Frame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5404" y="3581400"/>
            <a:ext cx="9906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Packet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37886" y="3251202"/>
            <a:ext cx="11430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Segment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384630" y="2100942"/>
            <a:ext cx="1447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Data Unit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2438400"/>
            <a:ext cx="914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PPDU</a:t>
            </a:r>
            <a:endParaRPr lang="ar-SA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54" y="2878240"/>
            <a:ext cx="9144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SPDU</a:t>
            </a:r>
            <a:endParaRPr lang="ar-SA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pPr rtl="0"/>
            <a:r>
              <a:rPr lang="ar-SA" b="1" i="1" dirty="0"/>
              <a:t>  </a:t>
            </a:r>
            <a:r>
              <a:rPr lang="en-US" b="1" i="1" dirty="0"/>
              <a:t>Physical Layer (1)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31536"/>
          </a:xfrm>
        </p:spPr>
        <p:txBody>
          <a:bodyPr/>
          <a:lstStyle/>
          <a:p>
            <a:pPr algn="just" rtl="0"/>
            <a:r>
              <a:rPr lang="en-US" dirty="0"/>
              <a:t>The physical layer </a:t>
            </a:r>
            <a:r>
              <a:rPr lang="en-US" dirty="0">
                <a:solidFill>
                  <a:srgbClr val="FF0000"/>
                </a:solidFill>
              </a:rPr>
              <a:t>coordinates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the functions required to carry a bit stream over </a:t>
            </a:r>
            <a:r>
              <a:rPr lang="en-US" dirty="0"/>
              <a:t>a physical medium. </a:t>
            </a:r>
          </a:p>
          <a:p>
            <a:pPr algn="just" rtl="0"/>
            <a:r>
              <a:rPr lang="en-US" dirty="0"/>
              <a:t>It deals with the </a:t>
            </a:r>
            <a:r>
              <a:rPr lang="en-US" dirty="0">
                <a:solidFill>
                  <a:srgbClr val="FF0000"/>
                </a:solidFill>
              </a:rPr>
              <a:t>mechanical and electrical specifications o</a:t>
            </a:r>
            <a:r>
              <a:rPr lang="en-US" dirty="0"/>
              <a:t>f the interface and transmission media. </a:t>
            </a:r>
          </a:p>
          <a:p>
            <a:pPr algn="just" rtl="0"/>
            <a:r>
              <a:rPr lang="en-US" dirty="0"/>
              <a:t>It also defines the </a:t>
            </a:r>
            <a:r>
              <a:rPr lang="en-US" dirty="0">
                <a:solidFill>
                  <a:srgbClr val="FF0000"/>
                </a:solidFill>
              </a:rPr>
              <a:t>procedures and functions </a:t>
            </a:r>
            <a:r>
              <a:rPr lang="en-US" dirty="0"/>
              <a:t>that physical devices and interfaces have to perform for transmission to occur.</a:t>
            </a:r>
            <a:endParaRPr lang="ar-SA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5410200"/>
            <a:ext cx="7086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943600"/>
          </a:xfrm>
        </p:spPr>
        <p:txBody>
          <a:bodyPr>
            <a:normAutofit/>
          </a:bodyPr>
          <a:lstStyle/>
          <a:p>
            <a:pPr algn="l" rtl="0">
              <a:buFont typeface="Wingdings" pitchFamily="2" charset="2"/>
              <a:buChar char="q"/>
            </a:pPr>
            <a:r>
              <a:rPr lang="en-US" sz="2400" b="1" dirty="0"/>
              <a:t>Physical characteristics of interfaces and media</a:t>
            </a:r>
            <a:r>
              <a:rPr lang="en-US" sz="2400" dirty="0"/>
              <a:t>. </a:t>
            </a:r>
          </a:p>
          <a:p>
            <a:pPr lvl="1" algn="just" rtl="0">
              <a:buFont typeface="Courier New" pitchFamily="49" charset="0"/>
              <a:buChar char="o"/>
            </a:pPr>
            <a:r>
              <a:rPr lang="en-US" sz="2200" dirty="0">
                <a:solidFill>
                  <a:srgbClr val="0070C0"/>
                </a:solidFill>
              </a:rPr>
              <a:t>The physical layer defines the characteristics of  the interface between the devices and the transmission media. </a:t>
            </a:r>
          </a:p>
          <a:p>
            <a:pPr lvl="1" algn="just" rtl="0">
              <a:buFont typeface="Courier New" pitchFamily="49" charset="0"/>
              <a:buChar char="o"/>
            </a:pPr>
            <a:r>
              <a:rPr lang="en-US" sz="2200" dirty="0">
                <a:solidFill>
                  <a:srgbClr val="0070C0"/>
                </a:solidFill>
              </a:rPr>
              <a:t>It also defines the </a:t>
            </a:r>
            <a:r>
              <a:rPr lang="en-US" sz="2200" b="1" dirty="0">
                <a:solidFill>
                  <a:srgbClr val="FF0000"/>
                </a:solidFill>
              </a:rPr>
              <a:t>type of transmission media</a:t>
            </a:r>
            <a:r>
              <a:rPr lang="en-US" sz="2200" dirty="0">
                <a:solidFill>
                  <a:srgbClr val="0070C0"/>
                </a:solidFill>
              </a:rPr>
              <a:t>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sz="2400" b="1" dirty="0"/>
              <a:t> Representation of bits. </a:t>
            </a:r>
          </a:p>
          <a:p>
            <a:pPr lvl="1" algn="just" rtl="0">
              <a:buFont typeface="Courier New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 To be transmitted, </a:t>
            </a:r>
            <a:r>
              <a:rPr lang="en-US" sz="2000" b="1" dirty="0">
                <a:solidFill>
                  <a:srgbClr val="0070C0"/>
                </a:solidFill>
              </a:rPr>
              <a:t>bits must be encoded into signals—electrical or optical</a:t>
            </a:r>
            <a:r>
              <a:rPr lang="en-US" sz="2000" dirty="0">
                <a:solidFill>
                  <a:srgbClr val="0070C0"/>
                </a:solidFill>
              </a:rPr>
              <a:t>. The physical layer defines the </a:t>
            </a:r>
            <a:r>
              <a:rPr lang="en-US" sz="2000" b="1" dirty="0">
                <a:solidFill>
                  <a:srgbClr val="FF0000"/>
                </a:solidFill>
              </a:rPr>
              <a:t>type of encoding</a:t>
            </a:r>
            <a:r>
              <a:rPr lang="en-US" sz="2000" dirty="0">
                <a:solidFill>
                  <a:srgbClr val="0070C0"/>
                </a:solidFill>
              </a:rPr>
              <a:t> (how 0s and 1s are changed to signals).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400" b="1" dirty="0">
                <a:solidFill>
                  <a:schemeClr val="tx1"/>
                </a:solidFill>
              </a:rPr>
              <a:t> Data rate. </a:t>
            </a:r>
          </a:p>
          <a:p>
            <a:pPr lvl="1" algn="just" rtl="0">
              <a:buFont typeface="Courier New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The transmission rate—the </a:t>
            </a:r>
            <a:r>
              <a:rPr lang="en-US" sz="2000" dirty="0">
                <a:solidFill>
                  <a:srgbClr val="FF0000"/>
                </a:solidFill>
              </a:rPr>
              <a:t>number of bits sent each second.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sz="2400" b="1" dirty="0"/>
              <a:t> Synchronization of bits. </a:t>
            </a:r>
          </a:p>
          <a:p>
            <a:pPr lvl="1" algn="l" rtl="0">
              <a:buFont typeface="Courier New" pitchFamily="49" charset="0"/>
              <a:buChar char="o"/>
            </a:pPr>
            <a:r>
              <a:rPr lang="en-US" sz="2000" dirty="0">
                <a:solidFill>
                  <a:srgbClr val="0070C0"/>
                </a:solidFill>
              </a:rPr>
              <a:t>the sender and the receiver </a:t>
            </a:r>
            <a:r>
              <a:rPr lang="en-US" sz="2000" b="1" dirty="0">
                <a:solidFill>
                  <a:srgbClr val="FF0000"/>
                </a:solidFill>
              </a:rPr>
              <a:t>clocks must be synchronized</a:t>
            </a:r>
            <a:r>
              <a:rPr lang="en-US" sz="2000" dirty="0">
                <a:solidFill>
                  <a:srgbClr val="0070C0"/>
                </a:solidFill>
              </a:rPr>
              <a:t>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sz="2400" b="1" dirty="0">
                <a:solidFill>
                  <a:schemeClr val="tx1"/>
                </a:solidFill>
              </a:rPr>
              <a:t>Line configuration (</a:t>
            </a:r>
            <a:r>
              <a:rPr lang="en-US" sz="2000" b="1" dirty="0">
                <a:solidFill>
                  <a:srgbClr val="FF0000"/>
                </a:solidFill>
              </a:rPr>
              <a:t>point-to-point, multipoint</a:t>
            </a:r>
            <a:r>
              <a:rPr lang="en-US" sz="2400" b="1" dirty="0"/>
              <a:t>).</a:t>
            </a:r>
            <a:endParaRPr lang="en-US" sz="2400" b="1" dirty="0">
              <a:solidFill>
                <a:schemeClr val="tx1"/>
              </a:solidFill>
            </a:endParaRPr>
          </a:p>
          <a:p>
            <a:pPr algn="l" rtl="0">
              <a:buFont typeface="Wingdings" pitchFamily="2" charset="2"/>
              <a:buChar char="q"/>
            </a:pPr>
            <a:r>
              <a:rPr lang="en-US" sz="2400" b="1" dirty="0"/>
              <a:t> Physical topology (</a:t>
            </a:r>
            <a:r>
              <a:rPr lang="en-US" sz="2000" b="1" dirty="0">
                <a:solidFill>
                  <a:srgbClr val="FF0000"/>
                </a:solidFill>
              </a:rPr>
              <a:t>mesh, bus, star, ring</a:t>
            </a:r>
            <a:r>
              <a:rPr lang="en-US" sz="2400" b="1" dirty="0"/>
              <a:t>)</a:t>
            </a:r>
          </a:p>
          <a:p>
            <a:pPr algn="l" rtl="0">
              <a:buFont typeface="Wingdings" pitchFamily="2" charset="2"/>
              <a:buChar char="q"/>
            </a:pPr>
            <a:r>
              <a:rPr lang="en-US" sz="2400" b="1" dirty="0"/>
              <a:t>Transmission mode (</a:t>
            </a:r>
            <a:r>
              <a:rPr lang="en-US" sz="2000" b="1" dirty="0">
                <a:solidFill>
                  <a:srgbClr val="FF0000"/>
                </a:solidFill>
              </a:rPr>
              <a:t>simplex mode, half-duplex, full-duplex)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en-US" b="1" i="1" dirty="0"/>
              <a:t>Physical Layer (1)</a:t>
            </a:r>
            <a:endParaRPr lang="ar-SA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/>
          </a:bodyPr>
          <a:lstStyle/>
          <a:p>
            <a:pPr algn="just" rtl="0"/>
            <a:r>
              <a:rPr lang="en-US" dirty="0"/>
              <a:t>The data link layer </a:t>
            </a:r>
            <a:r>
              <a:rPr lang="en-US" dirty="0">
                <a:solidFill>
                  <a:srgbClr val="FF0000"/>
                </a:solidFill>
              </a:rPr>
              <a:t>transforms</a:t>
            </a:r>
            <a:r>
              <a:rPr lang="en-US" dirty="0"/>
              <a:t> the physical layer, a raw transmission facility, </a:t>
            </a:r>
            <a:r>
              <a:rPr lang="en-US" dirty="0">
                <a:solidFill>
                  <a:srgbClr val="FF0000"/>
                </a:solidFill>
              </a:rPr>
              <a:t>to a reliable link</a:t>
            </a:r>
            <a:r>
              <a:rPr lang="en-US" dirty="0"/>
              <a:t>. It makes the </a:t>
            </a:r>
            <a:r>
              <a:rPr lang="en-US" dirty="0">
                <a:solidFill>
                  <a:srgbClr val="FF0000"/>
                </a:solidFill>
              </a:rPr>
              <a:t>physical layer appear error-free </a:t>
            </a:r>
            <a:r>
              <a:rPr lang="en-US" dirty="0"/>
              <a:t>to the upper layer (network layer).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400" b="1" dirty="0"/>
              <a:t>Framing. </a:t>
            </a:r>
          </a:p>
          <a:p>
            <a:pPr lvl="1" algn="just" rtl="0">
              <a:buFont typeface="Arial" pitchFamily="34" charset="0"/>
              <a:buChar char="•"/>
            </a:pPr>
            <a:r>
              <a:rPr lang="en-US" sz="2000" dirty="0">
                <a:solidFill>
                  <a:srgbClr val="0070C0"/>
                </a:solidFill>
              </a:rPr>
              <a:t>The data link layer </a:t>
            </a:r>
            <a:r>
              <a:rPr lang="en-US" sz="2000" dirty="0">
                <a:solidFill>
                  <a:srgbClr val="FF0000"/>
                </a:solidFill>
              </a:rPr>
              <a:t>divides the stream of bits </a:t>
            </a:r>
            <a:r>
              <a:rPr lang="en-US" sz="2000" dirty="0">
                <a:solidFill>
                  <a:srgbClr val="0070C0"/>
                </a:solidFill>
              </a:rPr>
              <a:t>received from the network layer into manageable data units called </a:t>
            </a:r>
            <a:r>
              <a:rPr lang="en-US" sz="2000" dirty="0">
                <a:solidFill>
                  <a:srgbClr val="FF0000"/>
                </a:solidFill>
              </a:rPr>
              <a:t>frames.</a:t>
            </a:r>
          </a:p>
          <a:p>
            <a:pPr lvl="1" algn="just" rtl="0">
              <a:buFont typeface="Wingdings" pitchFamily="2" charset="2"/>
              <a:buChar char="q"/>
            </a:pPr>
            <a:endParaRPr lang="en-US" sz="2000" dirty="0">
              <a:solidFill>
                <a:srgbClr val="FF0000"/>
              </a:solidFill>
            </a:endParaRPr>
          </a:p>
          <a:p>
            <a:pPr algn="l" rtl="0">
              <a:buFont typeface="Wingdings" pitchFamily="2" charset="2"/>
              <a:buChar char="q"/>
            </a:pPr>
            <a:r>
              <a:rPr lang="en-US" sz="2400" b="1" dirty="0"/>
              <a:t>Physical addressing.</a:t>
            </a:r>
            <a:r>
              <a:rPr lang="en-US" b="1" dirty="0"/>
              <a:t> </a:t>
            </a:r>
          </a:p>
          <a:p>
            <a:pPr lvl="1" algn="just" rtl="0"/>
            <a:r>
              <a:rPr lang="en-US" sz="2000" dirty="0">
                <a:solidFill>
                  <a:srgbClr val="0070C0"/>
                </a:solidFill>
              </a:rPr>
              <a:t>If frames are to be distributed to </a:t>
            </a:r>
            <a:r>
              <a:rPr lang="en-US" sz="2000" dirty="0">
                <a:solidFill>
                  <a:srgbClr val="FF0000"/>
                </a:solidFill>
              </a:rPr>
              <a:t>different systems on the network</a:t>
            </a:r>
            <a:r>
              <a:rPr lang="en-US" sz="2000" dirty="0">
                <a:solidFill>
                  <a:srgbClr val="0070C0"/>
                </a:solidFill>
              </a:rPr>
              <a:t>, the data link layer </a:t>
            </a:r>
            <a:r>
              <a:rPr lang="en-US" sz="2000" dirty="0">
                <a:solidFill>
                  <a:srgbClr val="FF0000"/>
                </a:solidFill>
              </a:rPr>
              <a:t>adds a header to the frame </a:t>
            </a:r>
            <a:r>
              <a:rPr lang="en-US" sz="2000" dirty="0">
                <a:solidFill>
                  <a:srgbClr val="0070C0"/>
                </a:solidFill>
              </a:rPr>
              <a:t>to define the sender and/or receiver of the frame. </a:t>
            </a:r>
            <a:r>
              <a:rPr lang="en-US" sz="2000" b="1" dirty="0">
                <a:solidFill>
                  <a:srgbClr val="0000FF"/>
                </a:solidFill>
              </a:rPr>
              <a:t>If the frame is intended for a system outside the sender’s network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b="1" dirty="0">
                <a:solidFill>
                  <a:srgbClr val="0000FF"/>
                </a:solidFill>
              </a:rPr>
              <a:t>the receiver address is the address of the connecting device that connects the network to the next one.</a:t>
            </a:r>
            <a:endParaRPr lang="ar-SA" sz="2000" b="1" dirty="0">
              <a:solidFill>
                <a:srgbClr val="0000FF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pPr rtl="0"/>
            <a:r>
              <a:rPr lang="ar-SA" b="1" i="1" dirty="0"/>
              <a:t> </a:t>
            </a:r>
            <a:r>
              <a:rPr lang="en-US" b="1" i="1" dirty="0"/>
              <a:t>Data Link Layer (2)</a:t>
            </a:r>
            <a:endParaRPr lang="ar-SA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pPr rtl="0"/>
            <a:r>
              <a:rPr lang="ar-SA" b="1" i="1" dirty="0"/>
              <a:t> </a:t>
            </a:r>
            <a:r>
              <a:rPr lang="en-US" b="1" i="1" dirty="0"/>
              <a:t>Data Link Layer (2)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83936"/>
          </a:xfrm>
        </p:spPr>
        <p:txBody>
          <a:bodyPr>
            <a:normAutofit lnSpcReduction="10000"/>
          </a:bodyPr>
          <a:lstStyle/>
          <a:p>
            <a:pPr algn="l" rtl="0">
              <a:buFont typeface="Wingdings" pitchFamily="2" charset="2"/>
              <a:buChar char="q"/>
            </a:pPr>
            <a:r>
              <a:rPr lang="en-US" b="1" dirty="0"/>
              <a:t>Flow control.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400" dirty="0">
                <a:solidFill>
                  <a:srgbClr val="0070C0"/>
                </a:solidFill>
              </a:rPr>
              <a:t>If the </a:t>
            </a:r>
            <a:r>
              <a:rPr lang="en-US" sz="2400" b="1" dirty="0">
                <a:solidFill>
                  <a:srgbClr val="0070C0"/>
                </a:solidFill>
              </a:rPr>
              <a:t>rate</a:t>
            </a:r>
            <a:r>
              <a:rPr lang="en-US" sz="2400" dirty="0">
                <a:solidFill>
                  <a:srgbClr val="0070C0"/>
                </a:solidFill>
              </a:rPr>
              <a:t> at which the data is </a:t>
            </a:r>
            <a:r>
              <a:rPr lang="en-US" sz="2400" dirty="0">
                <a:solidFill>
                  <a:srgbClr val="FF0000"/>
                </a:solidFill>
              </a:rPr>
              <a:t>absorbed</a:t>
            </a:r>
            <a:r>
              <a:rPr lang="en-US" sz="2400" dirty="0">
                <a:solidFill>
                  <a:srgbClr val="0070C0"/>
                </a:solidFill>
              </a:rPr>
              <a:t> by the receiver is less than the </a:t>
            </a:r>
            <a:r>
              <a:rPr lang="en-US" sz="2400" b="1" dirty="0">
                <a:solidFill>
                  <a:srgbClr val="0070C0"/>
                </a:solidFill>
              </a:rPr>
              <a:t>rate</a:t>
            </a:r>
            <a:r>
              <a:rPr lang="en-US" sz="2400" dirty="0">
                <a:solidFill>
                  <a:srgbClr val="0070C0"/>
                </a:solidFill>
              </a:rPr>
              <a:t> produced at the sender, the data link layer imposes a </a:t>
            </a:r>
            <a:r>
              <a:rPr lang="en-US" sz="2400" dirty="0">
                <a:solidFill>
                  <a:srgbClr val="FF0000"/>
                </a:solidFill>
              </a:rPr>
              <a:t>flow control mechanism </a:t>
            </a:r>
            <a:r>
              <a:rPr lang="en-US" sz="2400" dirty="0">
                <a:solidFill>
                  <a:srgbClr val="0070C0"/>
                </a:solidFill>
              </a:rPr>
              <a:t>to prevent </a:t>
            </a:r>
            <a:r>
              <a:rPr lang="en-US" sz="2400" dirty="0">
                <a:solidFill>
                  <a:srgbClr val="FF0000"/>
                </a:solidFill>
              </a:rPr>
              <a:t>overwhelming</a:t>
            </a:r>
            <a:r>
              <a:rPr lang="en-US" sz="2400" dirty="0">
                <a:solidFill>
                  <a:srgbClr val="0070C0"/>
                </a:solidFill>
              </a:rPr>
              <a:t> the receiver.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b="1" dirty="0"/>
              <a:t>Error control.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200" dirty="0">
                <a:solidFill>
                  <a:srgbClr val="0070C0"/>
                </a:solidFill>
              </a:rPr>
              <a:t>The data link layer adds </a:t>
            </a:r>
            <a:r>
              <a:rPr lang="en-US" sz="2200" dirty="0">
                <a:solidFill>
                  <a:srgbClr val="FF0000"/>
                </a:solidFill>
              </a:rPr>
              <a:t>reliability</a:t>
            </a:r>
            <a:r>
              <a:rPr lang="en-US" sz="2200" dirty="0">
                <a:solidFill>
                  <a:srgbClr val="0070C0"/>
                </a:solidFill>
              </a:rPr>
              <a:t> to the physical layer by adding mechanisms to </a:t>
            </a:r>
            <a:r>
              <a:rPr lang="en-US" sz="2200" dirty="0">
                <a:solidFill>
                  <a:srgbClr val="FF0000"/>
                </a:solidFill>
              </a:rPr>
              <a:t>detect and retransmit damaged or lost frames</a:t>
            </a:r>
            <a:r>
              <a:rPr lang="en-US" sz="2200" dirty="0">
                <a:solidFill>
                  <a:srgbClr val="0070C0"/>
                </a:solidFill>
              </a:rPr>
              <a:t>. It also uses a mechanism to recognize duplicate frames. Error control is normally achieved through a </a:t>
            </a:r>
            <a:r>
              <a:rPr lang="en-US" sz="2200" dirty="0">
                <a:solidFill>
                  <a:srgbClr val="FF0000"/>
                </a:solidFill>
              </a:rPr>
              <a:t>trailer added to the end of the frame.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b="1" dirty="0"/>
              <a:t>Access control.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200" dirty="0">
                <a:solidFill>
                  <a:srgbClr val="0070C0"/>
                </a:solidFill>
              </a:rPr>
              <a:t>When two or more devices are connected to the </a:t>
            </a:r>
            <a:r>
              <a:rPr lang="en-US" sz="2200" dirty="0">
                <a:solidFill>
                  <a:srgbClr val="FF0000"/>
                </a:solidFill>
              </a:rPr>
              <a:t>same link</a:t>
            </a:r>
            <a:r>
              <a:rPr lang="en-US" sz="2200" dirty="0">
                <a:solidFill>
                  <a:srgbClr val="0070C0"/>
                </a:solidFill>
              </a:rPr>
              <a:t>, data link layer </a:t>
            </a:r>
            <a:r>
              <a:rPr lang="en-US" sz="2200" dirty="0">
                <a:solidFill>
                  <a:srgbClr val="FF0000"/>
                </a:solidFill>
              </a:rPr>
              <a:t>protocols</a:t>
            </a:r>
            <a:r>
              <a:rPr lang="en-US" sz="2200" dirty="0">
                <a:solidFill>
                  <a:srgbClr val="0070C0"/>
                </a:solidFill>
              </a:rPr>
              <a:t> are necessary to determine which device has control over the link at any </a:t>
            </a:r>
            <a:r>
              <a:rPr lang="en-US" sz="2200" dirty="0">
                <a:solidFill>
                  <a:srgbClr val="FF0000"/>
                </a:solidFill>
              </a:rPr>
              <a:t>given time</a:t>
            </a:r>
            <a:r>
              <a:rPr lang="en-US" sz="2200" dirty="0">
                <a:solidFill>
                  <a:srgbClr val="0070C0"/>
                </a:solidFill>
              </a:rPr>
              <a:t>.</a:t>
            </a:r>
            <a:endParaRPr lang="ar-SA" sz="2200" dirty="0">
              <a:solidFill>
                <a:srgbClr val="0070C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ar-SA" b="1" i="1" dirty="0"/>
              <a:t> </a:t>
            </a:r>
            <a:r>
              <a:rPr lang="en-US" b="1" i="1" dirty="0"/>
              <a:t>Network Layer (3)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077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The network layer is responsible for the </a:t>
            </a:r>
            <a:r>
              <a:rPr lang="en-US" sz="2400" b="1" dirty="0">
                <a:solidFill>
                  <a:srgbClr val="FF0000"/>
                </a:solidFill>
              </a:rPr>
              <a:t>source-to-destination delivery of a packet</a:t>
            </a:r>
            <a:r>
              <a:rPr lang="en-US" sz="2400" dirty="0"/>
              <a:t>, possibly across </a:t>
            </a:r>
            <a:r>
              <a:rPr lang="en-US" sz="2400" b="1" dirty="0"/>
              <a:t>multiple networks </a:t>
            </a:r>
            <a:r>
              <a:rPr lang="en-US" sz="2400" dirty="0"/>
              <a:t>(links).</a:t>
            </a:r>
          </a:p>
          <a:p>
            <a:pPr algn="just" rtl="0">
              <a:buNone/>
            </a:pPr>
            <a:endParaRPr lang="en-US" sz="700" dirty="0"/>
          </a:p>
          <a:p>
            <a:pPr algn="just" rtl="0"/>
            <a:r>
              <a:rPr lang="en-US" sz="2400" dirty="0"/>
              <a:t>Whereas the </a:t>
            </a:r>
            <a:r>
              <a:rPr lang="en-US" sz="2400" b="1" dirty="0"/>
              <a:t>data link layer </a:t>
            </a:r>
            <a:r>
              <a:rPr lang="en-US" sz="2400" dirty="0"/>
              <a:t>oversees the delivery of the packet between two systems on the </a:t>
            </a:r>
            <a:r>
              <a:rPr lang="en-US" sz="2400" b="1" dirty="0"/>
              <a:t>same network </a:t>
            </a:r>
            <a:r>
              <a:rPr lang="en-US" sz="2400" dirty="0"/>
              <a:t>(link), the network layer ensures that each packet gets from </a:t>
            </a:r>
            <a:r>
              <a:rPr lang="en-US" sz="2400" b="1" dirty="0">
                <a:solidFill>
                  <a:srgbClr val="FF0000"/>
                </a:solidFill>
              </a:rPr>
              <a:t>its point of origin to its final destination</a:t>
            </a:r>
            <a:r>
              <a:rPr lang="en-US" sz="2400" dirty="0"/>
              <a:t>.</a:t>
            </a:r>
          </a:p>
          <a:p>
            <a:pPr algn="just" rtl="0">
              <a:buNone/>
            </a:pPr>
            <a:endParaRPr lang="en-US" sz="700" dirty="0"/>
          </a:p>
          <a:p>
            <a:pPr algn="just" rtl="0"/>
            <a:r>
              <a:rPr lang="en-US" sz="2400" dirty="0"/>
              <a:t>If two systems are connected to the </a:t>
            </a:r>
            <a:r>
              <a:rPr lang="en-US" sz="2400" b="1" dirty="0">
                <a:solidFill>
                  <a:srgbClr val="FF0000"/>
                </a:solidFill>
              </a:rPr>
              <a:t>same link</a:t>
            </a:r>
            <a:r>
              <a:rPr lang="en-US" sz="2400" dirty="0"/>
              <a:t>, there is usually </a:t>
            </a:r>
            <a:r>
              <a:rPr lang="en-US" sz="2400" b="1" dirty="0">
                <a:solidFill>
                  <a:srgbClr val="0000FF"/>
                </a:solidFill>
              </a:rPr>
              <a:t>no need for a network layer</a:t>
            </a:r>
            <a:r>
              <a:rPr lang="en-US" sz="2400" dirty="0"/>
              <a:t>. However, if the two systems are </a:t>
            </a:r>
            <a:r>
              <a:rPr lang="en-US" sz="2400" b="1" dirty="0">
                <a:solidFill>
                  <a:srgbClr val="FF0000"/>
                </a:solidFill>
              </a:rPr>
              <a:t>attached to different networks (links) </a:t>
            </a:r>
            <a:r>
              <a:rPr lang="en-US" sz="2400" dirty="0"/>
              <a:t>with connecting devices between the networks (links), </a:t>
            </a:r>
            <a:r>
              <a:rPr lang="en-US" sz="2400" b="1" dirty="0">
                <a:solidFill>
                  <a:srgbClr val="0000FF"/>
                </a:solidFill>
              </a:rPr>
              <a:t>there is often a need for the network layer </a:t>
            </a:r>
            <a:r>
              <a:rPr lang="en-US" sz="2400" dirty="0"/>
              <a:t>to accomplish source-to-destination delivery.</a:t>
            </a:r>
          </a:p>
          <a:p>
            <a:pPr algn="just" rtl="0"/>
            <a:endParaRPr lang="ar-SA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ar-SA" b="1" i="1" dirty="0"/>
              <a:t> </a:t>
            </a:r>
            <a:r>
              <a:rPr lang="en-US" b="1" i="1" dirty="0"/>
              <a:t>Network Layer (3)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55336"/>
          </a:xfrm>
        </p:spPr>
        <p:txBody>
          <a:bodyPr>
            <a:normAutofit fontScale="92500" lnSpcReduction="20000"/>
          </a:bodyPr>
          <a:lstStyle/>
          <a:p>
            <a:pPr algn="l" rtl="0">
              <a:buFont typeface="Wingdings" pitchFamily="2" charset="2"/>
              <a:buChar char="q"/>
            </a:pPr>
            <a:r>
              <a:rPr lang="en-US" b="1" dirty="0"/>
              <a:t> Logical addressing.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600" dirty="0">
                <a:solidFill>
                  <a:srgbClr val="0070C0"/>
                </a:solidFill>
              </a:rPr>
              <a:t>The </a:t>
            </a:r>
            <a:r>
              <a:rPr lang="en-US" sz="2600" b="1" dirty="0">
                <a:solidFill>
                  <a:srgbClr val="0070C0"/>
                </a:solidFill>
              </a:rPr>
              <a:t>physical addressing implemented by the data link  layer handles the addressing problem locally</a:t>
            </a:r>
            <a:r>
              <a:rPr lang="en-US" sz="2600" dirty="0">
                <a:solidFill>
                  <a:srgbClr val="0070C0"/>
                </a:solidFill>
              </a:rPr>
              <a:t>. If a packet </a:t>
            </a:r>
            <a:r>
              <a:rPr lang="en-US" sz="2600" dirty="0">
                <a:solidFill>
                  <a:srgbClr val="FF0000"/>
                </a:solidFill>
              </a:rPr>
              <a:t>passes the network boundary</a:t>
            </a:r>
            <a:r>
              <a:rPr lang="en-US" sz="2600" dirty="0">
                <a:solidFill>
                  <a:srgbClr val="0070C0"/>
                </a:solidFill>
              </a:rPr>
              <a:t>, we need </a:t>
            </a:r>
            <a:r>
              <a:rPr lang="en-US" sz="2600" b="1" dirty="0">
                <a:solidFill>
                  <a:srgbClr val="0070C0"/>
                </a:solidFill>
              </a:rPr>
              <a:t>another addressing system </a:t>
            </a:r>
            <a:r>
              <a:rPr lang="en-US" sz="2600" dirty="0">
                <a:solidFill>
                  <a:srgbClr val="0070C0"/>
                </a:solidFill>
              </a:rPr>
              <a:t>to help </a:t>
            </a:r>
            <a:r>
              <a:rPr lang="en-US" sz="2600" dirty="0">
                <a:solidFill>
                  <a:srgbClr val="FF0000"/>
                </a:solidFill>
              </a:rPr>
              <a:t>distinguish the source and destination systems</a:t>
            </a:r>
            <a:r>
              <a:rPr lang="en-US" sz="2600" dirty="0">
                <a:solidFill>
                  <a:srgbClr val="0070C0"/>
                </a:solidFill>
              </a:rPr>
              <a:t>. The network layer adds a header to the packet coming from the upper layer that, among other things, includes the </a:t>
            </a:r>
            <a:r>
              <a:rPr lang="en-US" sz="2600" dirty="0">
                <a:solidFill>
                  <a:srgbClr val="FF0000"/>
                </a:solidFill>
              </a:rPr>
              <a:t>logical addresses of the sender and receiver</a:t>
            </a:r>
            <a:r>
              <a:rPr lang="en-US" sz="2600" dirty="0">
                <a:solidFill>
                  <a:srgbClr val="0070C0"/>
                </a:solidFill>
              </a:rPr>
              <a:t>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b="1" dirty="0"/>
              <a:t> Routing.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600" dirty="0">
                <a:solidFill>
                  <a:srgbClr val="0070C0"/>
                </a:solidFill>
              </a:rPr>
              <a:t>When independent networks or links are connected together to create internetworks (network of networks) or a large network, the connecting devices (called </a:t>
            </a:r>
            <a:r>
              <a:rPr lang="en-US" sz="2600" b="1" dirty="0">
                <a:solidFill>
                  <a:srgbClr val="FF0000"/>
                </a:solidFill>
              </a:rPr>
              <a:t>routers or switches</a:t>
            </a:r>
            <a:r>
              <a:rPr lang="en-US" sz="2600" dirty="0">
                <a:solidFill>
                  <a:srgbClr val="0070C0"/>
                </a:solidFill>
              </a:rPr>
              <a:t>) route or switch the packets to their final destination. One of the functions of the network layer is to provide this mechanism.</a:t>
            </a:r>
            <a:endParaRPr lang="ar-SA" sz="2600" dirty="0">
              <a:solidFill>
                <a:srgbClr val="0070C0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31536"/>
          </a:xfrm>
        </p:spPr>
        <p:txBody>
          <a:bodyPr>
            <a:normAutofit/>
          </a:bodyPr>
          <a:lstStyle/>
          <a:p>
            <a:pPr algn="just" rtl="0"/>
            <a:r>
              <a:rPr lang="en-US" dirty="0"/>
              <a:t>The transport layer is responsible for </a:t>
            </a:r>
            <a:r>
              <a:rPr lang="en-US" dirty="0">
                <a:solidFill>
                  <a:srgbClr val="FF0000"/>
                </a:solidFill>
              </a:rPr>
              <a:t>process-to-process delivery of the entire message</a:t>
            </a:r>
            <a:r>
              <a:rPr lang="en-US" dirty="0"/>
              <a:t>. A process is an </a:t>
            </a:r>
            <a:r>
              <a:rPr lang="en-US" b="1" dirty="0"/>
              <a:t>application program </a:t>
            </a:r>
            <a:r>
              <a:rPr lang="en-US" dirty="0"/>
              <a:t>running on the host.</a:t>
            </a:r>
          </a:p>
          <a:p>
            <a:pPr algn="just" rtl="0"/>
            <a:r>
              <a:rPr lang="en-US" dirty="0"/>
              <a:t>The transport layer, </a:t>
            </a:r>
            <a:r>
              <a:rPr lang="en-US" b="1" dirty="0"/>
              <a:t>ensures that the whole message</a:t>
            </a:r>
            <a:r>
              <a:rPr lang="en-US" dirty="0"/>
              <a:t> arrives </a:t>
            </a:r>
            <a:r>
              <a:rPr lang="en-US" b="1" dirty="0">
                <a:solidFill>
                  <a:srgbClr val="FF0000"/>
                </a:solidFill>
              </a:rPr>
              <a:t>intact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in order</a:t>
            </a:r>
            <a:r>
              <a:rPr lang="en-US" dirty="0"/>
              <a:t>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400" b="1" dirty="0"/>
              <a:t> Service-point addressing.</a:t>
            </a:r>
            <a:endParaRPr lang="en-US" sz="2400" dirty="0"/>
          </a:p>
          <a:p>
            <a:pPr algn="just" rtl="0">
              <a:buFont typeface="Courier New" pitchFamily="49" charset="0"/>
              <a:buChar char="o"/>
            </a:pPr>
            <a:r>
              <a:rPr lang="en-US" sz="2400" dirty="0"/>
              <a:t>The transport layer header must add a type of address called a </a:t>
            </a:r>
            <a:r>
              <a:rPr lang="en-US" sz="2400" dirty="0">
                <a:solidFill>
                  <a:srgbClr val="FF0000"/>
                </a:solidFill>
              </a:rPr>
              <a:t>service-point address </a:t>
            </a:r>
            <a:r>
              <a:rPr lang="en-US" sz="2400" dirty="0"/>
              <a:t>(or </a:t>
            </a:r>
            <a:r>
              <a:rPr lang="en-US" sz="2400" b="1" dirty="0"/>
              <a:t>port address</a:t>
            </a:r>
            <a:r>
              <a:rPr lang="en-US" sz="2400" dirty="0"/>
              <a:t>). The network layer gets each packet to the </a:t>
            </a:r>
            <a:r>
              <a:rPr lang="en-US" sz="2400" b="1" dirty="0"/>
              <a:t>correct computer</a:t>
            </a:r>
            <a:r>
              <a:rPr lang="en-US" sz="2400" dirty="0"/>
              <a:t>; the transport layer gets the </a:t>
            </a:r>
            <a:r>
              <a:rPr lang="en-US" sz="2400" dirty="0">
                <a:solidFill>
                  <a:srgbClr val="FF0000"/>
                </a:solidFill>
              </a:rPr>
              <a:t>entire message to the correct process on that computer</a:t>
            </a:r>
            <a:r>
              <a:rPr lang="en-US" sz="2400" dirty="0"/>
              <a:t>.</a:t>
            </a:r>
            <a:endParaRPr lang="ar-S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ar-SA" b="1" i="1" dirty="0"/>
              <a:t> </a:t>
            </a:r>
            <a:r>
              <a:rPr lang="en-US" b="1" i="1" dirty="0"/>
              <a:t>Transport Layer(4)</a:t>
            </a:r>
            <a:endParaRPr lang="ar-SA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29400" y="-1"/>
            <a:ext cx="2286000" cy="121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458200" cy="6019800"/>
          </a:xfrm>
        </p:spPr>
        <p:txBody>
          <a:bodyPr>
            <a:normAutofit lnSpcReduction="10000"/>
          </a:bodyPr>
          <a:lstStyle/>
          <a:p>
            <a:pPr algn="l" rtl="0">
              <a:buFont typeface="Wingdings" pitchFamily="2" charset="2"/>
              <a:buChar char="q"/>
            </a:pPr>
            <a:r>
              <a:rPr lang="en-US" sz="2400" b="1" dirty="0"/>
              <a:t> </a:t>
            </a:r>
            <a:r>
              <a:rPr lang="en-US" sz="2200" b="1" dirty="0"/>
              <a:t>Segmentation and reassembly.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200" dirty="0"/>
              <a:t>A message is divided into transmittable </a:t>
            </a:r>
            <a:r>
              <a:rPr lang="en-US" sz="2200" b="1" dirty="0">
                <a:solidFill>
                  <a:srgbClr val="FF0000"/>
                </a:solidFill>
              </a:rPr>
              <a:t>segments</a:t>
            </a:r>
            <a:r>
              <a:rPr lang="en-US" sz="2200" dirty="0"/>
              <a:t>, with each segment containing a </a:t>
            </a:r>
            <a:r>
              <a:rPr lang="en-US" sz="2200" b="1" dirty="0"/>
              <a:t>sequence number</a:t>
            </a:r>
            <a:r>
              <a:rPr lang="en-US" sz="2200" dirty="0"/>
              <a:t>. These numbers enable the transport layer to </a:t>
            </a:r>
            <a:r>
              <a:rPr lang="en-US" sz="2200" b="1" dirty="0">
                <a:solidFill>
                  <a:srgbClr val="FF0000"/>
                </a:solidFill>
              </a:rPr>
              <a:t>reassemble</a:t>
            </a:r>
            <a:r>
              <a:rPr lang="en-US" sz="2200" dirty="0"/>
              <a:t> the message correctly upon arriving at the destination and to </a:t>
            </a:r>
            <a:r>
              <a:rPr lang="en-US" sz="2200" b="1" dirty="0"/>
              <a:t>identify and replace </a:t>
            </a:r>
            <a:r>
              <a:rPr lang="en-US" sz="2200" dirty="0"/>
              <a:t>packets that were lost in transmission.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200" b="1" dirty="0"/>
              <a:t> Connection control.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200" dirty="0"/>
              <a:t>The transport layer can be either </a:t>
            </a:r>
            <a:r>
              <a:rPr lang="en-US" sz="2200" dirty="0">
                <a:solidFill>
                  <a:srgbClr val="FF0000"/>
                </a:solidFill>
              </a:rPr>
              <a:t>connectionless</a:t>
            </a:r>
            <a:r>
              <a:rPr lang="en-US" sz="2200" dirty="0"/>
              <a:t> or </a:t>
            </a:r>
            <a:r>
              <a:rPr lang="en-US" sz="2200" dirty="0">
                <a:solidFill>
                  <a:srgbClr val="FF0000"/>
                </a:solidFill>
              </a:rPr>
              <a:t>connection-oriented</a:t>
            </a:r>
            <a:r>
              <a:rPr lang="en-US" sz="2200" dirty="0"/>
              <a:t>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sz="2200" b="1" dirty="0"/>
              <a:t> Flow control. </a:t>
            </a:r>
          </a:p>
          <a:p>
            <a:pPr algn="l" rtl="0">
              <a:buFont typeface="Courier New" pitchFamily="49" charset="0"/>
              <a:buChar char="o"/>
            </a:pPr>
            <a:r>
              <a:rPr lang="en-US" sz="2200" dirty="0"/>
              <a:t>Like the data link layer, the transport layer is responsible for flow control. However, flow control at this layer is performed </a:t>
            </a:r>
            <a:r>
              <a:rPr lang="en-US" sz="2200" b="1" dirty="0">
                <a:solidFill>
                  <a:srgbClr val="FF0000"/>
                </a:solidFill>
              </a:rPr>
              <a:t>end to end </a:t>
            </a:r>
            <a:r>
              <a:rPr lang="en-US" sz="2200" dirty="0">
                <a:solidFill>
                  <a:srgbClr val="0000FF"/>
                </a:solidFill>
              </a:rPr>
              <a:t>rather than </a:t>
            </a:r>
            <a:r>
              <a:rPr lang="en-US" sz="2200" dirty="0"/>
              <a:t>across a </a:t>
            </a:r>
            <a:r>
              <a:rPr lang="en-US" sz="2200" b="1" dirty="0">
                <a:solidFill>
                  <a:srgbClr val="FF0000"/>
                </a:solidFill>
              </a:rPr>
              <a:t>single link</a:t>
            </a:r>
            <a:r>
              <a:rPr lang="en-US" sz="2200" dirty="0"/>
              <a:t>.</a:t>
            </a:r>
          </a:p>
          <a:p>
            <a:pPr algn="l" rtl="0">
              <a:buFont typeface="Wingdings" pitchFamily="2" charset="2"/>
              <a:buChar char="q"/>
            </a:pPr>
            <a:r>
              <a:rPr lang="en-US" sz="2200" b="1" dirty="0"/>
              <a:t> Error control.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200" dirty="0"/>
              <a:t> Like the data link layer, the transport layer is responsible for error control. However, error control at this layer is performed </a:t>
            </a:r>
            <a:r>
              <a:rPr lang="en-US" sz="2200" b="1" dirty="0">
                <a:solidFill>
                  <a:srgbClr val="FF0000"/>
                </a:solidFill>
              </a:rPr>
              <a:t>process-to-process</a:t>
            </a:r>
            <a:r>
              <a:rPr lang="en-US" sz="2200" dirty="0"/>
              <a:t> rather than across a </a:t>
            </a:r>
            <a:r>
              <a:rPr lang="en-US" sz="2200" b="1" dirty="0">
                <a:solidFill>
                  <a:srgbClr val="FF0000"/>
                </a:solidFill>
              </a:rPr>
              <a:t>single link</a:t>
            </a:r>
            <a:r>
              <a:rPr lang="en-US" sz="2200" dirty="0"/>
              <a:t>. </a:t>
            </a:r>
            <a:r>
              <a:rPr lang="en-US" sz="2400" dirty="0"/>
              <a:t>Error correction is usually achieved through </a:t>
            </a:r>
            <a:r>
              <a:rPr lang="en-US" sz="2400" b="1" dirty="0">
                <a:solidFill>
                  <a:srgbClr val="0000FF"/>
                </a:solidFill>
              </a:rPr>
              <a:t>retransmission.</a:t>
            </a:r>
          </a:p>
          <a:p>
            <a:pPr algn="just" rtl="0">
              <a:buFont typeface="Courier New" pitchFamily="49" charset="0"/>
              <a:buChar char="o"/>
            </a:pPr>
            <a:endParaRPr lang="ar-S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ar-SA" b="1" i="1" dirty="0"/>
              <a:t> </a:t>
            </a:r>
            <a:r>
              <a:rPr lang="en-US" b="1" i="1" dirty="0"/>
              <a:t>Transport Layer(4)</a:t>
            </a:r>
            <a:endParaRPr lang="ar-SA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86800" cy="5583936"/>
          </a:xfrm>
        </p:spPr>
        <p:txBody>
          <a:bodyPr>
            <a:noAutofit/>
          </a:bodyPr>
          <a:lstStyle/>
          <a:p>
            <a:pPr algn="just" rtl="0"/>
            <a:r>
              <a:rPr lang="en-US" sz="2300" dirty="0"/>
              <a:t>The session layer is the </a:t>
            </a:r>
            <a:r>
              <a:rPr lang="en-US" sz="2300" b="1" dirty="0">
                <a:solidFill>
                  <a:srgbClr val="FF0000"/>
                </a:solidFill>
              </a:rPr>
              <a:t>network</a:t>
            </a:r>
            <a:r>
              <a:rPr lang="en-US" sz="2300" dirty="0"/>
              <a:t> </a:t>
            </a:r>
            <a:r>
              <a:rPr lang="en-US" sz="2300" b="1" dirty="0">
                <a:solidFill>
                  <a:srgbClr val="FF0000"/>
                </a:solidFill>
              </a:rPr>
              <a:t>dialog controller</a:t>
            </a:r>
            <a:r>
              <a:rPr lang="en-US" sz="2300" dirty="0"/>
              <a:t>. It </a:t>
            </a:r>
            <a:r>
              <a:rPr lang="en-US" sz="2300" dirty="0">
                <a:solidFill>
                  <a:srgbClr val="0000FF"/>
                </a:solidFill>
              </a:rPr>
              <a:t>establishes, maintains, and synchronizes </a:t>
            </a:r>
            <a:r>
              <a:rPr lang="en-US" sz="2300" dirty="0"/>
              <a:t>the interaction between communicating systems.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300" b="1" dirty="0"/>
              <a:t> Dialog control. </a:t>
            </a:r>
          </a:p>
          <a:p>
            <a:pPr algn="just" rtl="0"/>
            <a:r>
              <a:rPr lang="en-US" sz="2300" dirty="0"/>
              <a:t>The session layer allows two systems to enter into a dialog. It allows the communication between two processes to take place in </a:t>
            </a:r>
            <a:r>
              <a:rPr lang="en-US" sz="2300" dirty="0">
                <a:solidFill>
                  <a:srgbClr val="0000FF"/>
                </a:solidFill>
              </a:rPr>
              <a:t>either</a:t>
            </a:r>
            <a:r>
              <a:rPr lang="en-US" sz="2300" dirty="0"/>
              <a:t> </a:t>
            </a:r>
            <a:r>
              <a:rPr lang="en-US" sz="2300" dirty="0">
                <a:solidFill>
                  <a:srgbClr val="FF0000"/>
                </a:solidFill>
              </a:rPr>
              <a:t>half-duplex</a:t>
            </a:r>
            <a:r>
              <a:rPr lang="en-US" sz="2300" dirty="0"/>
              <a:t> or </a:t>
            </a:r>
            <a:r>
              <a:rPr lang="en-US" sz="2300" dirty="0">
                <a:solidFill>
                  <a:srgbClr val="FF0000"/>
                </a:solidFill>
              </a:rPr>
              <a:t>full-duplex</a:t>
            </a:r>
            <a:r>
              <a:rPr lang="en-US" sz="2300" dirty="0"/>
              <a:t> mode.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300" b="1" dirty="0"/>
              <a:t> Synchronization</a:t>
            </a:r>
            <a:r>
              <a:rPr lang="en-US" sz="2300" dirty="0"/>
              <a:t>. </a:t>
            </a:r>
          </a:p>
          <a:p>
            <a:pPr algn="just" rtl="0"/>
            <a:r>
              <a:rPr lang="en-US" sz="2200" dirty="0"/>
              <a:t>The session layer allows a process to add </a:t>
            </a:r>
            <a:r>
              <a:rPr lang="en-US" sz="2200" b="1" dirty="0">
                <a:solidFill>
                  <a:srgbClr val="0000FF"/>
                </a:solidFill>
              </a:rPr>
              <a:t>checkpoints</a:t>
            </a:r>
            <a:r>
              <a:rPr lang="en-US" sz="2200" dirty="0"/>
              <a:t> (synchronization points) into a stream of data. For example, if a system is sending a file of 2,000 pages, it is advisable to insert checkpoints </a:t>
            </a:r>
            <a:r>
              <a:rPr lang="en-US" sz="2200" b="1" dirty="0"/>
              <a:t>after every 100 pages </a:t>
            </a:r>
            <a:r>
              <a:rPr lang="en-US" sz="2200" dirty="0"/>
              <a:t>to ensure that each 100-page unit is received and acknowledged independently. In this case, if a crash happens during the transmission of </a:t>
            </a:r>
            <a:r>
              <a:rPr lang="en-US" sz="2200" b="1" dirty="0"/>
              <a:t>page 523</a:t>
            </a:r>
            <a:r>
              <a:rPr lang="en-US" sz="2200" dirty="0"/>
              <a:t>, the only pages that need to be resent after system recovery are pages </a:t>
            </a:r>
            <a:r>
              <a:rPr lang="en-US" sz="2200" b="1" dirty="0"/>
              <a:t>501 to 523</a:t>
            </a:r>
            <a:r>
              <a:rPr lang="en-US" sz="2200" dirty="0"/>
              <a:t>. Pages previous to 501 need not be resent.</a:t>
            </a:r>
            <a:endParaRPr lang="ar-SA" sz="22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66800"/>
          </a:xfrm>
        </p:spPr>
        <p:txBody>
          <a:bodyPr/>
          <a:lstStyle/>
          <a:p>
            <a:r>
              <a:rPr lang="ar-SA" b="1" i="1" dirty="0"/>
              <a:t> </a:t>
            </a:r>
            <a:r>
              <a:rPr lang="en-US" b="1" i="1" dirty="0"/>
              <a:t>Session Layer(5)</a:t>
            </a:r>
            <a:endParaRPr lang="ar-SA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856"/>
            <a:ext cx="8229600" cy="55077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The presentation layer is concerned with the </a:t>
            </a:r>
            <a:r>
              <a:rPr lang="en-US" sz="2400" b="1" dirty="0">
                <a:solidFill>
                  <a:srgbClr val="0000FF"/>
                </a:solidFill>
              </a:rPr>
              <a:t>syntax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0000FF"/>
                </a:solidFill>
              </a:rPr>
              <a:t>semantics</a:t>
            </a:r>
            <a:r>
              <a:rPr lang="en-US" sz="2400" dirty="0"/>
              <a:t> of the information exchanged between two systems.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400" b="1" dirty="0"/>
              <a:t> Translation.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400" dirty="0"/>
              <a:t>The presentation layer is responsible for </a:t>
            </a:r>
            <a:r>
              <a:rPr lang="en-US" sz="2400" dirty="0">
                <a:solidFill>
                  <a:srgbClr val="0000FF"/>
                </a:solidFill>
              </a:rPr>
              <a:t>interoperability</a:t>
            </a:r>
            <a:r>
              <a:rPr lang="en-US" sz="2400" dirty="0"/>
              <a:t> between these </a:t>
            </a:r>
            <a:r>
              <a:rPr lang="en-US" sz="2400" dirty="0">
                <a:solidFill>
                  <a:srgbClr val="FF0000"/>
                </a:solidFill>
              </a:rPr>
              <a:t>different encoding methods</a:t>
            </a:r>
            <a:r>
              <a:rPr lang="en-US" sz="2400" dirty="0"/>
              <a:t>. </a:t>
            </a:r>
          </a:p>
          <a:p>
            <a:pPr algn="just" rtl="0">
              <a:buFont typeface="Courier New" pitchFamily="49" charset="0"/>
              <a:buChar char="o"/>
            </a:pPr>
            <a:r>
              <a:rPr lang="en-US" sz="2400" dirty="0"/>
              <a:t>The presentation layer at the sender changes the information from </a:t>
            </a:r>
            <a:r>
              <a:rPr lang="en-US" sz="2400" dirty="0">
                <a:solidFill>
                  <a:srgbClr val="0000FF"/>
                </a:solidFill>
              </a:rPr>
              <a:t>its sender-dependent format </a:t>
            </a:r>
            <a:r>
              <a:rPr lang="en-US" sz="2400" dirty="0"/>
              <a:t>into a </a:t>
            </a:r>
            <a:r>
              <a:rPr lang="en-US" sz="2400" dirty="0">
                <a:solidFill>
                  <a:srgbClr val="FF0000"/>
                </a:solidFill>
              </a:rPr>
              <a:t>common format</a:t>
            </a:r>
            <a:r>
              <a:rPr lang="en-US" sz="2400" dirty="0"/>
              <a:t>. The presentation layer at the receiving machine changes the </a:t>
            </a:r>
            <a:r>
              <a:rPr lang="en-US" sz="2400" dirty="0">
                <a:solidFill>
                  <a:srgbClr val="FF0000"/>
                </a:solidFill>
              </a:rPr>
              <a:t>common format </a:t>
            </a:r>
            <a:r>
              <a:rPr lang="en-US" sz="2400" dirty="0"/>
              <a:t>into </a:t>
            </a:r>
            <a:r>
              <a:rPr lang="en-US" sz="2400" dirty="0">
                <a:solidFill>
                  <a:srgbClr val="0000FF"/>
                </a:solidFill>
              </a:rPr>
              <a:t>its receiver-dependent format</a:t>
            </a:r>
            <a:r>
              <a:rPr lang="en-US" sz="2400" dirty="0"/>
              <a:t>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400" b="1" dirty="0"/>
              <a:t> Encryption.</a:t>
            </a:r>
          </a:p>
          <a:p>
            <a:pPr algn="just" rtl="0">
              <a:buFont typeface="Wingdings" pitchFamily="2" charset="2"/>
              <a:buChar char="q"/>
            </a:pPr>
            <a:r>
              <a:rPr lang="en-US" sz="2400" b="1" dirty="0"/>
              <a:t> Compression.</a:t>
            </a:r>
          </a:p>
          <a:p>
            <a:pPr algn="just" rtl="0">
              <a:buFont typeface="Wingdings" pitchFamily="2" charset="2"/>
              <a:buChar char="q"/>
            </a:pPr>
            <a:endParaRPr lang="ar-SA" sz="2400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83026"/>
            <a:ext cx="8229600" cy="1066800"/>
          </a:xfrm>
        </p:spPr>
        <p:txBody>
          <a:bodyPr/>
          <a:lstStyle/>
          <a:p>
            <a:r>
              <a:rPr lang="ar-SA" b="1" i="1" dirty="0"/>
              <a:t> </a:t>
            </a:r>
            <a:r>
              <a:rPr lang="en-US" b="1" i="1" dirty="0"/>
              <a:t>Presentation Layer (6)</a:t>
            </a:r>
            <a:endParaRPr lang="ar-SA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55336"/>
          </a:xfrm>
        </p:spPr>
        <p:txBody>
          <a:bodyPr/>
          <a:lstStyle/>
          <a:p>
            <a:pPr algn="just" rtl="0"/>
            <a:r>
              <a:rPr lang="en-US" dirty="0"/>
              <a:t>The application layer </a:t>
            </a:r>
            <a:r>
              <a:rPr lang="en-US" dirty="0">
                <a:solidFill>
                  <a:srgbClr val="0000FF"/>
                </a:solidFill>
              </a:rPr>
              <a:t>enables the user</a:t>
            </a:r>
            <a:r>
              <a:rPr lang="en-US" dirty="0"/>
              <a:t>, whether human or software, </a:t>
            </a:r>
            <a:r>
              <a:rPr lang="en-US" dirty="0">
                <a:solidFill>
                  <a:srgbClr val="0000FF"/>
                </a:solidFill>
              </a:rPr>
              <a:t>to access the network</a:t>
            </a:r>
            <a:r>
              <a:rPr lang="en-US" dirty="0"/>
              <a:t>.</a:t>
            </a:r>
          </a:p>
          <a:p>
            <a:pPr algn="just" rtl="0"/>
            <a:r>
              <a:rPr lang="en-US" dirty="0"/>
              <a:t>It provides user </a:t>
            </a:r>
            <a:r>
              <a:rPr lang="en-US" dirty="0">
                <a:solidFill>
                  <a:srgbClr val="FF0000"/>
                </a:solidFill>
              </a:rPr>
              <a:t>interfaces and support </a:t>
            </a:r>
            <a:r>
              <a:rPr lang="en-US" dirty="0"/>
              <a:t>for services such as electronic </a:t>
            </a:r>
            <a:r>
              <a:rPr lang="en-US" b="1" dirty="0"/>
              <a:t>mail</a:t>
            </a:r>
            <a:r>
              <a:rPr lang="en-US" dirty="0"/>
              <a:t>, </a:t>
            </a:r>
            <a:r>
              <a:rPr lang="en-US" b="1" dirty="0"/>
              <a:t>remote file access and transfer</a:t>
            </a:r>
            <a:r>
              <a:rPr lang="en-US" dirty="0"/>
              <a:t>, </a:t>
            </a:r>
            <a:r>
              <a:rPr lang="en-US" b="1" dirty="0"/>
              <a:t>shared database management</a:t>
            </a:r>
            <a:r>
              <a:rPr lang="en-US" dirty="0"/>
              <a:t>, and </a:t>
            </a:r>
            <a:r>
              <a:rPr lang="en-US" b="1" dirty="0"/>
              <a:t>other types of distributed information services</a:t>
            </a:r>
            <a:r>
              <a:rPr lang="en-US" dirty="0"/>
              <a:t>.</a:t>
            </a:r>
            <a:endParaRPr lang="ar-SA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83026"/>
            <a:ext cx="8229600" cy="1066800"/>
          </a:xfrm>
        </p:spPr>
        <p:txBody>
          <a:bodyPr/>
          <a:lstStyle/>
          <a:p>
            <a:r>
              <a:rPr lang="ar-SA" b="1" i="1" dirty="0"/>
              <a:t> </a:t>
            </a:r>
            <a:r>
              <a:rPr lang="en-US" b="1" i="1" dirty="0"/>
              <a:t>Application Layer (7)</a:t>
            </a:r>
            <a:endParaRPr lang="ar-SA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r>
              <a:rPr lang="en-US" b="1" dirty="0"/>
              <a:t>Summary of OSI Layers</a:t>
            </a:r>
            <a:endParaRPr lang="ar-SA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447800"/>
            <a:ext cx="641032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/>
              <a:t>TCP/IP PROTOCOL SUITE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2791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The first layered protocol model for internetwork communications was created in the early 1970s and is referred to as the </a:t>
            </a:r>
            <a:r>
              <a:rPr lang="en-US" sz="2400" dirty="0">
                <a:solidFill>
                  <a:srgbClr val="FF0000"/>
                </a:solidFill>
              </a:rPr>
              <a:t>Internet model</a:t>
            </a:r>
            <a:r>
              <a:rPr lang="en-US" sz="2400" dirty="0"/>
              <a:t>. It defines </a:t>
            </a:r>
            <a:r>
              <a:rPr lang="en-US" sz="2400" dirty="0">
                <a:solidFill>
                  <a:srgbClr val="0000FF"/>
                </a:solidFill>
              </a:rPr>
              <a:t>four categories of functions </a:t>
            </a:r>
            <a:r>
              <a:rPr lang="en-US" sz="2400" dirty="0"/>
              <a:t>that must occur for communications to be successful. The architecture of the TCP/IP protocol suite follows the structure of this model. Because of this, the Internet model is commonly referred to as the TCP/IP model. </a:t>
            </a:r>
          </a:p>
          <a:p>
            <a:pPr algn="just" rtl="0"/>
            <a:r>
              <a:rPr lang="en-US" sz="2400" dirty="0"/>
              <a:t>The TCP/IP protocol suite was developed </a:t>
            </a:r>
            <a:r>
              <a:rPr lang="en-US" sz="2400" dirty="0">
                <a:solidFill>
                  <a:srgbClr val="FF0000"/>
                </a:solidFill>
              </a:rPr>
              <a:t>prior</a:t>
            </a:r>
            <a:r>
              <a:rPr lang="en-US" sz="2400" dirty="0"/>
              <a:t> to the OSI model. Therefore, the layers in the TCP/IP protocol suite do not match exactly with those in the OSI model. The </a:t>
            </a:r>
            <a:r>
              <a:rPr lang="en-US" sz="2400" dirty="0">
                <a:solidFill>
                  <a:srgbClr val="0000FF"/>
                </a:solidFill>
              </a:rPr>
              <a:t>original TCP/IP protocol suite was defined as four software layers</a:t>
            </a:r>
            <a:r>
              <a:rPr lang="en-US" sz="2400" dirty="0"/>
              <a:t> built upon the hardware.</a:t>
            </a:r>
            <a:endParaRPr lang="ar-SA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/>
              <a:t>TCP/IP PROTOCOL SUITE</a:t>
            </a:r>
            <a:endParaRPr lang="ar-SA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2925" y="1685925"/>
            <a:ext cx="805815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/>
              <a:t>TCP/IP PROTOCOL SUITE</a:t>
            </a:r>
            <a:endParaRPr lang="ar-SA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6363" y="1804988"/>
            <a:ext cx="6391275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/>
              <a:t>TCP/IP PROTOCOL SUITE</a:t>
            </a:r>
            <a:endParaRPr lang="ar-S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600200"/>
            <a:ext cx="5162709" cy="451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/>
              <a:t>TCP/IP PROTOCOL SUITE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5279136"/>
          </a:xfrm>
        </p:spPr>
        <p:txBody>
          <a:bodyPr>
            <a:normAutofit/>
          </a:bodyPr>
          <a:lstStyle/>
          <a:p>
            <a:pPr algn="just" rtl="0"/>
            <a:r>
              <a:rPr lang="en-US" sz="2400" b="1" u="sng" dirty="0">
                <a:solidFill>
                  <a:srgbClr val="FF0000"/>
                </a:solidFill>
              </a:rPr>
              <a:t>Today</a:t>
            </a:r>
            <a:r>
              <a:rPr lang="en-US" sz="2400" b="1" dirty="0"/>
              <a:t>, TCP/IP is thought of as a </a:t>
            </a:r>
            <a:r>
              <a:rPr lang="en-US" sz="2400" b="1" dirty="0">
                <a:solidFill>
                  <a:srgbClr val="FF0000"/>
                </a:solidFill>
              </a:rPr>
              <a:t>five-layer model </a:t>
            </a:r>
            <a:r>
              <a:rPr lang="en-US" sz="2400" b="1" dirty="0"/>
              <a:t>with the layers </a:t>
            </a:r>
            <a:r>
              <a:rPr lang="en-US" sz="2400" b="1" dirty="0">
                <a:solidFill>
                  <a:srgbClr val="0000FF"/>
                </a:solidFill>
              </a:rPr>
              <a:t>named similarly </a:t>
            </a:r>
            <a:r>
              <a:rPr lang="en-US" sz="2400" b="1" dirty="0"/>
              <a:t>to the ones in the OSI model. </a:t>
            </a:r>
            <a:endParaRPr lang="ar-SA" sz="24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1608" y="2514600"/>
            <a:ext cx="6197467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Comparison between OSI and TCP/IP Protocol Suite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800" y="1371600"/>
            <a:ext cx="3429000" cy="5105400"/>
          </a:xfrm>
        </p:spPr>
        <p:txBody>
          <a:bodyPr>
            <a:noAutofit/>
          </a:bodyPr>
          <a:lstStyle/>
          <a:p>
            <a:pPr algn="just" rtl="0"/>
            <a:r>
              <a:rPr lang="en-US" sz="2000" dirty="0"/>
              <a:t>Here, two layers, </a:t>
            </a:r>
            <a:r>
              <a:rPr lang="en-US" sz="2000" dirty="0">
                <a:solidFill>
                  <a:srgbClr val="0000FF"/>
                </a:solidFill>
              </a:rPr>
              <a:t>session and presentation</a:t>
            </a:r>
            <a:r>
              <a:rPr lang="en-US" sz="2000" dirty="0"/>
              <a:t>, are </a:t>
            </a:r>
            <a:r>
              <a:rPr lang="en-US" sz="2000" dirty="0">
                <a:solidFill>
                  <a:srgbClr val="FF0000"/>
                </a:solidFill>
              </a:rPr>
              <a:t>missing</a:t>
            </a:r>
            <a:r>
              <a:rPr lang="en-US" sz="2000" dirty="0"/>
              <a:t> from the TCP/IP protocol suite. These two layers were </a:t>
            </a:r>
            <a:r>
              <a:rPr lang="en-US" sz="2000" dirty="0">
                <a:solidFill>
                  <a:srgbClr val="FF0000"/>
                </a:solidFill>
              </a:rPr>
              <a:t>not added </a:t>
            </a:r>
            <a:r>
              <a:rPr lang="en-US" sz="2000" dirty="0"/>
              <a:t>to the TCP/IP protocol suite </a:t>
            </a:r>
            <a:r>
              <a:rPr lang="en-US" sz="2000" dirty="0">
                <a:solidFill>
                  <a:srgbClr val="0000FF"/>
                </a:solidFill>
              </a:rPr>
              <a:t>after the publication of the OSI model</a:t>
            </a:r>
            <a:r>
              <a:rPr lang="en-US" sz="2000" dirty="0"/>
              <a:t>. The </a:t>
            </a:r>
            <a:r>
              <a:rPr lang="en-US" sz="2000" dirty="0">
                <a:solidFill>
                  <a:srgbClr val="FF0000"/>
                </a:solidFill>
              </a:rPr>
              <a:t>application layer </a:t>
            </a:r>
            <a:r>
              <a:rPr lang="en-US" sz="2000" dirty="0"/>
              <a:t>in the suite is usually considered to be the </a:t>
            </a:r>
            <a:r>
              <a:rPr lang="en-US" sz="2000" dirty="0">
                <a:solidFill>
                  <a:srgbClr val="FF0000"/>
                </a:solidFill>
              </a:rPr>
              <a:t>combination of three </a:t>
            </a:r>
            <a:r>
              <a:rPr lang="en-US" sz="2000" dirty="0"/>
              <a:t>layers in the OSI model.</a:t>
            </a:r>
            <a:endParaRPr lang="ar-SA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828800"/>
            <a:ext cx="5867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Comparison between OSI and TCP/IP Protocol Suite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578864"/>
            <a:ext cx="8458200" cy="4974336"/>
          </a:xfrm>
        </p:spPr>
        <p:txBody>
          <a:bodyPr>
            <a:normAutofit/>
          </a:bodyPr>
          <a:lstStyle/>
          <a:p>
            <a:pPr algn="just" rtl="0"/>
            <a:r>
              <a:rPr lang="en-US" b="1" dirty="0"/>
              <a:t>Two reasons were mentioned for this decision. </a:t>
            </a:r>
          </a:p>
          <a:p>
            <a:pPr algn="just" rtl="0"/>
            <a:r>
              <a:rPr lang="en-US" sz="2400" b="1" u="sng" dirty="0"/>
              <a:t>First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TCP/IP has more than one transport-layer protocol</a:t>
            </a:r>
            <a:r>
              <a:rPr lang="en-US" sz="2400" dirty="0"/>
              <a:t>. Some of the </a:t>
            </a:r>
            <a:r>
              <a:rPr lang="en-US" sz="2400" dirty="0">
                <a:solidFill>
                  <a:srgbClr val="0000FF"/>
                </a:solidFill>
              </a:rPr>
              <a:t>functionalities of the session layer are available in some of the transport layer protocols</a:t>
            </a:r>
            <a:r>
              <a:rPr lang="en-US" sz="2400" dirty="0"/>
              <a:t>. </a:t>
            </a:r>
          </a:p>
          <a:p>
            <a:pPr algn="just" rtl="0"/>
            <a:r>
              <a:rPr lang="en-US" sz="2400" b="1" u="sng" dirty="0"/>
              <a:t>Second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the application layer is not only one piece of software</a:t>
            </a:r>
            <a:r>
              <a:rPr lang="en-US" sz="2400" dirty="0"/>
              <a:t>. </a:t>
            </a:r>
            <a:r>
              <a:rPr lang="en-US" sz="2400" dirty="0">
                <a:solidFill>
                  <a:srgbClr val="0000FF"/>
                </a:solidFill>
              </a:rPr>
              <a:t>Many applications can be developed at this layer</a:t>
            </a:r>
            <a:r>
              <a:rPr lang="en-US" sz="2400" dirty="0"/>
              <a:t>. If some of the functionalities mentioned in the session and presentation are needed for a particular application, it can be included in the development of that piece of software.</a:t>
            </a:r>
            <a:endParaRPr lang="ar-SA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Layers in the TCP/IP Protocol Suite</a:t>
            </a:r>
            <a:endParaRPr lang="ar-S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30480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When we study the purpose of each layer, it is easier to think of a </a:t>
            </a:r>
            <a:r>
              <a:rPr lang="en-US" sz="2400" dirty="0">
                <a:solidFill>
                  <a:srgbClr val="FF0000"/>
                </a:solidFill>
              </a:rPr>
              <a:t>private internet</a:t>
            </a:r>
            <a:r>
              <a:rPr lang="en-US" sz="2400" dirty="0"/>
              <a:t>, instead of the global Internet. Such an internet is made up of several small networks called </a:t>
            </a:r>
            <a:r>
              <a:rPr lang="en-US" sz="2400" dirty="0">
                <a:solidFill>
                  <a:srgbClr val="FF0000"/>
                </a:solidFill>
              </a:rPr>
              <a:t>links</a:t>
            </a:r>
            <a:r>
              <a:rPr lang="en-US" sz="2400" dirty="0"/>
              <a:t>. </a:t>
            </a:r>
          </a:p>
          <a:p>
            <a:pPr algn="just" rtl="0"/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link</a:t>
            </a:r>
            <a:r>
              <a:rPr lang="en-US" sz="2400" dirty="0"/>
              <a:t> is a network that allows a set of computers to communicate with each other. </a:t>
            </a:r>
            <a:r>
              <a:rPr lang="en-US" sz="2400" dirty="0">
                <a:solidFill>
                  <a:srgbClr val="0000FF"/>
                </a:solidFill>
              </a:rPr>
              <a:t>A link can be a LAN or WAN</a:t>
            </a:r>
            <a:r>
              <a:rPr lang="en-US" sz="2400" dirty="0"/>
              <a:t>.</a:t>
            </a:r>
          </a:p>
          <a:p>
            <a:pPr algn="just" rtl="0"/>
            <a:r>
              <a:rPr lang="en-US" sz="2400" dirty="0"/>
              <a:t>Our imaginary internet that is </a:t>
            </a:r>
            <a:r>
              <a:rPr lang="en-US" sz="2400" dirty="0">
                <a:solidFill>
                  <a:srgbClr val="0000FF"/>
                </a:solidFill>
              </a:rPr>
              <a:t>used to show the purpose of each layer</a:t>
            </a:r>
            <a:r>
              <a:rPr lang="en-US" sz="2400" dirty="0"/>
              <a:t>.</a:t>
            </a:r>
            <a:endParaRPr lang="ar-SA" sz="2400" dirty="0"/>
          </a:p>
          <a:p>
            <a:pPr algn="just" rtl="0"/>
            <a:endParaRPr lang="ar-SA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810000"/>
            <a:ext cx="7270507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Physical Layer (1)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763000" cy="53553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TCP/IP does </a:t>
            </a:r>
            <a:r>
              <a:rPr lang="en-US" sz="2400" dirty="0">
                <a:solidFill>
                  <a:srgbClr val="0000FF"/>
                </a:solidFill>
              </a:rPr>
              <a:t>not define any specific protocol </a:t>
            </a:r>
            <a:r>
              <a:rPr lang="en-US" sz="2400" dirty="0"/>
              <a:t>for the physical layer. </a:t>
            </a:r>
            <a:r>
              <a:rPr lang="en-US" sz="2400" dirty="0">
                <a:latin typeface="Times New Roman"/>
              </a:rPr>
              <a:t>It supports all of the standard and proprietary protocols.</a:t>
            </a:r>
          </a:p>
          <a:p>
            <a:pPr algn="just" rtl="0"/>
            <a:endParaRPr lang="en-US" sz="2400" dirty="0"/>
          </a:p>
          <a:p>
            <a:pPr algn="just" rtl="0"/>
            <a:r>
              <a:rPr lang="en-US" sz="2400" b="1" dirty="0">
                <a:solidFill>
                  <a:srgbClr val="FF0000"/>
                </a:solidFill>
              </a:rPr>
              <a:t>At this level, the communication is between two hops or nodes, either a computer or router.</a:t>
            </a:r>
          </a:p>
          <a:p>
            <a:pPr algn="just" rtl="0">
              <a:buNone/>
            </a:pP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  <a:p>
            <a:pPr algn="just" rtl="0"/>
            <a:r>
              <a:rPr lang="en-US" sz="2400" dirty="0"/>
              <a:t>The unit of communication is a </a:t>
            </a:r>
            <a:r>
              <a:rPr lang="en-US" sz="2400" b="1" dirty="0">
                <a:solidFill>
                  <a:srgbClr val="FF0000"/>
                </a:solidFill>
              </a:rPr>
              <a:t>single bit</a:t>
            </a:r>
            <a:r>
              <a:rPr lang="en-US" sz="2400" dirty="0"/>
              <a:t>. When the connection is established between the two nodes, a stream of bits is flowing between them. The physical layer, however, treats each bit individually.</a:t>
            </a:r>
            <a:endParaRPr lang="ar-SA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410200"/>
            <a:ext cx="8610600" cy="12192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We are assuming that at this moment the two computers have discovered that the most efficient way to communicate with each other is via </a:t>
            </a:r>
            <a:r>
              <a:rPr lang="en-US" sz="2400" dirty="0">
                <a:solidFill>
                  <a:srgbClr val="FF0000"/>
                </a:solidFill>
              </a:rPr>
              <a:t>routers R1, R3, and R4</a:t>
            </a:r>
            <a:r>
              <a:rPr lang="en-US" sz="2400" dirty="0"/>
              <a:t>.</a:t>
            </a:r>
            <a:endParaRPr lang="ar-SA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687" y="1295400"/>
            <a:ext cx="8095113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Physical Layer (1)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914400"/>
            <a:ext cx="3124200" cy="5486400"/>
          </a:xfrm>
        </p:spPr>
        <p:txBody>
          <a:bodyPr>
            <a:normAutofit fontScale="92500" lnSpcReduction="10000"/>
          </a:bodyPr>
          <a:lstStyle/>
          <a:p>
            <a:pPr algn="just" rtl="0"/>
            <a:r>
              <a:rPr lang="en-US" sz="2400" dirty="0">
                <a:solidFill>
                  <a:srgbClr val="0000FF"/>
                </a:solidFill>
              </a:rPr>
              <a:t>Computer A </a:t>
            </a:r>
            <a:r>
              <a:rPr lang="en-US" sz="2400" dirty="0"/>
              <a:t>sends each bit to </a:t>
            </a:r>
            <a:r>
              <a:rPr lang="en-US" sz="2400" dirty="0">
                <a:solidFill>
                  <a:srgbClr val="0000FF"/>
                </a:solidFill>
              </a:rPr>
              <a:t>router R1 </a:t>
            </a:r>
            <a:r>
              <a:rPr lang="en-US" sz="2400" dirty="0"/>
              <a:t>in the </a:t>
            </a:r>
            <a:r>
              <a:rPr lang="en-US" sz="2400" dirty="0">
                <a:solidFill>
                  <a:srgbClr val="FF0000"/>
                </a:solidFill>
              </a:rPr>
              <a:t>format of the protocol used by link 1.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Router 1 </a:t>
            </a:r>
            <a:r>
              <a:rPr lang="en-US" sz="2400" dirty="0"/>
              <a:t>sends each bit to </a:t>
            </a:r>
            <a:r>
              <a:rPr lang="en-US" sz="2400" dirty="0">
                <a:solidFill>
                  <a:srgbClr val="0000FF"/>
                </a:solidFill>
              </a:rPr>
              <a:t>router R3 </a:t>
            </a:r>
            <a:r>
              <a:rPr lang="en-US" sz="2400" dirty="0"/>
              <a:t>in the </a:t>
            </a:r>
            <a:r>
              <a:rPr lang="en-US" sz="2400" dirty="0">
                <a:solidFill>
                  <a:srgbClr val="FF0000"/>
                </a:solidFill>
              </a:rPr>
              <a:t>format dictated by the protocol used by link 3</a:t>
            </a:r>
            <a:r>
              <a:rPr lang="en-US" sz="2400" dirty="0"/>
              <a:t>. And so on.</a:t>
            </a:r>
          </a:p>
          <a:p>
            <a:pPr algn="just" rtl="0">
              <a:buNone/>
            </a:pPr>
            <a:endParaRPr lang="en-US" sz="2400" dirty="0"/>
          </a:p>
          <a:p>
            <a:pPr algn="just" rtl="0"/>
            <a:r>
              <a:rPr lang="en-US" sz="2400" dirty="0"/>
              <a:t>Note that if a node is connected to </a:t>
            </a:r>
            <a:r>
              <a:rPr lang="en-US" sz="2400" dirty="0">
                <a:solidFill>
                  <a:srgbClr val="FF0000"/>
                </a:solidFill>
              </a:rPr>
              <a:t>n links</a:t>
            </a:r>
            <a:r>
              <a:rPr lang="en-US" sz="2400" dirty="0"/>
              <a:t>, it needs </a:t>
            </a:r>
            <a:r>
              <a:rPr lang="en-US" sz="2400" dirty="0">
                <a:solidFill>
                  <a:srgbClr val="FF0000"/>
                </a:solidFill>
              </a:rPr>
              <a:t>n physical-layer protocols</a:t>
            </a:r>
            <a:r>
              <a:rPr lang="en-US" sz="2400" dirty="0"/>
              <a:t>, one for each link.</a:t>
            </a:r>
          </a:p>
          <a:p>
            <a:pPr algn="just" rtl="0"/>
            <a:endParaRPr lang="ar-SA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219200"/>
            <a:ext cx="608101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Physical Layer (1)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82000" cy="54315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TCP/IP does </a:t>
            </a:r>
            <a:r>
              <a:rPr lang="en-US" sz="2400" dirty="0">
                <a:solidFill>
                  <a:srgbClr val="0000FF"/>
                </a:solidFill>
              </a:rPr>
              <a:t>not define any specific protocol </a:t>
            </a:r>
            <a:r>
              <a:rPr lang="en-US" sz="2400" dirty="0"/>
              <a:t>for the data link layer either. It supports all of the standard and proprietary protocols. </a:t>
            </a:r>
          </a:p>
          <a:p>
            <a:pPr algn="just" rtl="0"/>
            <a:r>
              <a:rPr lang="en-US" sz="2400" b="1" dirty="0">
                <a:solidFill>
                  <a:srgbClr val="FF0000"/>
                </a:solidFill>
              </a:rPr>
              <a:t>At this level, the communication is </a:t>
            </a:r>
            <a:r>
              <a:rPr lang="en-US" sz="2400" b="1" dirty="0">
                <a:solidFill>
                  <a:srgbClr val="0000FF"/>
                </a:solidFill>
              </a:rPr>
              <a:t>also between two hops or nodes</a:t>
            </a:r>
            <a:r>
              <a:rPr lang="en-US" sz="2400" b="1" dirty="0">
                <a:solidFill>
                  <a:srgbClr val="FF0000"/>
                </a:solidFill>
              </a:rPr>
              <a:t>. The unit of communication however, is a packet called a </a:t>
            </a:r>
            <a:r>
              <a:rPr lang="en-US" sz="2400" b="1" dirty="0">
                <a:solidFill>
                  <a:srgbClr val="0000FF"/>
                </a:solidFill>
              </a:rPr>
              <a:t>frame</a:t>
            </a:r>
            <a:r>
              <a:rPr lang="en-US" sz="2400" b="1" dirty="0">
                <a:solidFill>
                  <a:srgbClr val="FF0000"/>
                </a:solidFill>
              </a:rPr>
              <a:t>.</a:t>
            </a:r>
          </a:p>
          <a:p>
            <a:pPr algn="just" rtl="0"/>
            <a:r>
              <a:rPr lang="en-US" sz="2400" dirty="0"/>
              <a:t>A frame is a packet that </a:t>
            </a:r>
            <a:r>
              <a:rPr lang="en-US" sz="2400" b="1" dirty="0"/>
              <a:t>encapsulates</a:t>
            </a:r>
            <a:r>
              <a:rPr lang="en-US" sz="2400" dirty="0"/>
              <a:t> the data received from the </a:t>
            </a:r>
            <a:r>
              <a:rPr lang="en-US" sz="2400" b="1" dirty="0"/>
              <a:t>network layer </a:t>
            </a:r>
            <a:r>
              <a:rPr lang="en-US" sz="2400" dirty="0"/>
              <a:t>with an added </a:t>
            </a:r>
            <a:r>
              <a:rPr lang="en-US" sz="2400" dirty="0">
                <a:solidFill>
                  <a:srgbClr val="0000FF"/>
                </a:solidFill>
              </a:rPr>
              <a:t>header</a:t>
            </a:r>
            <a:r>
              <a:rPr lang="en-US" sz="2400" dirty="0"/>
              <a:t> and sometimes a </a:t>
            </a:r>
            <a:r>
              <a:rPr lang="en-US" sz="2400" dirty="0">
                <a:solidFill>
                  <a:srgbClr val="0000FF"/>
                </a:solidFill>
              </a:rPr>
              <a:t>trailer</a:t>
            </a:r>
            <a:r>
              <a:rPr lang="en-US" sz="2400" dirty="0"/>
              <a:t>. </a:t>
            </a:r>
          </a:p>
          <a:p>
            <a:pPr algn="just" rtl="0"/>
            <a:r>
              <a:rPr lang="en-US" sz="2400" dirty="0"/>
              <a:t>The head includes the source and destination of frame. The </a:t>
            </a:r>
            <a:r>
              <a:rPr lang="en-US" sz="2400" b="1" u="sng" dirty="0"/>
              <a:t>destination address </a:t>
            </a:r>
            <a:r>
              <a:rPr lang="en-US" sz="2400" dirty="0"/>
              <a:t>is needed to define the </a:t>
            </a:r>
            <a:r>
              <a:rPr lang="en-US" sz="2400" dirty="0">
                <a:solidFill>
                  <a:srgbClr val="0000FF"/>
                </a:solidFill>
              </a:rPr>
              <a:t>right recipient of the frame</a:t>
            </a:r>
            <a:r>
              <a:rPr lang="en-US" sz="2400" dirty="0"/>
              <a:t>. The </a:t>
            </a:r>
            <a:r>
              <a:rPr lang="en-US" sz="2400" b="1" u="sng" dirty="0"/>
              <a:t>source address </a:t>
            </a:r>
            <a:r>
              <a:rPr lang="en-US" sz="2400" dirty="0"/>
              <a:t>is needed for possible response or </a:t>
            </a:r>
            <a:r>
              <a:rPr lang="en-US" sz="2400" b="1" dirty="0">
                <a:solidFill>
                  <a:srgbClr val="0000FF"/>
                </a:solidFill>
              </a:rPr>
              <a:t>acknowledgment </a:t>
            </a:r>
            <a:r>
              <a:rPr lang="en-US" sz="2400" dirty="0"/>
              <a:t>as may be required by some protocols.</a:t>
            </a:r>
            <a:endParaRPr lang="ar-SA" sz="24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Data Link Layer (2)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7400" y="685800"/>
            <a:ext cx="3200400" cy="5943600"/>
          </a:xfrm>
        </p:spPr>
        <p:txBody>
          <a:bodyPr>
            <a:noAutofit/>
          </a:bodyPr>
          <a:lstStyle/>
          <a:p>
            <a:pPr algn="just" rtl="0"/>
            <a:r>
              <a:rPr lang="en-US" sz="1900" dirty="0"/>
              <a:t>Note that the frame that is travelling between </a:t>
            </a:r>
            <a:r>
              <a:rPr lang="en-US" sz="1900" dirty="0">
                <a:solidFill>
                  <a:srgbClr val="FF0000"/>
                </a:solidFill>
              </a:rPr>
              <a:t>computer A</a:t>
            </a:r>
            <a:r>
              <a:rPr lang="en-US" sz="1900" dirty="0"/>
              <a:t> and </a:t>
            </a:r>
            <a:r>
              <a:rPr lang="en-US" sz="1900" dirty="0">
                <a:solidFill>
                  <a:srgbClr val="FF0000"/>
                </a:solidFill>
              </a:rPr>
              <a:t>router R1 </a:t>
            </a:r>
            <a:r>
              <a:rPr lang="en-US" sz="1900" dirty="0"/>
              <a:t>may be </a:t>
            </a:r>
            <a:r>
              <a:rPr lang="en-US" sz="1900" dirty="0">
                <a:solidFill>
                  <a:srgbClr val="0000FF"/>
                </a:solidFill>
              </a:rPr>
              <a:t>different</a:t>
            </a:r>
            <a:r>
              <a:rPr lang="en-US" sz="1900" dirty="0"/>
              <a:t> from the one travelling between </a:t>
            </a:r>
            <a:r>
              <a:rPr lang="en-US" sz="1900" dirty="0">
                <a:solidFill>
                  <a:srgbClr val="FF0000"/>
                </a:solidFill>
              </a:rPr>
              <a:t>router R1 </a:t>
            </a:r>
            <a:r>
              <a:rPr lang="en-US" sz="1900" dirty="0"/>
              <a:t>and </a:t>
            </a:r>
            <a:r>
              <a:rPr lang="en-US" sz="1900" dirty="0">
                <a:solidFill>
                  <a:srgbClr val="FF0000"/>
                </a:solidFill>
              </a:rPr>
              <a:t>R3</a:t>
            </a:r>
            <a:r>
              <a:rPr lang="en-US" sz="1900" dirty="0"/>
              <a:t>. </a:t>
            </a:r>
          </a:p>
          <a:p>
            <a:pPr algn="just" rtl="0"/>
            <a:r>
              <a:rPr lang="en-US" sz="1900" dirty="0"/>
              <a:t>When the frame is received by </a:t>
            </a:r>
            <a:r>
              <a:rPr lang="en-US" sz="1900" dirty="0">
                <a:solidFill>
                  <a:srgbClr val="0000FF"/>
                </a:solidFill>
              </a:rPr>
              <a:t>router R1</a:t>
            </a:r>
            <a:r>
              <a:rPr lang="en-US" sz="1900" dirty="0"/>
              <a:t>, this router passes the frame to the </a:t>
            </a:r>
            <a:r>
              <a:rPr lang="en-US" sz="1900" dirty="0">
                <a:solidFill>
                  <a:srgbClr val="0000FF"/>
                </a:solidFill>
              </a:rPr>
              <a:t>data link layer protocol (</a:t>
            </a:r>
            <a:r>
              <a:rPr lang="en-US" sz="1900" dirty="0">
                <a:solidFill>
                  <a:srgbClr val="FF0000"/>
                </a:solidFill>
              </a:rPr>
              <a:t>left</a:t>
            </a:r>
            <a:r>
              <a:rPr lang="en-US" sz="1900" dirty="0">
                <a:solidFill>
                  <a:srgbClr val="0000FF"/>
                </a:solidFill>
              </a:rPr>
              <a:t>)</a:t>
            </a:r>
            <a:r>
              <a:rPr lang="en-US" sz="1900" dirty="0"/>
              <a:t>. The frame is opened, the data are removed. </a:t>
            </a:r>
          </a:p>
          <a:p>
            <a:pPr algn="just" rtl="0"/>
            <a:r>
              <a:rPr lang="en-US" sz="1900" dirty="0"/>
              <a:t>The data are then passed to the </a:t>
            </a:r>
            <a:r>
              <a:rPr lang="en-US" sz="1900" dirty="0">
                <a:solidFill>
                  <a:srgbClr val="0000FF"/>
                </a:solidFill>
              </a:rPr>
              <a:t>data link layer protocol</a:t>
            </a:r>
            <a:r>
              <a:rPr lang="en-US" sz="1900" dirty="0"/>
              <a:t> (</a:t>
            </a:r>
            <a:r>
              <a:rPr lang="en-US" sz="1900" dirty="0">
                <a:solidFill>
                  <a:srgbClr val="FF0000"/>
                </a:solidFill>
              </a:rPr>
              <a:t>right</a:t>
            </a:r>
            <a:r>
              <a:rPr lang="en-US" sz="1900" dirty="0"/>
              <a:t>) to create a </a:t>
            </a:r>
            <a:r>
              <a:rPr lang="en-US" sz="1900" b="1" u="sng" dirty="0">
                <a:solidFill>
                  <a:srgbClr val="0000FF"/>
                </a:solidFill>
              </a:rPr>
              <a:t>new frame </a:t>
            </a:r>
            <a:r>
              <a:rPr lang="en-US" sz="1900" dirty="0"/>
              <a:t>to be sent to the router R3.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Data Link Layer (2)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758" y="1371600"/>
            <a:ext cx="6044242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2791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At the network layer (or, more accurately, the internetwork layer), TCP/IP </a:t>
            </a:r>
            <a:r>
              <a:rPr lang="en-US" sz="2400" b="1" dirty="0">
                <a:solidFill>
                  <a:srgbClr val="FF0000"/>
                </a:solidFill>
              </a:rPr>
              <a:t>supports the Internet Protocol (IP)</a:t>
            </a:r>
            <a:r>
              <a:rPr lang="en-US" sz="2400" dirty="0"/>
              <a:t>.</a:t>
            </a:r>
          </a:p>
          <a:p>
            <a:pPr algn="just" rtl="0"/>
            <a:r>
              <a:rPr lang="en-US" sz="2400" dirty="0"/>
              <a:t>The Internet Protocol (IP) is the </a:t>
            </a:r>
            <a:r>
              <a:rPr lang="en-US" sz="2400" u="sng" dirty="0">
                <a:solidFill>
                  <a:srgbClr val="0000FF"/>
                </a:solidFill>
              </a:rPr>
              <a:t>transmission mechanism </a:t>
            </a:r>
            <a:r>
              <a:rPr lang="en-US" sz="2400" dirty="0"/>
              <a:t>used by the TCP/IP protocols. </a:t>
            </a:r>
          </a:p>
          <a:p>
            <a:pPr algn="just" rtl="0"/>
            <a:r>
              <a:rPr lang="en-US" sz="2400" dirty="0"/>
              <a:t>IP transports data in packets called </a:t>
            </a:r>
            <a:r>
              <a:rPr lang="en-US" sz="2400" b="1" dirty="0">
                <a:solidFill>
                  <a:srgbClr val="0000FF"/>
                </a:solidFill>
              </a:rPr>
              <a:t>Datagrams</a:t>
            </a:r>
            <a:r>
              <a:rPr lang="en-US" sz="2400" dirty="0"/>
              <a:t>, each of which is transported separately. Datagrams can travel along different routes and can arrive </a:t>
            </a:r>
            <a:r>
              <a:rPr lang="en-US" sz="2400" b="1" dirty="0"/>
              <a:t>out of sequence </a:t>
            </a:r>
            <a:r>
              <a:rPr lang="en-US" sz="2400" dirty="0"/>
              <a:t>or be</a:t>
            </a:r>
            <a:r>
              <a:rPr lang="en-US" sz="2400" b="1" dirty="0"/>
              <a:t> duplicated</a:t>
            </a:r>
            <a:r>
              <a:rPr lang="en-US" sz="2400" dirty="0"/>
              <a:t>. </a:t>
            </a:r>
          </a:p>
          <a:p>
            <a:pPr algn="just" rtl="0"/>
            <a:r>
              <a:rPr lang="en-US" sz="2400" dirty="0">
                <a:solidFill>
                  <a:srgbClr val="FF0000"/>
                </a:solidFill>
              </a:rPr>
              <a:t>IP does not keep track of the routes and has no facility for reordering </a:t>
            </a:r>
            <a:r>
              <a:rPr lang="en-US" sz="2400" dirty="0"/>
              <a:t>datagrams once they arrive at their destination.</a:t>
            </a:r>
            <a:endParaRPr lang="ar-S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Network Layer(3)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76350"/>
            <a:ext cx="7433669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Network Layer(3)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279136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Note that there is a </a:t>
            </a:r>
            <a:r>
              <a:rPr lang="en-US" sz="2400" dirty="0">
                <a:solidFill>
                  <a:srgbClr val="FF0000"/>
                </a:solidFill>
              </a:rPr>
              <a:t>main difference </a:t>
            </a:r>
            <a:r>
              <a:rPr lang="en-US" sz="2400" dirty="0"/>
              <a:t>between the communication at the </a:t>
            </a:r>
            <a:r>
              <a:rPr lang="en-US" sz="2400" dirty="0">
                <a:solidFill>
                  <a:srgbClr val="0000FF"/>
                </a:solidFill>
              </a:rPr>
              <a:t>network layer </a:t>
            </a:r>
            <a:r>
              <a:rPr lang="en-US" sz="2400" dirty="0"/>
              <a:t>and the communication at </a:t>
            </a:r>
            <a:r>
              <a:rPr lang="en-US" sz="2400" dirty="0">
                <a:solidFill>
                  <a:srgbClr val="0000FF"/>
                </a:solidFill>
              </a:rPr>
              <a:t>data link or physical layers:</a:t>
            </a:r>
            <a:endParaRPr lang="en-US" sz="2400" dirty="0"/>
          </a:p>
          <a:p>
            <a:pPr algn="just" rtl="0">
              <a:buNone/>
            </a:pPr>
            <a:r>
              <a:rPr lang="en-US" sz="2400" dirty="0"/>
              <a:t>   Communication at the </a:t>
            </a:r>
            <a:r>
              <a:rPr lang="en-US" sz="2400" b="1" dirty="0">
                <a:solidFill>
                  <a:srgbClr val="FF0000"/>
                </a:solidFill>
              </a:rPr>
              <a:t>network layer is end to end </a:t>
            </a:r>
            <a:r>
              <a:rPr lang="en-US" sz="2400" dirty="0"/>
              <a:t>while the communication at the </a:t>
            </a:r>
            <a:r>
              <a:rPr lang="en-US" sz="2400" b="1" dirty="0">
                <a:solidFill>
                  <a:srgbClr val="0000FF"/>
                </a:solidFill>
              </a:rPr>
              <a:t>other two layers are node to node</a:t>
            </a:r>
            <a:r>
              <a:rPr lang="en-US" sz="2400" dirty="0"/>
              <a:t>.</a:t>
            </a:r>
            <a:endParaRPr lang="ar-SA" sz="2400" dirty="0"/>
          </a:p>
          <a:p>
            <a:pPr algn="just" rtl="0"/>
            <a:endParaRPr lang="en-US" sz="2400" dirty="0"/>
          </a:p>
          <a:p>
            <a:pPr algn="just" rtl="0"/>
            <a:r>
              <a:rPr lang="en-US" sz="2400" dirty="0"/>
              <a:t>The datagram started at </a:t>
            </a:r>
            <a:r>
              <a:rPr lang="en-US" sz="2400" b="1" dirty="0"/>
              <a:t>computer A</a:t>
            </a:r>
            <a:r>
              <a:rPr lang="en-US" sz="2400" dirty="0"/>
              <a:t> is the one that reaches </a:t>
            </a:r>
            <a:r>
              <a:rPr lang="en-US" sz="2400" b="1" dirty="0"/>
              <a:t>computer B</a:t>
            </a:r>
            <a:r>
              <a:rPr lang="en-US" sz="2400" dirty="0"/>
              <a:t>. The </a:t>
            </a:r>
            <a:r>
              <a:rPr lang="en-US" sz="2400" dirty="0">
                <a:solidFill>
                  <a:srgbClr val="0000FF"/>
                </a:solidFill>
              </a:rPr>
              <a:t>network layers of the routers </a:t>
            </a:r>
            <a:r>
              <a:rPr lang="en-US" sz="2400" dirty="0"/>
              <a:t>can </a:t>
            </a:r>
            <a:r>
              <a:rPr lang="en-US" sz="2400" dirty="0">
                <a:solidFill>
                  <a:srgbClr val="FF0000"/>
                </a:solidFill>
              </a:rPr>
              <a:t>inspect (check)</a:t>
            </a:r>
            <a:r>
              <a:rPr lang="en-US" sz="2400" dirty="0"/>
              <a:t> the source and destination of the packet for </a:t>
            </a:r>
            <a:r>
              <a:rPr lang="en-US" sz="2400" dirty="0">
                <a:solidFill>
                  <a:srgbClr val="FF0000"/>
                </a:solidFill>
              </a:rPr>
              <a:t>finding the best route</a:t>
            </a:r>
            <a:r>
              <a:rPr lang="en-US" sz="2400" dirty="0"/>
              <a:t>, but they are </a:t>
            </a:r>
            <a:r>
              <a:rPr lang="en-US" sz="2400" b="1" dirty="0"/>
              <a:t>not allowed to change </a:t>
            </a:r>
            <a:r>
              <a:rPr lang="en-US" sz="2400" dirty="0"/>
              <a:t>the contents of the packet.</a:t>
            </a:r>
            <a:endParaRPr lang="ar-S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Network Layer(3)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  <p:sp>
        <p:nvSpPr>
          <p:cNvPr id="5" name="Rectangle 4"/>
          <p:cNvSpPr/>
          <p:nvPr/>
        </p:nvSpPr>
        <p:spPr>
          <a:xfrm>
            <a:off x="805542" y="2485572"/>
            <a:ext cx="8077200" cy="11575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279136"/>
          </a:xfrm>
        </p:spPr>
        <p:txBody>
          <a:bodyPr>
            <a:normAutofit lnSpcReduction="10000"/>
          </a:bodyPr>
          <a:lstStyle/>
          <a:p>
            <a:pPr algn="just" rtl="0"/>
            <a:r>
              <a:rPr lang="en-US" sz="2400" dirty="0"/>
              <a:t>There is a </a:t>
            </a:r>
            <a:r>
              <a:rPr lang="en-US" sz="2400" b="1" dirty="0"/>
              <a:t>main difference </a:t>
            </a:r>
            <a:r>
              <a:rPr lang="en-US" sz="2400" dirty="0"/>
              <a:t>between the </a:t>
            </a:r>
            <a:r>
              <a:rPr lang="en-US" sz="2400" dirty="0">
                <a:solidFill>
                  <a:srgbClr val="0000FF"/>
                </a:solidFill>
              </a:rPr>
              <a:t>transport layer </a:t>
            </a:r>
            <a:r>
              <a:rPr lang="en-US" sz="2400" dirty="0"/>
              <a:t>and the </a:t>
            </a:r>
            <a:r>
              <a:rPr lang="en-US" sz="2400" dirty="0">
                <a:solidFill>
                  <a:srgbClr val="0000FF"/>
                </a:solidFill>
              </a:rPr>
              <a:t>network layer</a:t>
            </a:r>
            <a:r>
              <a:rPr lang="en-US" sz="2400" dirty="0"/>
              <a:t>.</a:t>
            </a:r>
          </a:p>
          <a:p>
            <a:pPr algn="just" rtl="0">
              <a:buNone/>
            </a:pPr>
            <a:r>
              <a:rPr lang="en-US" sz="2400" dirty="0">
                <a:solidFill>
                  <a:srgbClr val="FF0000"/>
                </a:solidFill>
              </a:rPr>
              <a:t>   </a:t>
            </a:r>
            <a:r>
              <a:rPr lang="en-US" sz="2400" b="1" dirty="0"/>
              <a:t>Although </a:t>
            </a:r>
            <a:r>
              <a:rPr lang="en-US" sz="2400" b="1" dirty="0">
                <a:solidFill>
                  <a:srgbClr val="FF0000"/>
                </a:solidFill>
              </a:rPr>
              <a:t>all nodes </a:t>
            </a:r>
            <a:r>
              <a:rPr lang="en-US" sz="2400" b="1" dirty="0"/>
              <a:t>in a network need to have the </a:t>
            </a:r>
            <a:r>
              <a:rPr lang="en-US" sz="2400" b="1" dirty="0">
                <a:solidFill>
                  <a:srgbClr val="FF0000"/>
                </a:solidFill>
              </a:rPr>
              <a:t>network layer</a:t>
            </a:r>
            <a:r>
              <a:rPr lang="en-US" sz="2400" b="1" dirty="0"/>
              <a:t>, only the </a:t>
            </a:r>
            <a:r>
              <a:rPr lang="en-US" sz="2400" b="1" dirty="0">
                <a:solidFill>
                  <a:srgbClr val="0000FF"/>
                </a:solidFill>
              </a:rPr>
              <a:t>two end computers </a:t>
            </a:r>
            <a:r>
              <a:rPr lang="en-US" sz="2400" b="1" dirty="0"/>
              <a:t>need to have </a:t>
            </a:r>
            <a:r>
              <a:rPr lang="en-US" sz="2400" b="1" dirty="0">
                <a:solidFill>
                  <a:srgbClr val="0000FF"/>
                </a:solidFill>
              </a:rPr>
              <a:t>the transport layer</a:t>
            </a:r>
            <a:r>
              <a:rPr lang="en-US" sz="2400" b="1" dirty="0"/>
              <a:t>.</a:t>
            </a:r>
          </a:p>
          <a:p>
            <a:pPr algn="just" rtl="0">
              <a:buNone/>
            </a:pPr>
            <a:endParaRPr lang="en-US" sz="2400" b="1" dirty="0"/>
          </a:p>
          <a:p>
            <a:pPr algn="just" rtl="0">
              <a:buFont typeface="Arial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0000FF"/>
                </a:solidFill>
              </a:rPr>
              <a:t>network layer</a:t>
            </a:r>
            <a:r>
              <a:rPr lang="en-US" sz="2400" dirty="0"/>
              <a:t> is responsible for sending individual datagrams from </a:t>
            </a:r>
            <a:r>
              <a:rPr lang="en-US" sz="2400" dirty="0">
                <a:solidFill>
                  <a:srgbClr val="0000FF"/>
                </a:solidFill>
              </a:rPr>
              <a:t>computer A to computer B</a:t>
            </a:r>
            <a:r>
              <a:rPr lang="en-US" sz="2400" dirty="0"/>
              <a:t>; the </a:t>
            </a:r>
            <a:r>
              <a:rPr lang="en-US" sz="2400" dirty="0">
                <a:solidFill>
                  <a:srgbClr val="FF0000"/>
                </a:solidFill>
              </a:rPr>
              <a:t>transport layer</a:t>
            </a:r>
            <a:r>
              <a:rPr lang="en-US" sz="2400" dirty="0"/>
              <a:t> is responsible for </a:t>
            </a:r>
            <a:r>
              <a:rPr lang="en-US" sz="2400" dirty="0">
                <a:solidFill>
                  <a:srgbClr val="FF0000"/>
                </a:solidFill>
              </a:rPr>
              <a:t>delivering the whole message</a:t>
            </a:r>
            <a:r>
              <a:rPr lang="en-US" sz="2400" dirty="0"/>
              <a:t>, which is called a </a:t>
            </a:r>
            <a:r>
              <a:rPr lang="en-US" sz="2400" b="1" dirty="0">
                <a:solidFill>
                  <a:srgbClr val="0000FF"/>
                </a:solidFill>
              </a:rPr>
              <a:t>Segment</a:t>
            </a:r>
            <a:r>
              <a:rPr lang="en-US" sz="2400" dirty="0"/>
              <a:t>, a user datagram, or a packet, from A to B.</a:t>
            </a:r>
          </a:p>
          <a:p>
            <a:pPr algn="just" rtl="0">
              <a:buFont typeface="Arial" pitchFamily="34" charset="0"/>
              <a:buChar char="•"/>
            </a:pPr>
            <a:r>
              <a:rPr lang="en-US" sz="2400" dirty="0"/>
              <a:t>A segment may </a:t>
            </a:r>
            <a:r>
              <a:rPr lang="en-US" sz="2400" b="1" dirty="0"/>
              <a:t>consist of a few or tens of datagrams</a:t>
            </a:r>
            <a:r>
              <a:rPr lang="en-US" sz="2400" dirty="0"/>
              <a:t>. The segments need to be </a:t>
            </a:r>
            <a:r>
              <a:rPr lang="en-US" sz="2400" b="1" dirty="0">
                <a:solidFill>
                  <a:srgbClr val="0000FF"/>
                </a:solidFill>
              </a:rPr>
              <a:t>broken</a:t>
            </a:r>
            <a:r>
              <a:rPr lang="en-US" sz="2400" dirty="0"/>
              <a:t> into datagrams and each </a:t>
            </a:r>
            <a:r>
              <a:rPr lang="en-US" sz="2400" b="1" dirty="0"/>
              <a:t>datagram</a:t>
            </a:r>
            <a:r>
              <a:rPr lang="en-US" sz="2400" dirty="0"/>
              <a:t> has to be delivered to the </a:t>
            </a:r>
            <a:r>
              <a:rPr lang="en-US" sz="2400" b="1" dirty="0"/>
              <a:t>network layer </a:t>
            </a:r>
            <a:r>
              <a:rPr lang="en-US" sz="2400" dirty="0"/>
              <a:t>for transmission. </a:t>
            </a:r>
            <a:endParaRPr lang="ar-S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Transport Layer (4)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  <p:sp>
        <p:nvSpPr>
          <p:cNvPr id="5" name="Rectangle 4"/>
          <p:cNvSpPr/>
          <p:nvPr/>
        </p:nvSpPr>
        <p:spPr>
          <a:xfrm>
            <a:off x="805542" y="1973946"/>
            <a:ext cx="8077200" cy="12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0" y="762000"/>
            <a:ext cx="2667000" cy="6096000"/>
          </a:xfrm>
        </p:spPr>
        <p:txBody>
          <a:bodyPr>
            <a:normAutofit fontScale="92500" lnSpcReduction="10000"/>
          </a:bodyPr>
          <a:lstStyle/>
          <a:p>
            <a:pPr algn="just" rtl="0">
              <a:buFont typeface="Arial" pitchFamily="34" charset="0"/>
              <a:buChar char="•"/>
            </a:pPr>
            <a:r>
              <a:rPr lang="en-US" sz="2400" dirty="0"/>
              <a:t>Since the Internet defines a </a:t>
            </a:r>
            <a:r>
              <a:rPr lang="en-US" sz="2400" dirty="0">
                <a:solidFill>
                  <a:srgbClr val="0000FF"/>
                </a:solidFill>
              </a:rPr>
              <a:t>different route </a:t>
            </a:r>
            <a:r>
              <a:rPr lang="en-US" sz="2400" dirty="0"/>
              <a:t>for each datagram, the datagrams may </a:t>
            </a:r>
            <a:r>
              <a:rPr lang="en-US" sz="2400" dirty="0">
                <a:solidFill>
                  <a:srgbClr val="FF0000"/>
                </a:solidFill>
              </a:rPr>
              <a:t>arrive out of order </a:t>
            </a:r>
            <a:r>
              <a:rPr lang="en-US" sz="2400" dirty="0"/>
              <a:t>and may be</a:t>
            </a:r>
            <a:r>
              <a:rPr lang="en-US" sz="2400" dirty="0">
                <a:solidFill>
                  <a:srgbClr val="FF0000"/>
                </a:solidFill>
              </a:rPr>
              <a:t> lost</a:t>
            </a:r>
            <a:r>
              <a:rPr lang="en-US" sz="2400" dirty="0"/>
              <a:t>. The transport layer at computer B needs to </a:t>
            </a:r>
            <a:r>
              <a:rPr lang="en-US" sz="2400" dirty="0">
                <a:solidFill>
                  <a:srgbClr val="FF0000"/>
                </a:solidFill>
              </a:rPr>
              <a:t>wait</a:t>
            </a:r>
            <a:r>
              <a:rPr lang="en-US" sz="2400" dirty="0"/>
              <a:t> until all of these datagrams to arrive, </a:t>
            </a:r>
            <a:r>
              <a:rPr lang="en-US" sz="2400" b="1" dirty="0">
                <a:solidFill>
                  <a:srgbClr val="FF0000"/>
                </a:solidFill>
              </a:rPr>
              <a:t>assemble</a:t>
            </a:r>
            <a:r>
              <a:rPr lang="en-US" sz="2400" dirty="0"/>
              <a:t> them and make a segment out of them.</a:t>
            </a:r>
            <a:endParaRPr lang="ar-SA" sz="2400" dirty="0"/>
          </a:p>
          <a:p>
            <a:pPr algn="just" rtl="0"/>
            <a:endParaRPr lang="ar-S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Transport Layer (4)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4514" y="1419225"/>
            <a:ext cx="6705600" cy="513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791200"/>
          </a:xfrm>
        </p:spPr>
        <p:txBody>
          <a:bodyPr>
            <a:normAutofit fontScale="92500" lnSpcReduction="10000"/>
          </a:bodyPr>
          <a:lstStyle/>
          <a:p>
            <a:pPr algn="just" rtl="0"/>
            <a:r>
              <a:rPr lang="en-US" sz="2400" b="1" dirty="0"/>
              <a:t>Traditionally, the transport layer was represented in the TCP/IP suite by two protocols:</a:t>
            </a:r>
          </a:p>
          <a:p>
            <a:pPr algn="just" rtl="0">
              <a:buNone/>
            </a:pPr>
            <a:r>
              <a:rPr lang="en-US" sz="2400" b="1" dirty="0">
                <a:solidFill>
                  <a:srgbClr val="0000FF"/>
                </a:solidFill>
              </a:rPr>
              <a:t>1- Transmission Control Protocol (TCP)</a:t>
            </a:r>
            <a:r>
              <a:rPr lang="en-US" sz="2400" dirty="0"/>
              <a:t>: is a </a:t>
            </a:r>
            <a:r>
              <a:rPr lang="en-US" sz="2400" b="1" dirty="0">
                <a:solidFill>
                  <a:srgbClr val="FF0000"/>
                </a:solidFill>
              </a:rPr>
              <a:t>reliable connection-oriented protocol </a:t>
            </a:r>
            <a:r>
              <a:rPr lang="en-US" sz="2400" dirty="0"/>
              <a:t>that allows a byte stream originating on one machine to be delivered without error on any other machine in the internet. TCP also handles </a:t>
            </a:r>
            <a:r>
              <a:rPr lang="en-US" sz="2400" b="1" dirty="0"/>
              <a:t>flow control </a:t>
            </a:r>
            <a:r>
              <a:rPr lang="en-US" sz="2400" dirty="0"/>
              <a:t>to make sure a fast sender cannot swamp a slow receiver with more messages than it can handle. </a:t>
            </a:r>
          </a:p>
          <a:p>
            <a:pPr algn="just" rtl="0">
              <a:buNone/>
            </a:pPr>
            <a:r>
              <a:rPr lang="en-US" sz="2400" b="1" dirty="0">
                <a:solidFill>
                  <a:srgbClr val="0000FF"/>
                </a:solidFill>
              </a:rPr>
              <a:t>2- User Datagram Protocol (UDP): </a:t>
            </a:r>
            <a:r>
              <a:rPr lang="en-US" sz="2400" dirty="0"/>
              <a:t>UDP is an </a:t>
            </a:r>
            <a:r>
              <a:rPr lang="en-US" sz="2400" b="1" dirty="0">
                <a:solidFill>
                  <a:srgbClr val="FF0000"/>
                </a:solidFill>
              </a:rPr>
              <a:t>unreliable, connectionless protocol</a:t>
            </a:r>
            <a:r>
              <a:rPr lang="en-US" sz="2400" dirty="0"/>
              <a:t> for applications that </a:t>
            </a:r>
            <a:r>
              <a:rPr lang="en-US" sz="2400" b="1" dirty="0"/>
              <a:t>do not want TCP’s sequencing or flow control </a:t>
            </a:r>
            <a:r>
              <a:rPr lang="en-US" sz="2400" dirty="0"/>
              <a:t>and wish to provide their own. It is also widely used for </a:t>
            </a:r>
            <a:r>
              <a:rPr lang="en-US" sz="2400" b="1" dirty="0"/>
              <a:t>one-shot, client-server-type request-reply queries </a:t>
            </a:r>
            <a:r>
              <a:rPr lang="en-US" sz="2400" dirty="0"/>
              <a:t>and applications in which prompt delivery is more important than accurate delivery, such as transmitting speech or video. Its advantage </a:t>
            </a:r>
            <a:r>
              <a:rPr lang="en-US" sz="2400" b="1" dirty="0">
                <a:solidFill>
                  <a:srgbClr val="FF0000"/>
                </a:solidFill>
              </a:rPr>
              <a:t>low overhead.  </a:t>
            </a:r>
          </a:p>
          <a:p>
            <a:pPr algn="just" rtl="0">
              <a:buNone/>
            </a:pPr>
            <a:r>
              <a:rPr lang="en-US" sz="2400" b="1" dirty="0">
                <a:solidFill>
                  <a:srgbClr val="0000FF"/>
                </a:solidFill>
              </a:rPr>
              <a:t>3-</a:t>
            </a:r>
            <a:r>
              <a:rPr lang="en-US" sz="2400" dirty="0"/>
              <a:t> A new protocol called </a:t>
            </a:r>
            <a:r>
              <a:rPr lang="en-US" sz="2400" b="1" dirty="0">
                <a:solidFill>
                  <a:srgbClr val="0000FF"/>
                </a:solidFill>
              </a:rPr>
              <a:t>Stream Control Transmission Protocol (SCTP) </a:t>
            </a:r>
            <a:r>
              <a:rPr lang="en-US" sz="2400" dirty="0"/>
              <a:t>has been introduced in the last few years.</a:t>
            </a:r>
            <a:endParaRPr lang="ar-SA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Transport Layer (4)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7912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>
                <a:latin typeface="Times New Roman"/>
              </a:rPr>
              <a:t>The application layer in TCP/IP is </a:t>
            </a:r>
            <a:r>
              <a:rPr lang="en-US" sz="2400" b="1" dirty="0">
                <a:latin typeface="Times New Roman"/>
              </a:rPr>
              <a:t>equivalent to the combined session, presentation, and application layers</a:t>
            </a:r>
            <a:r>
              <a:rPr lang="en-US" sz="2400" dirty="0">
                <a:latin typeface="Times New Roman"/>
              </a:rPr>
              <a:t> in the OSI model. The </a:t>
            </a:r>
            <a:r>
              <a:rPr lang="en-US" sz="2400" dirty="0">
                <a:solidFill>
                  <a:srgbClr val="0000FF"/>
                </a:solidFill>
                <a:latin typeface="Times New Roman"/>
              </a:rPr>
              <a:t>application layer allows a user to access the services of our private internet or the global Internet</a:t>
            </a:r>
            <a:r>
              <a:rPr lang="en-US" sz="2400" dirty="0">
                <a:latin typeface="Times New Roman"/>
              </a:rPr>
              <a:t>. Many protocols are defined at this layer to provide services such as electronic </a:t>
            </a:r>
            <a:r>
              <a:rPr lang="en-US" sz="2400" dirty="0">
                <a:solidFill>
                  <a:srgbClr val="0000FF"/>
                </a:solidFill>
                <a:latin typeface="Times New Roman"/>
              </a:rPr>
              <a:t>mail</a:t>
            </a:r>
            <a:r>
              <a:rPr lang="en-US" sz="2400" dirty="0">
                <a:latin typeface="Times New Roman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Times New Roman"/>
              </a:rPr>
              <a:t>file transfer</a:t>
            </a:r>
            <a:r>
              <a:rPr lang="en-US" sz="2400" dirty="0">
                <a:latin typeface="Times New Roman"/>
              </a:rPr>
              <a:t>, </a:t>
            </a:r>
            <a:r>
              <a:rPr lang="en-US" sz="2400" dirty="0">
                <a:solidFill>
                  <a:srgbClr val="0000FF"/>
                </a:solidFill>
                <a:latin typeface="Times New Roman"/>
              </a:rPr>
              <a:t>accessing the World Wide Web</a:t>
            </a:r>
            <a:r>
              <a:rPr lang="en-US" sz="2400" dirty="0">
                <a:latin typeface="Times New Roman"/>
              </a:rPr>
              <a:t>, and so on.</a:t>
            </a:r>
          </a:p>
          <a:p>
            <a:pPr algn="just" rtl="0"/>
            <a:endParaRPr lang="en-US" sz="2400" dirty="0">
              <a:latin typeface="Times New Roman"/>
            </a:endParaRPr>
          </a:p>
          <a:p>
            <a:pPr algn="just" rtl="0"/>
            <a:r>
              <a:rPr lang="en-US" sz="2400" dirty="0">
                <a:latin typeface="Times New Roman"/>
              </a:rPr>
              <a:t>Note that the communication at the application layer, like the one at the transport layer, is </a:t>
            </a:r>
            <a:r>
              <a:rPr lang="en-US" sz="2400" dirty="0">
                <a:solidFill>
                  <a:srgbClr val="FF0000"/>
                </a:solidFill>
                <a:latin typeface="Times New Roman"/>
              </a:rPr>
              <a:t>end to end</a:t>
            </a:r>
            <a:r>
              <a:rPr lang="en-US" sz="2400" dirty="0">
                <a:latin typeface="Times New Roman"/>
              </a:rPr>
              <a:t>. A message generated at computer A is sent to computer B without </a:t>
            </a:r>
            <a:r>
              <a:rPr lang="en-US" sz="2400" dirty="0"/>
              <a:t>being changed during the transmission.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Application Layer (5)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i="1" dirty="0"/>
              <a:t>Transport Layer (5) </a:t>
            </a:r>
            <a:r>
              <a:rPr lang="en-US" sz="1400" b="1" i="1" dirty="0"/>
              <a:t>TCP/IP</a:t>
            </a:r>
            <a:endParaRPr lang="ar-SA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186089"/>
            <a:ext cx="7886700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15400" cy="57912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Four levels of addresses are used in an internet employing the TCP/IP protocols: </a:t>
            </a:r>
            <a:r>
              <a:rPr lang="en-US" sz="2400" b="1" dirty="0">
                <a:solidFill>
                  <a:srgbClr val="FF0000"/>
                </a:solidFill>
              </a:rPr>
              <a:t>physical address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0000"/>
                </a:solidFill>
              </a:rPr>
              <a:t>logical address</a:t>
            </a:r>
            <a:r>
              <a:rPr lang="en-US" sz="2400" dirty="0"/>
              <a:t>, </a:t>
            </a:r>
            <a:r>
              <a:rPr lang="en-US" sz="2400" b="1" dirty="0">
                <a:solidFill>
                  <a:srgbClr val="FF0000"/>
                </a:solidFill>
              </a:rPr>
              <a:t>port address</a:t>
            </a:r>
            <a:r>
              <a:rPr lang="en-US" sz="2400" dirty="0"/>
              <a:t>, and </a:t>
            </a:r>
            <a:r>
              <a:rPr lang="en-US" sz="2400" b="1" dirty="0">
                <a:solidFill>
                  <a:srgbClr val="FF0000"/>
                </a:solidFill>
              </a:rPr>
              <a:t>application-specific address</a:t>
            </a:r>
            <a:r>
              <a:rPr lang="en-US" sz="2400" dirty="0"/>
              <a:t>. Each address is </a:t>
            </a:r>
            <a:r>
              <a:rPr lang="en-US" sz="2400" dirty="0">
                <a:solidFill>
                  <a:srgbClr val="0000FF"/>
                </a:solidFill>
              </a:rPr>
              <a:t>related to a one layer in the TCP/IP</a:t>
            </a:r>
            <a:r>
              <a:rPr lang="en-US" sz="2400" dirty="0"/>
              <a:t> architecture: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ADDRESSING</a:t>
            </a:r>
            <a:endParaRPr lang="ar-SA" sz="1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838450"/>
            <a:ext cx="6546703" cy="356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7912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>
                <a:latin typeface="Times New Roman"/>
              </a:rPr>
              <a:t>The physical address, also known as the </a:t>
            </a:r>
            <a:r>
              <a:rPr lang="en-US" sz="2400" b="1" dirty="0">
                <a:solidFill>
                  <a:srgbClr val="FF0000"/>
                </a:solidFill>
                <a:latin typeface="Times New Roman"/>
              </a:rPr>
              <a:t>link address</a:t>
            </a:r>
            <a:r>
              <a:rPr lang="en-US" sz="2400" dirty="0">
                <a:latin typeface="Times New Roman"/>
              </a:rPr>
              <a:t>, is the </a:t>
            </a:r>
            <a:r>
              <a:rPr lang="en-US" sz="2400" b="1" dirty="0">
                <a:latin typeface="Times New Roman"/>
              </a:rPr>
              <a:t>address of a node </a:t>
            </a:r>
            <a:r>
              <a:rPr lang="en-US" sz="2400" dirty="0">
                <a:latin typeface="Times New Roman"/>
              </a:rPr>
              <a:t>as defined by its LAN or WAN. It is included in the </a:t>
            </a:r>
            <a:r>
              <a:rPr lang="en-US" sz="2400" b="1" dirty="0">
                <a:solidFill>
                  <a:srgbClr val="0000FF"/>
                </a:solidFill>
                <a:latin typeface="Times New Roman"/>
              </a:rPr>
              <a:t>frame</a:t>
            </a:r>
            <a:r>
              <a:rPr lang="en-US" sz="2400" dirty="0">
                <a:latin typeface="Times New Roman"/>
              </a:rPr>
              <a:t> used by the data link layer. It is the lowest-level address. </a:t>
            </a:r>
          </a:p>
          <a:p>
            <a:pPr algn="just" rtl="0"/>
            <a:r>
              <a:rPr lang="en-US" sz="2400" dirty="0"/>
              <a:t>The </a:t>
            </a:r>
            <a:r>
              <a:rPr lang="en-US" sz="2400" b="1" dirty="0">
                <a:solidFill>
                  <a:srgbClr val="0000FF"/>
                </a:solidFill>
              </a:rPr>
              <a:t>size and format </a:t>
            </a:r>
            <a:r>
              <a:rPr lang="en-US" sz="2400" dirty="0"/>
              <a:t>of these addresses vary </a:t>
            </a:r>
            <a:r>
              <a:rPr lang="en-US" sz="2400" b="1" dirty="0">
                <a:solidFill>
                  <a:srgbClr val="0000FF"/>
                </a:solidFill>
              </a:rPr>
              <a:t>depending on the network</a:t>
            </a:r>
            <a:r>
              <a:rPr lang="en-US" sz="2400" dirty="0"/>
              <a:t>. For example, </a:t>
            </a:r>
            <a:r>
              <a:rPr lang="en-US" sz="2400" b="1" dirty="0">
                <a:solidFill>
                  <a:srgbClr val="FF0000"/>
                </a:solidFill>
              </a:rPr>
              <a:t>Ethernet</a:t>
            </a:r>
            <a:r>
              <a:rPr lang="en-US" sz="2400" dirty="0"/>
              <a:t> uses a </a:t>
            </a:r>
            <a:r>
              <a:rPr lang="en-US" sz="2400" b="1" dirty="0">
                <a:solidFill>
                  <a:srgbClr val="FF0000"/>
                </a:solidFill>
              </a:rPr>
              <a:t>6-byte (48-bit) physical address </a:t>
            </a:r>
            <a:r>
              <a:rPr lang="en-US" sz="2400" dirty="0"/>
              <a:t>that is imprinted on the network interface card (NIC). </a:t>
            </a:r>
            <a:r>
              <a:rPr lang="en-US" sz="2400" dirty="0" err="1"/>
              <a:t>LocalTalk</a:t>
            </a:r>
            <a:r>
              <a:rPr lang="en-US" sz="2400" dirty="0"/>
              <a:t> (Apple), however, has a 1-byte dynamic address that changes each time the station comes up.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</p:spPr>
        <p:txBody>
          <a:bodyPr/>
          <a:lstStyle/>
          <a:p>
            <a:r>
              <a:rPr lang="en-US" b="1" dirty="0"/>
              <a:t>Physical Addresses</a:t>
            </a:r>
            <a:endParaRPr lang="ar-SA" sz="1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5257800"/>
            <a:ext cx="513969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457200" y="304800"/>
            <a:ext cx="82296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l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Physical Addresses</a:t>
            </a:r>
            <a:endParaRPr kumimoji="0" lang="ar-SA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8665" y="1524000"/>
            <a:ext cx="7709535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228600" y="5334000"/>
            <a:ext cx="876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rtl="0"/>
            <a:r>
              <a:rPr lang="en-US" sz="2400" b="1" dirty="0"/>
              <a:t>Layer 2 addresses are only used to communicate between devices on a single local network </a:t>
            </a:r>
            <a:endParaRPr lang="ar-SA" sz="2400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1054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Physical addresses can be either </a:t>
            </a:r>
            <a:r>
              <a:rPr lang="en-US" sz="2400" b="1" dirty="0" err="1">
                <a:solidFill>
                  <a:srgbClr val="FF0000"/>
                </a:solidFill>
              </a:rPr>
              <a:t>unicast</a:t>
            </a:r>
            <a:r>
              <a:rPr lang="en-US" sz="2400" dirty="0"/>
              <a:t> (one single recipient), </a:t>
            </a:r>
            <a:r>
              <a:rPr lang="en-US" sz="2400" b="1" dirty="0">
                <a:solidFill>
                  <a:srgbClr val="FF0000"/>
                </a:solidFill>
              </a:rPr>
              <a:t>multicast</a:t>
            </a:r>
            <a:r>
              <a:rPr lang="en-US" sz="2400" dirty="0"/>
              <a:t> (a group of recipients), or </a:t>
            </a:r>
            <a:r>
              <a:rPr lang="en-US" sz="2400" b="1" dirty="0">
                <a:solidFill>
                  <a:srgbClr val="FF0000"/>
                </a:solidFill>
              </a:rPr>
              <a:t>broadcast</a:t>
            </a:r>
            <a:r>
              <a:rPr lang="en-US" sz="2400" dirty="0"/>
              <a:t> (to be received by all systems in the network).</a:t>
            </a:r>
          </a:p>
          <a:p>
            <a:pPr algn="just" rtl="0">
              <a:buNone/>
            </a:pPr>
            <a:r>
              <a:rPr lang="en-US" sz="2400" dirty="0"/>
              <a:t> </a:t>
            </a:r>
          </a:p>
          <a:p>
            <a:pPr algn="just" rtl="0"/>
            <a:r>
              <a:rPr lang="en-US" sz="2400" dirty="0"/>
              <a:t>Some networks support all three addresses. </a:t>
            </a:r>
            <a:r>
              <a:rPr lang="en-US" sz="2400" dirty="0">
                <a:solidFill>
                  <a:srgbClr val="FF0000"/>
                </a:solidFill>
              </a:rPr>
              <a:t>Ethernet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supports</a:t>
            </a:r>
            <a:r>
              <a:rPr lang="en-US" sz="2400" dirty="0"/>
              <a:t> the </a:t>
            </a:r>
            <a:r>
              <a:rPr lang="en-US" sz="2400" b="1" dirty="0" err="1"/>
              <a:t>unicast</a:t>
            </a:r>
            <a:r>
              <a:rPr lang="en-US" sz="2400" dirty="0"/>
              <a:t> physical addresses (6 bytes), the </a:t>
            </a:r>
            <a:r>
              <a:rPr lang="en-US" sz="2400" b="1" dirty="0"/>
              <a:t>multicast</a:t>
            </a:r>
            <a:r>
              <a:rPr lang="en-US" sz="2400" dirty="0"/>
              <a:t> addresses, and the </a:t>
            </a:r>
            <a:r>
              <a:rPr lang="en-US" sz="2400" b="1" dirty="0"/>
              <a:t>broadcast</a:t>
            </a:r>
            <a:r>
              <a:rPr lang="en-US" sz="2400" dirty="0"/>
              <a:t> addresses.</a:t>
            </a:r>
          </a:p>
          <a:p>
            <a:pPr algn="just" rtl="0"/>
            <a:endParaRPr lang="en-US" sz="2400" dirty="0"/>
          </a:p>
          <a:p>
            <a:pPr algn="just" rtl="0"/>
            <a:r>
              <a:rPr lang="en-US" sz="2400" dirty="0"/>
              <a:t>Some networks do </a:t>
            </a:r>
            <a:r>
              <a:rPr lang="en-US" sz="2400" b="1" dirty="0">
                <a:solidFill>
                  <a:srgbClr val="0000FF"/>
                </a:solidFill>
              </a:rPr>
              <a:t>not support</a:t>
            </a:r>
            <a:r>
              <a:rPr lang="en-US" sz="2400" dirty="0"/>
              <a:t> the </a:t>
            </a:r>
            <a:r>
              <a:rPr lang="en-US" sz="2400" b="1" dirty="0"/>
              <a:t>multicast</a:t>
            </a:r>
            <a:r>
              <a:rPr lang="en-US" sz="2400" dirty="0"/>
              <a:t> or </a:t>
            </a:r>
            <a:r>
              <a:rPr lang="en-US" sz="2400" b="1" dirty="0"/>
              <a:t>broadcast</a:t>
            </a:r>
            <a:r>
              <a:rPr lang="en-US" sz="2400" dirty="0"/>
              <a:t> physical addresses.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915400" cy="1066800"/>
          </a:xfrm>
        </p:spPr>
        <p:txBody>
          <a:bodyPr>
            <a:normAutofit/>
          </a:bodyPr>
          <a:lstStyle/>
          <a:p>
            <a:r>
              <a:rPr lang="en-US" sz="2700" b="1" i="1" dirty="0" err="1"/>
              <a:t>Unicast</a:t>
            </a:r>
            <a:r>
              <a:rPr lang="en-US" sz="2700" b="1" i="1" dirty="0"/>
              <a:t>, Multicast, and Broadcast Physical Addresses</a:t>
            </a:r>
            <a:endParaRPr lang="ar-SA" sz="2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791200"/>
          </a:xfrm>
        </p:spPr>
        <p:txBody>
          <a:bodyPr>
            <a:normAutofit/>
          </a:bodyPr>
          <a:lstStyle/>
          <a:p>
            <a:pPr algn="just" rtl="0"/>
            <a:r>
              <a:rPr lang="en-US" sz="2400" b="1" dirty="0">
                <a:solidFill>
                  <a:srgbClr val="FF0000"/>
                </a:solidFill>
              </a:rPr>
              <a:t>Logical addresses</a:t>
            </a:r>
            <a:r>
              <a:rPr lang="en-US" sz="2400" dirty="0"/>
              <a:t> are necessary for universal communications that are independent of underlying physical networks. </a:t>
            </a:r>
          </a:p>
          <a:p>
            <a:pPr algn="just" rtl="0"/>
            <a:r>
              <a:rPr lang="en-US" sz="2400" b="1" dirty="0">
                <a:solidFill>
                  <a:srgbClr val="FF0000"/>
                </a:solidFill>
              </a:rPr>
              <a:t>Physical addresses </a:t>
            </a:r>
            <a:r>
              <a:rPr lang="en-US" sz="2400" dirty="0"/>
              <a:t>are not adequate in an internetwork environment where different networks can have different address formats. </a:t>
            </a:r>
          </a:p>
          <a:p>
            <a:pPr algn="just" rtl="0"/>
            <a:r>
              <a:rPr lang="en-US" sz="2400" dirty="0"/>
              <a:t>A universal addressing system is needed in which each host can be  identified uniquely, regardless of the underlying physical network. The </a:t>
            </a:r>
            <a:r>
              <a:rPr lang="en-US" sz="2400" dirty="0">
                <a:latin typeface="Times New Roman"/>
              </a:rPr>
              <a:t>logical addresses are designed for this purpose.</a:t>
            </a:r>
          </a:p>
          <a:p>
            <a:pPr algn="just" rtl="0"/>
            <a:r>
              <a:rPr lang="en-US" sz="2400" dirty="0">
                <a:latin typeface="Times New Roman"/>
              </a:rPr>
              <a:t>A </a:t>
            </a:r>
            <a:r>
              <a:rPr lang="en-US" sz="2400" b="1" dirty="0">
                <a:latin typeface="Times New Roman"/>
              </a:rPr>
              <a:t>logical address </a:t>
            </a:r>
            <a:r>
              <a:rPr lang="en-US" sz="2400" dirty="0">
                <a:latin typeface="Times New Roman"/>
              </a:rPr>
              <a:t>in the Internet is currently a </a:t>
            </a:r>
            <a:r>
              <a:rPr lang="en-US" sz="2400" b="1" dirty="0">
                <a:solidFill>
                  <a:srgbClr val="FF0000"/>
                </a:solidFill>
                <a:latin typeface="Times New Roman"/>
              </a:rPr>
              <a:t>32-bit address </a:t>
            </a:r>
            <a:r>
              <a:rPr lang="en-US" sz="2400" dirty="0">
                <a:latin typeface="Times New Roman"/>
              </a:rPr>
              <a:t>that can </a:t>
            </a:r>
            <a:r>
              <a:rPr lang="en-US" sz="2400" b="1" dirty="0">
                <a:latin typeface="Times New Roman"/>
              </a:rPr>
              <a:t>uniquely define a host connected to the Internet</a:t>
            </a:r>
            <a:r>
              <a:rPr lang="en-US" sz="2400" dirty="0">
                <a:latin typeface="Times New Roman"/>
              </a:rPr>
              <a:t>. </a:t>
            </a:r>
            <a:r>
              <a:rPr lang="en-US" sz="2400" dirty="0">
                <a:solidFill>
                  <a:srgbClr val="0000FF"/>
                </a:solidFill>
                <a:latin typeface="Times New Roman"/>
              </a:rPr>
              <a:t>No two publicly addressed and visible hosts on the Internet can have the same IP address</a:t>
            </a:r>
            <a:r>
              <a:rPr lang="en-US" sz="2400" dirty="0">
                <a:latin typeface="Times New Roman"/>
              </a:rPr>
              <a:t>.</a:t>
            </a:r>
            <a:endParaRPr lang="en-US" sz="2400" dirty="0"/>
          </a:p>
          <a:p>
            <a:pPr algn="just" rtl="0"/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Logical Addresses</a:t>
            </a:r>
            <a:endParaRPr lang="ar-SA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0" y="762000"/>
            <a:ext cx="3298374" cy="6096000"/>
          </a:xfrm>
        </p:spPr>
        <p:txBody>
          <a:bodyPr>
            <a:normAutofit lnSpcReduction="10000"/>
          </a:bodyPr>
          <a:lstStyle/>
          <a:p>
            <a:pPr algn="just" rt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network layer, however, needs to find the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physical address of the next hop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before the packet can be delivered. The network Layer consults its </a:t>
            </a:r>
            <a:r>
              <a:rPr lang="en-US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routing table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finds the logical address of the next hop to be F. </a:t>
            </a:r>
          </a:p>
          <a:p>
            <a:pPr algn="just" rtl="0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Another protocol,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Address Resolution Protocol (ARP),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finds the physical address of router 1 that corresponds to its logical address (20).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Logical Addresses</a:t>
            </a:r>
            <a:endParaRPr lang="ar-SA" sz="14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6052458"/>
            <a:ext cx="48577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514" y="1066800"/>
            <a:ext cx="5943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752600"/>
            <a:ext cx="8839200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400" cy="1066800"/>
          </a:xfrm>
        </p:spPr>
        <p:txBody>
          <a:bodyPr/>
          <a:lstStyle/>
          <a:p>
            <a:r>
              <a:rPr lang="en-US" b="1" dirty="0"/>
              <a:t>Logical Addresses</a:t>
            </a:r>
            <a:endParaRPr lang="ar-SA" sz="1400" dirty="0"/>
          </a:p>
        </p:txBody>
      </p:sp>
      <p:sp>
        <p:nvSpPr>
          <p:cNvPr id="8" name="Rectangle 7"/>
          <p:cNvSpPr/>
          <p:nvPr/>
        </p:nvSpPr>
        <p:spPr>
          <a:xfrm>
            <a:off x="228600" y="4343400"/>
            <a:ext cx="86106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8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Unicast</a:t>
            </a:r>
            <a:r>
              <a:rPr lang="en-US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, Multicast, and Broadcast Addresses</a:t>
            </a:r>
          </a:p>
          <a:p>
            <a:pPr lvl="1" indent="-457200" algn="just" rtl="0">
              <a:buFont typeface="Wingdings" pitchFamily="2" charset="2"/>
              <a:buChar char="q"/>
            </a:pPr>
            <a:r>
              <a:rPr lang="en-US" sz="2400" dirty="0"/>
              <a:t>The logical addresses can be either </a:t>
            </a:r>
            <a:r>
              <a:rPr lang="en-US" sz="2400" dirty="0" err="1"/>
              <a:t>unicast</a:t>
            </a:r>
            <a:r>
              <a:rPr lang="en-US" sz="2400" dirty="0"/>
              <a:t> (one single recipient), multicast (a group of recipients), or broadcast (all systems in the network). There are limitations on broadcast addresses.</a:t>
            </a:r>
            <a:endParaRPr lang="ar-SA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447800"/>
            <a:ext cx="89154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534400" cy="1066800"/>
          </a:xfrm>
        </p:spPr>
        <p:txBody>
          <a:bodyPr/>
          <a:lstStyle/>
          <a:p>
            <a:r>
              <a:rPr lang="en-US" b="1" dirty="0"/>
              <a:t>Logical Addresses</a:t>
            </a:r>
            <a:endParaRPr lang="ar-SA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7912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Computers are devices that can </a:t>
            </a:r>
            <a:r>
              <a:rPr lang="en-US" sz="2400" dirty="0">
                <a:solidFill>
                  <a:srgbClr val="0000FF"/>
                </a:solidFill>
              </a:rPr>
              <a:t>run multiple processes </a:t>
            </a:r>
            <a:r>
              <a:rPr lang="en-US" sz="2400" dirty="0"/>
              <a:t>at the same time. The end objective of Internet communication is a </a:t>
            </a:r>
            <a:r>
              <a:rPr lang="en-US" sz="2400" b="1" dirty="0">
                <a:solidFill>
                  <a:srgbClr val="FF0000"/>
                </a:solidFill>
              </a:rPr>
              <a:t>process communicating with another process</a:t>
            </a:r>
            <a:r>
              <a:rPr lang="en-US" sz="2400" dirty="0"/>
              <a:t>.</a:t>
            </a:r>
          </a:p>
          <a:p>
            <a:pPr algn="just" rtl="0"/>
            <a:r>
              <a:rPr lang="en-US" sz="2400" dirty="0"/>
              <a:t>For example, </a:t>
            </a:r>
            <a:r>
              <a:rPr lang="en-US" sz="2400" b="1" dirty="0"/>
              <a:t>computer A </a:t>
            </a:r>
            <a:r>
              <a:rPr lang="en-US" sz="2400" dirty="0"/>
              <a:t>can communicate with </a:t>
            </a:r>
            <a:r>
              <a:rPr lang="en-US" sz="2400" b="1" dirty="0"/>
              <a:t>computer C </a:t>
            </a:r>
            <a:r>
              <a:rPr lang="en-US" sz="2400" dirty="0"/>
              <a:t>by using </a:t>
            </a:r>
            <a:r>
              <a:rPr lang="en-US" sz="2400" dirty="0">
                <a:solidFill>
                  <a:srgbClr val="0000FF"/>
                </a:solidFill>
              </a:rPr>
              <a:t>TELNET</a:t>
            </a:r>
            <a:r>
              <a:rPr lang="en-US" sz="2400" dirty="0"/>
              <a:t>. At the same time, </a:t>
            </a:r>
            <a:r>
              <a:rPr lang="en-US" sz="2400" b="1" dirty="0"/>
              <a:t>computer A </a:t>
            </a:r>
            <a:r>
              <a:rPr lang="en-US" sz="2400" dirty="0"/>
              <a:t>communicates with </a:t>
            </a:r>
            <a:r>
              <a:rPr lang="en-US" sz="2400" b="1" dirty="0"/>
              <a:t>computer B </a:t>
            </a:r>
            <a:r>
              <a:rPr lang="en-US" sz="2400" dirty="0"/>
              <a:t>by using the </a:t>
            </a:r>
            <a:r>
              <a:rPr lang="en-US" sz="2400" dirty="0">
                <a:solidFill>
                  <a:srgbClr val="0000FF"/>
                </a:solidFill>
              </a:rPr>
              <a:t>File Transfer Protocol </a:t>
            </a:r>
            <a:r>
              <a:rPr lang="en-US" sz="2400" dirty="0"/>
              <a:t>(FTP).</a:t>
            </a:r>
          </a:p>
          <a:p>
            <a:pPr algn="just" rtl="0"/>
            <a:r>
              <a:rPr lang="en-US" sz="2400" dirty="0"/>
              <a:t>For these processes to receive data simultaneously, we need a method to </a:t>
            </a:r>
            <a:r>
              <a:rPr lang="en-US" sz="2400" b="1" dirty="0">
                <a:solidFill>
                  <a:srgbClr val="0000FF"/>
                </a:solidFill>
              </a:rPr>
              <a:t>label the different processes</a:t>
            </a:r>
            <a:r>
              <a:rPr lang="en-US" sz="2400" dirty="0"/>
              <a:t>. In the TCP/IP architecture, the label assigned to a process is called a </a:t>
            </a:r>
            <a:r>
              <a:rPr lang="en-US" sz="2400" b="1" dirty="0">
                <a:solidFill>
                  <a:srgbClr val="FF0000"/>
                </a:solidFill>
              </a:rPr>
              <a:t>port address</a:t>
            </a:r>
            <a:r>
              <a:rPr lang="en-US" sz="2400" dirty="0"/>
              <a:t>. A port address in TCP/IP is </a:t>
            </a:r>
            <a:r>
              <a:rPr lang="en-US" sz="2400" b="1" dirty="0"/>
              <a:t>16 bits in length</a:t>
            </a:r>
            <a:r>
              <a:rPr lang="en-US" sz="2400" dirty="0"/>
              <a:t>.</a:t>
            </a:r>
          </a:p>
          <a:p>
            <a:endParaRPr lang="ar-SA" sz="2400" dirty="0"/>
          </a:p>
          <a:p>
            <a:pPr algn="just" rtl="0"/>
            <a:endParaRPr 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Port Addresses</a:t>
            </a:r>
            <a:endParaRPr lang="ar-SA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1066800"/>
            <a:ext cx="2438400" cy="5791200"/>
          </a:xfrm>
        </p:spPr>
        <p:txBody>
          <a:bodyPr>
            <a:normAutofit/>
          </a:bodyPr>
          <a:lstStyle/>
          <a:p>
            <a:pPr algn="just" rtl="0"/>
            <a:r>
              <a:rPr lang="en-US" sz="2000" dirty="0"/>
              <a:t>Port address is a </a:t>
            </a:r>
            <a:r>
              <a:rPr lang="en-US" sz="2000" b="1" dirty="0"/>
              <a:t>16-bit</a:t>
            </a:r>
            <a:r>
              <a:rPr lang="en-US" sz="2000" dirty="0"/>
              <a:t> address represented by one decimal number as shown.</a:t>
            </a:r>
          </a:p>
          <a:p>
            <a:pPr algn="just" rtl="0"/>
            <a:r>
              <a:rPr lang="en-US" sz="2000" dirty="0">
                <a:solidFill>
                  <a:srgbClr val="FF0000"/>
                </a:solidFill>
              </a:rPr>
              <a:t>753</a:t>
            </a:r>
            <a:r>
              <a:rPr lang="en-US" sz="2000" dirty="0"/>
              <a:t> A 16-bit port address represented as one single number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Port Addresses</a:t>
            </a:r>
            <a:endParaRPr lang="ar-SA" sz="1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66800"/>
            <a:ext cx="6915993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5943600"/>
            <a:ext cx="531495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15400" cy="5029200"/>
          </a:xfrm>
        </p:spPr>
        <p:txBody>
          <a:bodyPr>
            <a:normAutofit/>
          </a:bodyPr>
          <a:lstStyle/>
          <a:p>
            <a:endParaRPr lang="ar-SA" sz="2400" dirty="0"/>
          </a:p>
          <a:p>
            <a:pPr algn="l" rtl="0">
              <a:buFont typeface="Wingdings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Some of these Addresses are: </a:t>
            </a:r>
          </a:p>
          <a:p>
            <a:pPr lvl="1" algn="l" rtl="0"/>
            <a:r>
              <a:rPr lang="en-US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Domain Name System (DNS) - TCP/UDP Port 53</a:t>
            </a:r>
          </a:p>
          <a:p>
            <a:pPr lvl="1" algn="l" rtl="0"/>
            <a:r>
              <a:rPr lang="en-US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Hypertext Transfer Protocol (HTTP) - TCP Port 80</a:t>
            </a:r>
          </a:p>
          <a:p>
            <a:pPr lvl="1" algn="l" rtl="0"/>
            <a:r>
              <a:rPr lang="en-US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Simple Mail Transfer Protocol (SMTP) - TCP Port 25</a:t>
            </a:r>
          </a:p>
          <a:p>
            <a:pPr lvl="1" algn="l" rtl="0"/>
            <a:r>
              <a:rPr lang="fr-FR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Post Office Protocol (POP) - UDP Port 110 </a:t>
            </a:r>
            <a:r>
              <a:rPr lang="en-US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Telnet - TCP Port 23</a:t>
            </a:r>
          </a:p>
          <a:p>
            <a:pPr lvl="1" algn="l" rtl="0"/>
            <a:r>
              <a:rPr lang="fr-FR" sz="2200" b="1" dirty="0" err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Dynamic</a:t>
            </a:r>
            <a:r>
              <a:rPr lang="fr-FR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Host Configuration Protocol - UDP Port 67</a:t>
            </a:r>
          </a:p>
          <a:p>
            <a:pPr lvl="1" algn="l" rtl="0"/>
            <a:r>
              <a:rPr lang="en-US" sz="2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File Transfer Protocol (FTP) - TCP Ports 20 and 21 </a:t>
            </a:r>
          </a:p>
          <a:p>
            <a:pPr algn="l" rtl="0">
              <a:buNone/>
            </a:pPr>
            <a:r>
              <a:rPr lang="en-US" sz="2400" dirty="0"/>
              <a:t> </a:t>
            </a:r>
          </a:p>
          <a:p>
            <a:pPr algn="l" rtl="0">
              <a:buNone/>
            </a:pPr>
            <a:r>
              <a:rPr lang="en-US" sz="2400" dirty="0"/>
              <a:t>For more: </a:t>
            </a:r>
            <a:endParaRPr lang="ar-SA" sz="2400" dirty="0"/>
          </a:p>
          <a:p>
            <a:pPr algn="l" rtl="0">
              <a:buNone/>
            </a:pPr>
            <a:r>
              <a:rPr lang="ar-SA" sz="2400" dirty="0"/>
              <a:t> </a:t>
            </a:r>
            <a:r>
              <a:rPr lang="en-US" sz="2400" dirty="0"/>
              <a:t>CCNA Exploration 4.0 Network Fundamentals, Chapter Three Application Layer functionality &amp; Protocols (P. 24).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Port Addresses</a:t>
            </a:r>
            <a:endParaRPr lang="ar-SA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029200"/>
          </a:xfrm>
        </p:spPr>
        <p:txBody>
          <a:bodyPr>
            <a:normAutofit/>
          </a:bodyPr>
          <a:lstStyle/>
          <a:p>
            <a:pPr algn="just" rtl="0"/>
            <a:r>
              <a:rPr lang="en-US" sz="2400" dirty="0"/>
              <a:t>Some applications have user-friendly addresses that are designed for that specific application.</a:t>
            </a:r>
          </a:p>
          <a:p>
            <a:pPr algn="just" rtl="0"/>
            <a:r>
              <a:rPr lang="en-US" sz="2400" dirty="0"/>
              <a:t>Examples include the </a:t>
            </a:r>
            <a:r>
              <a:rPr lang="en-US" sz="2400" b="1" dirty="0"/>
              <a:t>e-mail address </a:t>
            </a:r>
            <a:r>
              <a:rPr lang="en-US" sz="2400" dirty="0"/>
              <a:t>(for example, </a:t>
            </a:r>
            <a:r>
              <a:rPr lang="en-US" sz="2400" dirty="0">
                <a:solidFill>
                  <a:srgbClr val="0000FF"/>
                </a:solidFill>
              </a:rPr>
              <a:t>forouzan@fhda.edu</a:t>
            </a:r>
            <a:r>
              <a:rPr lang="en-US" sz="2400" dirty="0"/>
              <a:t>) and the Universal Resource Locator (URL) (for example, </a:t>
            </a:r>
            <a:r>
              <a:rPr lang="en-US" sz="2400" dirty="0">
                <a:solidFill>
                  <a:srgbClr val="0000FF"/>
                </a:solidFill>
              </a:rPr>
              <a:t>www.mhhe.com</a:t>
            </a:r>
            <a:r>
              <a:rPr lang="en-US" sz="2400" dirty="0"/>
              <a:t>). The first defines the recipient of an e-mail; the second is used to find a document on the World Wide Web. </a:t>
            </a:r>
          </a:p>
          <a:p>
            <a:pPr algn="just" rtl="0"/>
            <a:r>
              <a:rPr lang="en-US" sz="2400" dirty="0"/>
              <a:t>These addresses, however, get </a:t>
            </a:r>
            <a:r>
              <a:rPr lang="en-US" sz="2400" dirty="0">
                <a:solidFill>
                  <a:srgbClr val="FF0000"/>
                </a:solidFill>
              </a:rPr>
              <a:t>changed</a:t>
            </a:r>
            <a:r>
              <a:rPr lang="en-US" sz="2400" dirty="0"/>
              <a:t> to the corresponding </a:t>
            </a:r>
            <a:r>
              <a:rPr lang="en-US" sz="2400" dirty="0">
                <a:solidFill>
                  <a:srgbClr val="FF0000"/>
                </a:solidFill>
              </a:rPr>
              <a:t>port and logical </a:t>
            </a:r>
            <a:r>
              <a:rPr lang="en-US" sz="2400" dirty="0"/>
              <a:t>addresses by the sending computer.</a:t>
            </a:r>
            <a:endParaRPr lang="ar-SA" sz="24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066800"/>
          </a:xfrm>
        </p:spPr>
        <p:txBody>
          <a:bodyPr/>
          <a:lstStyle/>
          <a:p>
            <a:r>
              <a:rPr lang="en-US" b="1" dirty="0"/>
              <a:t>Application-Specific Addresses</a:t>
            </a:r>
            <a:endParaRPr lang="ar-SA" sz="14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pulent">
    <a:dk1>
      <a:sysClr val="windowText" lastClr="000000"/>
    </a:dk1>
    <a:lt1>
      <a:sysClr val="window" lastClr="FFFFFF"/>
    </a:lt1>
    <a:dk2>
      <a:srgbClr val="B13F9A"/>
    </a:dk2>
    <a:lt2>
      <a:srgbClr val="F4E7ED"/>
    </a:lt2>
    <a:accent1>
      <a:srgbClr val="B83D68"/>
    </a:accent1>
    <a:accent2>
      <a:srgbClr val="AC66BB"/>
    </a:accent2>
    <a:accent3>
      <a:srgbClr val="DE6C36"/>
    </a:accent3>
    <a:accent4>
      <a:srgbClr val="F9B639"/>
    </a:accent4>
    <a:accent5>
      <a:srgbClr val="CF6DA4"/>
    </a:accent5>
    <a:accent6>
      <a:srgbClr val="FA8D3D"/>
    </a:accent6>
    <a:hlink>
      <a:srgbClr val="FFDE66"/>
    </a:hlink>
    <a:folHlink>
      <a:srgbClr val="D490C5"/>
    </a:folHlink>
  </a:clrScheme>
</a:themeOverride>
</file>

<file path=ppt/theme/themeOverride2.xml><?xml version="1.0" encoding="utf-8"?>
<a:themeOverride xmlns:a="http://schemas.openxmlformats.org/drawingml/2006/main">
  <a:clrScheme name="Opulent">
    <a:dk1>
      <a:sysClr val="windowText" lastClr="000000"/>
    </a:dk1>
    <a:lt1>
      <a:sysClr val="window" lastClr="FFFFFF"/>
    </a:lt1>
    <a:dk2>
      <a:srgbClr val="B13F9A"/>
    </a:dk2>
    <a:lt2>
      <a:srgbClr val="F4E7ED"/>
    </a:lt2>
    <a:accent1>
      <a:srgbClr val="B83D68"/>
    </a:accent1>
    <a:accent2>
      <a:srgbClr val="AC66BB"/>
    </a:accent2>
    <a:accent3>
      <a:srgbClr val="DE6C36"/>
    </a:accent3>
    <a:accent4>
      <a:srgbClr val="F9B639"/>
    </a:accent4>
    <a:accent5>
      <a:srgbClr val="CF6DA4"/>
    </a:accent5>
    <a:accent6>
      <a:srgbClr val="FA8D3D"/>
    </a:accent6>
    <a:hlink>
      <a:srgbClr val="FFDE66"/>
    </a:hlink>
    <a:folHlink>
      <a:srgbClr val="D490C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</TotalTime>
  <Words>4347</Words>
  <Application>Microsoft Office PowerPoint</Application>
  <PresentationFormat>On-screen Show (4:3)</PresentationFormat>
  <Paragraphs>247</Paragraphs>
  <Slides>57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58" baseType="lpstr">
      <vt:lpstr>Urban</vt:lpstr>
      <vt:lpstr>The OSI Model and the TCP/IP Protocol Suite</vt:lpstr>
      <vt:lpstr>OBJECTIVES</vt:lpstr>
      <vt:lpstr>Introduction</vt:lpstr>
      <vt:lpstr>PROTOCOL LAYERS</vt:lpstr>
      <vt:lpstr>PROTOCOL LAYERS</vt:lpstr>
      <vt:lpstr>Protocol Hierarchies</vt:lpstr>
      <vt:lpstr>THE OSI MODEL</vt:lpstr>
      <vt:lpstr>THE OSI MODEL</vt:lpstr>
      <vt:lpstr>THE OSI MODEL</vt:lpstr>
      <vt:lpstr>Layered Architecture</vt:lpstr>
      <vt:lpstr>Layered Architecture</vt:lpstr>
      <vt:lpstr>Encapsulation</vt:lpstr>
      <vt:lpstr>  Physical Layer (1)</vt:lpstr>
      <vt:lpstr>Physical Layer (1)</vt:lpstr>
      <vt:lpstr> Data Link Layer (2)</vt:lpstr>
      <vt:lpstr> Data Link Layer (2)</vt:lpstr>
      <vt:lpstr> Network Layer (3)</vt:lpstr>
      <vt:lpstr> Network Layer (3)</vt:lpstr>
      <vt:lpstr> Transport Layer(4)</vt:lpstr>
      <vt:lpstr> Transport Layer(4)</vt:lpstr>
      <vt:lpstr> Session Layer(5)</vt:lpstr>
      <vt:lpstr> Presentation Layer (6)</vt:lpstr>
      <vt:lpstr> Application Layer (7)</vt:lpstr>
      <vt:lpstr>Summary of OSI Layers</vt:lpstr>
      <vt:lpstr>TCP/IP PROTOCOL SUITE</vt:lpstr>
      <vt:lpstr>TCP/IP PROTOCOL SUITE</vt:lpstr>
      <vt:lpstr>TCP/IP PROTOCOL SUITE</vt:lpstr>
      <vt:lpstr>TCP/IP PROTOCOL SUITE</vt:lpstr>
      <vt:lpstr>TCP/IP PROTOCOL SUITE</vt:lpstr>
      <vt:lpstr>Comparison between OSI and TCP/IP Protocol Suite</vt:lpstr>
      <vt:lpstr>Comparison between OSI and TCP/IP Protocol Suite</vt:lpstr>
      <vt:lpstr>Layers in the TCP/IP Protocol Suite</vt:lpstr>
      <vt:lpstr>Physical Layer (1) TCP/IP</vt:lpstr>
      <vt:lpstr>Physical Layer (1) TCP/IP</vt:lpstr>
      <vt:lpstr>Physical Layer (1) TCP/IP</vt:lpstr>
      <vt:lpstr>Data Link Layer (2) TCP/IP</vt:lpstr>
      <vt:lpstr>Data Link Layer (2) TCP/IP</vt:lpstr>
      <vt:lpstr>Network Layer(3) TCP/IP</vt:lpstr>
      <vt:lpstr>Network Layer(3) TCP/IP</vt:lpstr>
      <vt:lpstr>Network Layer(3) TCP/IP</vt:lpstr>
      <vt:lpstr>Transport Layer (4) TCP/IP</vt:lpstr>
      <vt:lpstr>Transport Layer (4) TCP/IP</vt:lpstr>
      <vt:lpstr>Transport Layer (4) TCP/IP</vt:lpstr>
      <vt:lpstr>Application Layer (5) TCP/IP</vt:lpstr>
      <vt:lpstr>Transport Layer (5) TCP/IP</vt:lpstr>
      <vt:lpstr>ADDRESSING</vt:lpstr>
      <vt:lpstr>Physical Addresses</vt:lpstr>
      <vt:lpstr>PowerPoint Presentation</vt:lpstr>
      <vt:lpstr>Unicast, Multicast, and Broadcast Physical Addresses</vt:lpstr>
      <vt:lpstr>Logical Addresses</vt:lpstr>
      <vt:lpstr>Logical Addresses</vt:lpstr>
      <vt:lpstr>Logical Addresses</vt:lpstr>
      <vt:lpstr>Logical Addresses</vt:lpstr>
      <vt:lpstr>Port Addresses</vt:lpstr>
      <vt:lpstr>Port Addresses</vt:lpstr>
      <vt:lpstr>Port Addresses</vt:lpstr>
      <vt:lpstr>Application-Specific Addresses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OSI Model and the TCP/IP Protocol Suite</dc:title>
  <dc:creator>Dell</dc:creator>
  <cp:lastModifiedBy>huda</cp:lastModifiedBy>
  <cp:revision>155</cp:revision>
  <dcterms:created xsi:type="dcterms:W3CDTF">2014-11-07T11:34:50Z</dcterms:created>
  <dcterms:modified xsi:type="dcterms:W3CDTF">2020-06-02T09:02:14Z</dcterms:modified>
</cp:coreProperties>
</file>