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6"/>
  </p:notesMasterIdLst>
  <p:sldIdLst>
    <p:sldId id="256" r:id="rId2"/>
    <p:sldId id="274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35"/>
    <a:srgbClr val="FF0D97"/>
    <a:srgbClr val="0000CC"/>
    <a:srgbClr val="9EFF29"/>
    <a:srgbClr val="C80064"/>
    <a:srgbClr val="C33A1F"/>
    <a:srgbClr val="FF2549"/>
    <a:srgbClr val="007033"/>
    <a:srgbClr val="D6370C"/>
    <a:srgbClr val="1D3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10" y="-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7310" y="2573592"/>
            <a:ext cx="8008376" cy="1496962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Master </a:t>
            </a:r>
            <a:r>
              <a:rPr lang="en-US" dirty="0"/>
              <a:t>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7310" y="4077927"/>
            <a:ext cx="8001000" cy="678426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00B0F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  <a:r>
              <a:rPr lang="en-US" dirty="0" smtClean="0"/>
              <a:t>Master </a:t>
            </a:r>
            <a:r>
              <a:rPr lang="en-US" dirty="0"/>
              <a:t>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572" y="342324"/>
            <a:ext cx="8259098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53613"/>
            <a:ext cx="8246070" cy="3524861"/>
          </a:xfrm>
        </p:spPr>
        <p:txBody>
          <a:bodyPr/>
          <a:lstStyle>
            <a:lvl1pPr algn="l"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365" y="406537"/>
            <a:ext cx="6474869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71" y="1143000"/>
            <a:ext cx="6496665" cy="3545497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66" y="426503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46378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1936177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46378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1936177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943" y="2588342"/>
            <a:ext cx="8067368" cy="1614945"/>
          </a:xfrm>
        </p:spPr>
        <p:txBody>
          <a:bodyPr>
            <a:normAutofit/>
          </a:bodyPr>
          <a:lstStyle/>
          <a:p>
            <a:r>
              <a:rPr lang="en-US" b="1" dirty="0" smtClean="0"/>
              <a:t>Network Layer Protocol</a:t>
            </a:r>
            <a:endParaRPr lang="en-US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Protocols at each Laye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080" y="1254125"/>
            <a:ext cx="6136414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71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Internet Protocol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Data transmitted over an internet using IP is carried in messages called </a:t>
            </a:r>
            <a:r>
              <a:rPr lang="en-IN" i="1" dirty="0"/>
              <a:t>IP datagrams</a:t>
            </a:r>
            <a:r>
              <a:rPr lang="en-IN" dirty="0"/>
              <a:t>. 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r>
              <a:rPr lang="en-IN" dirty="0" smtClean="0"/>
              <a:t>Like </a:t>
            </a:r>
            <a:r>
              <a:rPr lang="en-IN" dirty="0"/>
              <a:t>all network protocol messages, IP uses a specific format for its datagrams.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Internet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53613"/>
            <a:ext cx="8246070" cy="376519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 IPv4 datagram is conceptually divided into two pieces: </a:t>
            </a:r>
            <a:endParaRPr lang="en-IN" dirty="0" smtClean="0"/>
          </a:p>
          <a:p>
            <a:pPr lvl="1" algn="just">
              <a:lnSpc>
                <a:spcPct val="150000"/>
              </a:lnSpc>
            </a:pPr>
            <a:r>
              <a:rPr lang="en-IN" b="1" dirty="0" smtClean="0"/>
              <a:t>the</a:t>
            </a:r>
            <a:r>
              <a:rPr lang="en-IN" b="1" dirty="0"/>
              <a:t> </a:t>
            </a:r>
            <a:r>
              <a:rPr lang="en-IN" b="1" i="1" dirty="0"/>
              <a:t>header</a:t>
            </a:r>
            <a:r>
              <a:rPr lang="en-IN" dirty="0"/>
              <a:t> </a:t>
            </a:r>
            <a:endParaRPr lang="en-IN" dirty="0" smtClean="0"/>
          </a:p>
          <a:p>
            <a:pPr lvl="1" algn="just">
              <a:lnSpc>
                <a:spcPct val="150000"/>
              </a:lnSpc>
            </a:pPr>
            <a:r>
              <a:rPr lang="en-IN" b="1" dirty="0" smtClean="0"/>
              <a:t>the</a:t>
            </a:r>
            <a:r>
              <a:rPr lang="en-IN" b="1" dirty="0"/>
              <a:t> </a:t>
            </a:r>
            <a:r>
              <a:rPr lang="en-IN" b="1" i="1" dirty="0" smtClean="0"/>
              <a:t>payload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77680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Internet Protocol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53613"/>
            <a:ext cx="8246070" cy="376519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header contains addressing and control fields, while the payload carries the actual data to be sent over the internetwork. 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r>
              <a:rPr lang="en-IN" dirty="0" smtClean="0"/>
              <a:t>Unlike </a:t>
            </a:r>
            <a:r>
              <a:rPr lang="en-IN" dirty="0"/>
              <a:t>some message formats, IP datagrams do not have a footer following the payload.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65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IP Datagram</a:t>
            </a:r>
            <a:endParaRPr lang="en-IN" b="1" dirty="0"/>
          </a:p>
        </p:txBody>
      </p:sp>
      <p:pic>
        <p:nvPicPr>
          <p:cNvPr id="1026" name="Picture 2" descr="https://gsephrioth.github.io/assets/img/TCP-IP/Figure8.2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022" y="1179448"/>
            <a:ext cx="5562812" cy="396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41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b="1" dirty="0" smtClean="0"/>
              <a:t>Version:</a:t>
            </a:r>
            <a:r>
              <a:rPr lang="en-IN" dirty="0" smtClean="0"/>
              <a:t> </a:t>
            </a:r>
            <a:r>
              <a:rPr lang="en-IN" dirty="0"/>
              <a:t>This 4-bit field defines the version of the IP protocol</a:t>
            </a:r>
          </a:p>
          <a:p>
            <a:pPr algn="just">
              <a:lnSpc>
                <a:spcPct val="150000"/>
              </a:lnSpc>
            </a:pPr>
            <a:r>
              <a:rPr lang="en-IN" b="1" dirty="0" smtClean="0"/>
              <a:t>Header Length(HLEN</a:t>
            </a:r>
            <a:r>
              <a:rPr lang="en-IN" b="1" dirty="0"/>
              <a:t>): </a:t>
            </a:r>
            <a:r>
              <a:rPr lang="en-IN" dirty="0"/>
              <a:t>This 4-bit field defines the total length of the datagram header in 4 byte times.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8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Differentiated services(DS):</a:t>
            </a:r>
          </a:p>
          <a:p>
            <a:endParaRPr lang="en-IN" dirty="0"/>
          </a:p>
        </p:txBody>
      </p:sp>
      <p:pic>
        <p:nvPicPr>
          <p:cNvPr id="2050" name="Picture 2" descr="https://gsephrioth.github.io/assets/img/TCP-IP/Figure8.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47" y="2285088"/>
            <a:ext cx="4115313" cy="266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989" y="1946477"/>
            <a:ext cx="3901237" cy="2999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890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Service type: </a:t>
            </a:r>
            <a:endParaRPr lang="en-IN" b="1" dirty="0" smtClean="0"/>
          </a:p>
          <a:p>
            <a:pPr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first 3-bits are called precedence bits. </a:t>
            </a:r>
            <a:endParaRPr lang="en-IN" dirty="0" smtClean="0"/>
          </a:p>
          <a:p>
            <a:pPr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4-bits are called TOS bits. </a:t>
            </a:r>
            <a:endParaRPr lang="en-IN" dirty="0" smtClean="0"/>
          </a:p>
          <a:p>
            <a:pPr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last bit is not used.</a:t>
            </a:r>
          </a:p>
        </p:txBody>
      </p:sp>
    </p:spTree>
    <p:extLst>
      <p:ext uri="{BB962C8B-B14F-4D97-AF65-F5344CB8AC3E}">
        <p14:creationId xmlns:p14="http://schemas.microsoft.com/office/powerpoint/2010/main" val="390663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Service type: </a:t>
            </a:r>
            <a:endParaRPr lang="en-IN" b="1" dirty="0" smtClean="0"/>
          </a:p>
          <a:p>
            <a:pPr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first 3-bits are called precedence bits. </a:t>
            </a:r>
            <a:endParaRPr lang="en-IN" dirty="0" smtClean="0"/>
          </a:p>
          <a:p>
            <a:pPr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4-bits are called TOS bits. </a:t>
            </a:r>
            <a:endParaRPr lang="en-IN" dirty="0" smtClean="0"/>
          </a:p>
          <a:p>
            <a:pPr>
              <a:lnSpc>
                <a:spcPct val="150000"/>
              </a:lnSpc>
            </a:pPr>
            <a:r>
              <a:rPr lang="en-IN" dirty="0" smtClean="0"/>
              <a:t>The </a:t>
            </a:r>
            <a:r>
              <a:rPr lang="en-IN" dirty="0"/>
              <a:t>last bit is not used.</a:t>
            </a:r>
          </a:p>
        </p:txBody>
      </p:sp>
    </p:spTree>
    <p:extLst>
      <p:ext uri="{BB962C8B-B14F-4D97-AF65-F5344CB8AC3E}">
        <p14:creationId xmlns:p14="http://schemas.microsoft.com/office/powerpoint/2010/main" val="138963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b="1" dirty="0"/>
              <a:t>Precedence bits: </a:t>
            </a:r>
            <a:r>
              <a:rPr lang="en-IN" dirty="0"/>
              <a:t>It is a 3-bit subfield ranging from 000 to 111. The precedence defines the priority of the datagram in issues such as congestion.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Type of service (TOS) bits: </a:t>
            </a:r>
            <a:r>
              <a:rPr lang="en-IN" dirty="0"/>
              <a:t>We have 5 different types of service resolved by application programs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4092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Interactive activities</a:t>
            </a:r>
          </a:p>
          <a:p>
            <a:pPr lvl="1" algn="just"/>
            <a:r>
              <a:rPr lang="en-IN" dirty="0"/>
              <a:t>Activities requiring immediate attention.</a:t>
            </a:r>
          </a:p>
          <a:p>
            <a:pPr lvl="1" algn="just"/>
            <a:r>
              <a:rPr lang="en-IN" dirty="0"/>
              <a:t>Activities requiring immediate response need min delay.</a:t>
            </a:r>
          </a:p>
          <a:p>
            <a:pPr lvl="1" algn="just"/>
            <a:r>
              <a:rPr lang="en-IN" dirty="0"/>
              <a:t>Activities that send bulk data requiring max throughput</a:t>
            </a:r>
            <a:r>
              <a:rPr lang="en-IN" dirty="0" smtClean="0"/>
              <a:t>.</a:t>
            </a:r>
            <a:endParaRPr lang="en-IN" dirty="0"/>
          </a:p>
          <a:p>
            <a:pPr lvl="1" algn="just"/>
            <a:r>
              <a:rPr lang="en-IN" dirty="0"/>
              <a:t>Management activities need max reliability.</a:t>
            </a:r>
          </a:p>
          <a:p>
            <a:pPr lvl="1" algn="just"/>
            <a:r>
              <a:rPr lang="en-IN" dirty="0"/>
              <a:t>Background activities need min cost.</a:t>
            </a:r>
          </a:p>
        </p:txBody>
      </p:sp>
    </p:spTree>
    <p:extLst>
      <p:ext uri="{BB962C8B-B14F-4D97-AF65-F5344CB8AC3E}">
        <p14:creationId xmlns:p14="http://schemas.microsoft.com/office/powerpoint/2010/main" val="315945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53613"/>
            <a:ext cx="8246070" cy="37548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Total length: </a:t>
            </a:r>
            <a:r>
              <a:rPr lang="en-IN" dirty="0"/>
              <a:t>This is a 16-bit field that defines the total length(Header + data) of the IP datagram in bytes. 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r>
              <a:rPr lang="en-IN" b="1" dirty="0"/>
              <a:t>Time to live(TTL): </a:t>
            </a:r>
            <a:r>
              <a:rPr lang="en-IN" dirty="0"/>
              <a:t>Today this field is mostly used to control the max number of hops visited by the datagram. </a:t>
            </a:r>
          </a:p>
        </p:txBody>
      </p:sp>
    </p:spTree>
    <p:extLst>
      <p:ext uri="{BB962C8B-B14F-4D97-AF65-F5344CB8AC3E}">
        <p14:creationId xmlns:p14="http://schemas.microsoft.com/office/powerpoint/2010/main" val="1723507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53613"/>
            <a:ext cx="5272068" cy="37548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Protocol:</a:t>
            </a:r>
            <a:r>
              <a:rPr lang="en-IN" dirty="0"/>
              <a:t> This 8-bit field defines the high level protocol that uses the services of the IP layer.</a:t>
            </a:r>
          </a:p>
        </p:txBody>
      </p:sp>
      <p:pic>
        <p:nvPicPr>
          <p:cNvPr id="3074" name="Picture 2" descr="https://gsephrioth.github.io/assets/img/TCP-IP/Table8.4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0"/>
          <a:stretch/>
        </p:blipFill>
        <p:spPr bwMode="auto">
          <a:xfrm>
            <a:off x="6210442" y="1631373"/>
            <a:ext cx="2403622" cy="259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090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IP Datagram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53613"/>
            <a:ext cx="8372376" cy="375480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Header checksum</a:t>
            </a:r>
            <a:r>
              <a:rPr lang="en-IN" dirty="0"/>
              <a:t>: This used for error detection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Source IP </a:t>
            </a:r>
            <a:r>
              <a:rPr lang="en-IN" b="1" dirty="0" smtClean="0"/>
              <a:t>address: </a:t>
            </a:r>
            <a:r>
              <a:rPr lang="en-IN" dirty="0" smtClean="0"/>
              <a:t>This field contains source machine IP address</a:t>
            </a:r>
            <a:endParaRPr lang="en-IN" b="1" dirty="0"/>
          </a:p>
          <a:p>
            <a:pPr algn="just">
              <a:lnSpc>
                <a:spcPct val="150000"/>
              </a:lnSpc>
            </a:pPr>
            <a:r>
              <a:rPr lang="en-IN" b="1" dirty="0"/>
              <a:t>Destination IP </a:t>
            </a:r>
            <a:r>
              <a:rPr lang="en-IN" b="1" dirty="0" smtClean="0"/>
              <a:t>address: </a:t>
            </a:r>
            <a:r>
              <a:rPr lang="en-IN" dirty="0"/>
              <a:t>This field contains </a:t>
            </a:r>
            <a:r>
              <a:rPr lang="en-IN" dirty="0" smtClean="0"/>
              <a:t>destination machine </a:t>
            </a:r>
            <a:r>
              <a:rPr lang="en-IN" dirty="0"/>
              <a:t>IP address</a:t>
            </a:r>
            <a:endParaRPr lang="en-IN" b="1" dirty="0"/>
          </a:p>
          <a:p>
            <a:pPr algn="just">
              <a:lnSpc>
                <a:spcPct val="150000"/>
              </a:lnSpc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1898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97310" y="3368350"/>
            <a:ext cx="8008376" cy="1073021"/>
          </a:xfrm>
        </p:spPr>
        <p:txBody>
          <a:bodyPr/>
          <a:lstStyle/>
          <a:p>
            <a:r>
              <a:rPr lang="en-US" dirty="0" smtClean="0"/>
              <a:t>Interior Gateway Protocols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573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effectLst/>
              </a:rPr>
              <a:t>ARP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ARP stands for Address Resolution Protocol. </a:t>
            </a:r>
            <a:endParaRPr lang="en-IN" dirty="0" smtClean="0"/>
          </a:p>
          <a:p>
            <a:pPr algn="just">
              <a:lnSpc>
                <a:spcPct val="150000"/>
              </a:lnSpc>
            </a:pPr>
            <a:r>
              <a:rPr lang="en-IN" dirty="0" smtClean="0"/>
              <a:t>ARP </a:t>
            </a:r>
            <a:r>
              <a:rPr lang="en-IN" dirty="0"/>
              <a:t>is used to convert the logical address </a:t>
            </a:r>
            <a:r>
              <a:rPr lang="en-IN" dirty="0" smtClean="0"/>
              <a:t>i.e</a:t>
            </a:r>
            <a:r>
              <a:rPr lang="en-IN" dirty="0"/>
              <a:t>. IP address into physical address </a:t>
            </a:r>
            <a:r>
              <a:rPr lang="en-IN" dirty="0" smtClean="0"/>
              <a:t>i.e. </a:t>
            </a:r>
            <a:r>
              <a:rPr lang="en-IN" dirty="0"/>
              <a:t>MAC address.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2199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effectLst/>
              </a:rPr>
              <a:t>ARP 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/>
              <a:t>While communicating with other nodes, it is necessary to know the MAC address or physical address of the destination node. </a:t>
            </a:r>
            <a:endParaRPr lang="en-IN" sz="2600" dirty="0" smtClean="0"/>
          </a:p>
          <a:p>
            <a:pPr algn="just">
              <a:lnSpc>
                <a:spcPct val="150000"/>
              </a:lnSpc>
            </a:pPr>
            <a:r>
              <a:rPr lang="en-IN" sz="2600" dirty="0" smtClean="0"/>
              <a:t>If </a:t>
            </a:r>
            <a:r>
              <a:rPr lang="en-IN" sz="2600" dirty="0"/>
              <a:t>any of the node in a network wants to know the physical address of another node in the same network, the host then sends an ARP query packet. 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150188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effectLst/>
              </a:rPr>
              <a:t>ARP 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 smtClean="0"/>
              <a:t>This </a:t>
            </a:r>
            <a:r>
              <a:rPr lang="en-IN" sz="2600" dirty="0"/>
              <a:t>ARP query packet consists of IP address and MAC address of source host and only the IP address of destination host. </a:t>
            </a:r>
            <a:endParaRPr lang="en-IN" sz="2600" dirty="0" smtClean="0"/>
          </a:p>
          <a:p>
            <a:pPr algn="just">
              <a:lnSpc>
                <a:spcPct val="150000"/>
              </a:lnSpc>
            </a:pPr>
            <a:r>
              <a:rPr lang="en-IN" sz="2600" dirty="0" smtClean="0"/>
              <a:t>This </a:t>
            </a:r>
            <a:r>
              <a:rPr lang="en-IN" sz="2600" dirty="0"/>
              <a:t>ARP packet is then received to every node present in the network. 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910090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effectLst/>
              </a:rPr>
              <a:t>ARP 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 smtClean="0"/>
              <a:t>The node </a:t>
            </a:r>
            <a:r>
              <a:rPr lang="en-IN" sz="2600" dirty="0"/>
              <a:t>with its own IP address recognises it and sends it MAC address to the requesting node. </a:t>
            </a:r>
            <a:endParaRPr lang="en-IN" sz="2600" dirty="0" smtClean="0"/>
          </a:p>
          <a:p>
            <a:pPr algn="just">
              <a:lnSpc>
                <a:spcPct val="150000"/>
              </a:lnSpc>
            </a:pPr>
            <a:r>
              <a:rPr lang="en-IN" sz="2600" dirty="0" smtClean="0"/>
              <a:t>But </a:t>
            </a:r>
            <a:r>
              <a:rPr lang="en-IN" sz="2600" dirty="0"/>
              <a:t>sending and receiving such packets to know the MAC address of destination node it increases the traffic load. </a:t>
            </a:r>
            <a:endParaRPr lang="en-IN" sz="2600" dirty="0" smtClean="0"/>
          </a:p>
        </p:txBody>
      </p:sp>
    </p:spTree>
    <p:extLst>
      <p:ext uri="{BB962C8B-B14F-4D97-AF65-F5344CB8AC3E}">
        <p14:creationId xmlns:p14="http://schemas.microsoft.com/office/powerpoint/2010/main" val="274871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>
                <a:effectLst/>
              </a:rPr>
              <a:t>ARP Working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 smtClean="0"/>
              <a:t>Therefore </a:t>
            </a:r>
            <a:r>
              <a:rPr lang="en-IN" sz="2600" dirty="0"/>
              <a:t>in order to reduce this traffic and improve the performance, the systems that makes use of ARP maintain a cache of recently acquired IP into MAC address bindings.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90043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Network Layer Protocol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789" y="55986"/>
            <a:ext cx="5462546" cy="501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998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312" y="1254125"/>
            <a:ext cx="6311950" cy="352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607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 descr="Working of RARP Protocol where a host requests its IP Address to RARP Server and Server replies with its IP Addres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488" y="142875"/>
            <a:ext cx="7050555" cy="470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24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Office PowerPoint</Application>
  <PresentationFormat>On-screen Show (16:9)</PresentationFormat>
  <Paragraphs>61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Network Layer Protocol</vt:lpstr>
      <vt:lpstr>PowerPoint Presentation</vt:lpstr>
      <vt:lpstr>Internet Protocol</vt:lpstr>
      <vt:lpstr>Internet Protocol</vt:lpstr>
      <vt:lpstr>Internet Protocol</vt:lpstr>
      <vt:lpstr>IP Datagram</vt:lpstr>
      <vt:lpstr>IP Datagram</vt:lpstr>
      <vt:lpstr>IP Datagram</vt:lpstr>
      <vt:lpstr>IP Datagram</vt:lpstr>
      <vt:lpstr>IP Datagram</vt:lpstr>
      <vt:lpstr>IP Datagram</vt:lpstr>
      <vt:lpstr>IP Datagram</vt:lpstr>
      <vt:lpstr>IP Datagram</vt:lpstr>
      <vt:lpstr>IP Datagram</vt:lpstr>
      <vt:lpstr>IP Datagram</vt:lpstr>
      <vt:lpstr>Interior Gateway Protocols</vt:lpstr>
      <vt:lpstr>ARP</vt:lpstr>
      <vt:lpstr>ARP Working</vt:lpstr>
      <vt:lpstr>ARP Working</vt:lpstr>
      <vt:lpstr>ARP Working</vt:lpstr>
      <vt:lpstr>ARP Working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2024-02-12T08:32:59Z</dcterms:modified>
</cp:coreProperties>
</file>