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60" r:id="rId4"/>
    <p:sldId id="263" r:id="rId5"/>
    <p:sldId id="261" r:id="rId6"/>
    <p:sldId id="264" r:id="rId7"/>
    <p:sldId id="262" r:id="rId8"/>
    <p:sldId id="265" r:id="rId9"/>
    <p:sldId id="266" r:id="rId10"/>
    <p:sldId id="267" r:id="rId11"/>
    <p:sldId id="268" r:id="rId12"/>
    <p:sldId id="269" r:id="rId13"/>
    <p:sldId id="270" r:id="rId14"/>
    <p:sldId id="271" r:id="rId15"/>
    <p:sldId id="272" r:id="rId16"/>
    <p:sldId id="273"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4" r:id="rId36"/>
    <p:sldId id="295" r:id="rId37"/>
    <p:sldId id="296" r:id="rId38"/>
    <p:sldId id="297" r:id="rId39"/>
    <p:sldId id="298" r:id="rId40"/>
    <p:sldId id="299" r:id="rId41"/>
    <p:sldId id="300" r:id="rId42"/>
    <p:sldId id="301"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F9B"/>
    <a:srgbClr val="FFE0A3"/>
    <a:srgbClr val="FF3399"/>
    <a:srgbClr val="CC3399"/>
    <a:srgbClr val="70AC2E"/>
    <a:srgbClr val="C19FFF"/>
    <a:srgbClr val="CAB4EA"/>
    <a:srgbClr val="D3B5E9"/>
    <a:srgbClr val="D68B1C"/>
    <a:srgbClr val="D000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90" autoAdjust="0"/>
  </p:normalViewPr>
  <p:slideViewPr>
    <p:cSldViewPr>
      <p:cViewPr>
        <p:scale>
          <a:sx n="76" d="100"/>
          <a:sy n="76" d="100"/>
        </p:scale>
        <p:origin x="-900" y="20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335244-FE6D-4751-8341-23F39D3F5027}" type="datetimeFigureOut">
              <a:rPr lang="en-US" smtClean="0"/>
              <a:t>2/14/2024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FBC5DC1-1C5E-4C94-B4F3-AF2B38BC6C82}" type="slidenum">
              <a:rPr lang="en-US" smtClean="0"/>
              <a:t>‹#›</a:t>
            </a:fld>
            <a:endParaRPr lang="en-US"/>
          </a:p>
        </p:txBody>
      </p:sp>
    </p:spTree>
    <p:extLst>
      <p:ext uri="{BB962C8B-B14F-4D97-AF65-F5344CB8AC3E}">
        <p14:creationId xmlns:p14="http://schemas.microsoft.com/office/powerpoint/2010/main" val="35510301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fontAlgn="base"/>
            <a:r>
              <a:rPr lang="en-US" sz="1200" b="0" i="0" kern="1200" dirty="0" smtClean="0">
                <a:solidFill>
                  <a:schemeClr val="tx1"/>
                </a:solidFill>
                <a:latin typeface="+mn-lt"/>
                <a:ea typeface="+mn-ea"/>
                <a:cs typeface="+mn-cs"/>
              </a:rPr>
              <a:t>All the computers of the world on the Internet network communicate with each other with underground or underwater cables or wirelessly. If I want to download a file from the internet or load a web page or literally do anything related to the internet, my computer must have an address so that other computers can find and locate mine in order to deliver that particular file or webpage that I am requesting. In technical terms, that address is called </a:t>
            </a:r>
            <a:r>
              <a:rPr lang="en-US" sz="1200" b="1" i="0" kern="1200" dirty="0" smtClean="0">
                <a:solidFill>
                  <a:schemeClr val="tx1"/>
                </a:solidFill>
                <a:latin typeface="+mn-lt"/>
                <a:ea typeface="+mn-ea"/>
                <a:cs typeface="+mn-cs"/>
              </a:rPr>
              <a:t>IP Address or Internet Protocol Address</a:t>
            </a:r>
            <a:r>
              <a:rPr lang="en-US" sz="1200" b="0" i="0" kern="1200" dirty="0" smtClean="0">
                <a:solidFill>
                  <a:schemeClr val="tx1"/>
                </a:solidFill>
                <a:latin typeface="+mn-lt"/>
                <a:ea typeface="+mn-ea"/>
                <a:cs typeface="+mn-cs"/>
              </a:rPr>
              <a:t>.</a:t>
            </a:r>
          </a:p>
          <a:p>
            <a:pPr fontAlgn="base"/>
            <a:r>
              <a:rPr lang="en-US" sz="1200" b="0" i="0" kern="1200" dirty="0" smtClean="0">
                <a:solidFill>
                  <a:schemeClr val="tx1"/>
                </a:solidFill>
                <a:latin typeface="+mn-lt"/>
                <a:ea typeface="+mn-ea"/>
                <a:cs typeface="+mn-cs"/>
              </a:rPr>
              <a:t>Let us understand it with another example, like if someone wants to send you a mail then he/she must have your home address. Similarly, your computer too needs an address so that other computers on the internet can communicate with each other without the confusion of delivering information to someone else’s computer. And that is why each computer in this world has a unique IP Address. Or in other words, an IP address is a unique address that is used to identify computers or nodes on the internet. This address is just a string of numbers written in a certain format.</a:t>
            </a:r>
          </a:p>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9</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18</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20</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21</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22</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23</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24</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25</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26</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27</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28</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29</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30</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31</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32</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33</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34</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35</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36</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37</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38</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39</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40</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FBC5DC1-1C5E-4C94-B4F3-AF2B38BC6C82}" type="slidenum">
              <a:rPr lang="en-US" smtClean="0"/>
              <a:t>41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07080" y="5261460"/>
            <a:ext cx="7772400" cy="763525"/>
          </a:xfrm>
          <a:effectLst/>
        </p:spPr>
        <p:txBody>
          <a:bodyPr>
            <a:normAutofit/>
          </a:bodyPr>
          <a:lstStyle>
            <a:lvl1pPr algn="r">
              <a:defRPr sz="3600">
                <a:solidFill>
                  <a:schemeClr val="accent6">
                    <a:lumMod val="75000"/>
                  </a:schemeClr>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2281425" y="4192525"/>
            <a:ext cx="6400800" cy="1068935"/>
          </a:xfrm>
        </p:spPr>
        <p:txBody>
          <a:bodyPr>
            <a:normAutofit/>
          </a:bodyPr>
          <a:lstStyle>
            <a:lvl1pPr marL="0" indent="0" algn="r">
              <a:buNone/>
              <a:defRPr sz="2600">
                <a:solidFill>
                  <a:srgbClr val="0070C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a:t>
            </a:r>
          </a:p>
          <a:p>
            <a:r>
              <a:rPr lang="en-US" dirty="0" smtClean="0"/>
              <a:t>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985720"/>
            <a:ext cx="8229600" cy="458115"/>
          </a:xfrm>
          <a:effectLst/>
        </p:spPr>
        <p:txBody>
          <a:bodyPr>
            <a:normAutofit/>
          </a:bodyPr>
          <a:lstStyle>
            <a:lvl1pPr algn="r">
              <a:defRPr sz="3600">
                <a:solidFill>
                  <a:schemeClr val="accent6">
                    <a:lumMod val="75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907080" y="1901950"/>
            <a:ext cx="7329840" cy="3970329"/>
          </a:xfrm>
        </p:spPr>
        <p:txBody>
          <a:bodyPr/>
          <a:lstStyle>
            <a:lvl1pPr>
              <a:defRPr sz="2800">
                <a:solidFill>
                  <a:srgbClr val="0070C0"/>
                </a:solidFill>
              </a:defRPr>
            </a:lvl1pPr>
            <a:lvl2pPr>
              <a:defRPr>
                <a:solidFill>
                  <a:srgbClr val="0070C0"/>
                </a:solidFill>
              </a:defRPr>
            </a:lvl2pPr>
            <a:lvl3pPr>
              <a:defRPr>
                <a:solidFill>
                  <a:srgbClr val="0070C0"/>
                </a:solidFill>
              </a:defRPr>
            </a:lvl3pPr>
            <a:lvl4pPr>
              <a:defRPr>
                <a:solidFill>
                  <a:srgbClr val="0070C0"/>
                </a:solidFill>
              </a:defRPr>
            </a:lvl4pPr>
            <a:lvl5pPr>
              <a:defRPr>
                <a:solidFill>
                  <a:srgbClr val="0070C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76014" y="527605"/>
            <a:ext cx="7016195" cy="610820"/>
          </a:xfrm>
        </p:spPr>
        <p:txBody>
          <a:bodyPr>
            <a:normAutofit/>
          </a:bodyPr>
          <a:lstStyle>
            <a:lvl1pPr algn="l">
              <a:defRPr sz="3600">
                <a:solidFill>
                  <a:schemeClr val="accent6">
                    <a:lumMod val="75000"/>
                  </a:schemeClr>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1976015" y="1291130"/>
            <a:ext cx="7016195" cy="4581150"/>
          </a:xfrm>
        </p:spPr>
        <p:txBody>
          <a:bodyPr/>
          <a:lstStyle>
            <a:lvl1pPr>
              <a:defRPr sz="2800">
                <a:solidFill>
                  <a:srgbClr val="0070C0"/>
                </a:solidFill>
              </a:defRPr>
            </a:lvl1pPr>
            <a:lvl2pPr>
              <a:defRPr>
                <a:solidFill>
                  <a:srgbClr val="0070C0"/>
                </a:solidFill>
              </a:defRPr>
            </a:lvl2pPr>
            <a:lvl3pPr>
              <a:defRPr>
                <a:solidFill>
                  <a:srgbClr val="0070C0"/>
                </a:solidFill>
              </a:defRPr>
            </a:lvl3pPr>
            <a:lvl4pPr>
              <a:defRPr>
                <a:solidFill>
                  <a:srgbClr val="0070C0"/>
                </a:solidFill>
              </a:defRPr>
            </a:lvl4pPr>
            <a:lvl5pPr>
              <a:defRPr>
                <a:solidFill>
                  <a:srgbClr val="0070C0"/>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8140" y="1291130"/>
            <a:ext cx="8076895" cy="610820"/>
          </a:xfrm>
          <a:effectLst/>
        </p:spPr>
        <p:txBody>
          <a:bodyPr>
            <a:normAutofit/>
          </a:bodyPr>
          <a:lstStyle>
            <a:lvl1pPr algn="r">
              <a:defRPr sz="3600">
                <a:solidFill>
                  <a:schemeClr val="accent6">
                    <a:lumMod val="75000"/>
                  </a:schemeClr>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601670" y="1901950"/>
            <a:ext cx="4040188" cy="63976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601670" y="2531813"/>
            <a:ext cx="4040188" cy="3035058"/>
          </a:xfrm>
        </p:spPr>
        <p:txBody>
          <a:bodyPr/>
          <a:lstStyle>
            <a:lvl1pPr>
              <a:defRPr sz="2400">
                <a:solidFill>
                  <a:srgbClr val="0070C0"/>
                </a:solidFill>
              </a:defRPr>
            </a:lvl1pPr>
            <a:lvl2pPr>
              <a:defRPr sz="2000">
                <a:solidFill>
                  <a:srgbClr val="0070C0"/>
                </a:solidFill>
              </a:defRPr>
            </a:lvl2pPr>
            <a:lvl3pPr>
              <a:defRPr sz="1800">
                <a:solidFill>
                  <a:srgbClr val="0070C0"/>
                </a:solidFill>
              </a:defRPr>
            </a:lvl3pPr>
            <a:lvl4pPr>
              <a:defRPr sz="1600">
                <a:solidFill>
                  <a:srgbClr val="0070C0"/>
                </a:solidFill>
              </a:defRPr>
            </a:lvl4pPr>
            <a:lvl5pPr>
              <a:defRPr sz="1600">
                <a:solidFill>
                  <a:srgbClr val="0070C0"/>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36790" y="1901950"/>
            <a:ext cx="4041775" cy="63976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36790" y="2531813"/>
            <a:ext cx="4041775" cy="3035058"/>
          </a:xfrm>
        </p:spPr>
        <p:txBody>
          <a:bodyPr/>
          <a:lstStyle>
            <a:lvl1pPr>
              <a:defRPr sz="2400">
                <a:solidFill>
                  <a:srgbClr val="0070C0"/>
                </a:solidFill>
              </a:defRPr>
            </a:lvl1pPr>
            <a:lvl2pPr>
              <a:defRPr sz="2000">
                <a:solidFill>
                  <a:srgbClr val="0070C0"/>
                </a:solidFill>
              </a:defRPr>
            </a:lvl2pPr>
            <a:lvl3pPr>
              <a:defRPr sz="1800">
                <a:solidFill>
                  <a:srgbClr val="0070C0"/>
                </a:solidFill>
              </a:defRPr>
            </a:lvl3pPr>
            <a:lvl4pPr>
              <a:defRPr sz="1600">
                <a:solidFill>
                  <a:srgbClr val="0070C0"/>
                </a:solidFill>
              </a:defRPr>
            </a:lvl4pPr>
            <a:lvl5pPr>
              <a:defRPr sz="1600">
                <a:solidFill>
                  <a:srgbClr val="0070C0"/>
                </a:solidFill>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2/14/2024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2/14/2024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2/14/2024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2/14/2024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07080" y="5261460"/>
            <a:ext cx="7772400" cy="1310812"/>
          </a:xfrm>
        </p:spPr>
        <p:txBody>
          <a:bodyPr>
            <a:noAutofit/>
          </a:bodyPr>
          <a:lstStyle/>
          <a:p>
            <a:r>
              <a:rPr lang="en-US" sz="7200" b="1" dirty="0" smtClean="0">
                <a:solidFill>
                  <a:srgbClr val="0070C0"/>
                </a:solidFill>
                <a:effectLst>
                  <a:outerShdw blurRad="38100" dist="38100" dir="2700000" algn="tl">
                    <a:srgbClr val="000000">
                      <a:alpha val="43137"/>
                    </a:srgbClr>
                  </a:outerShdw>
                </a:effectLst>
              </a:rPr>
              <a:t>IP Addressing</a:t>
            </a:r>
            <a:endParaRPr lang="en-US" sz="7200" b="1" dirty="0">
              <a:solidFill>
                <a:srgbClr val="0070C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p:txBody>
          <a:bodyPr>
            <a:normAutofit/>
          </a:bodyPr>
          <a:lstStyle/>
          <a:p>
            <a:endParaRPr lang="en-US" dirty="0"/>
          </a:p>
        </p:txBody>
      </p:sp>
      <p:pic>
        <p:nvPicPr>
          <p:cNvPr id="4098" name="Picture 2" descr="https://content.kaspersky-labs.com/fm/press-releases/c9/c9dc177db2511f60a8f41232029d11c0/processed/what-is-an-ip-address1-q75.jpg"/>
          <p:cNvPicPr>
            <a:picLocks noChangeAspect="1" noChangeArrowheads="1"/>
          </p:cNvPicPr>
          <p:nvPr/>
        </p:nvPicPr>
        <p:blipFill>
          <a:blip r:embed="rId3">
            <a:clrChange>
              <a:clrFrom>
                <a:srgbClr val="B7B7B7"/>
              </a:clrFrom>
              <a:clrTo>
                <a:srgbClr val="B7B7B7">
                  <a:alpha val="0"/>
                </a:srgbClr>
              </a:clrTo>
            </a:clrChange>
          </a:blip>
          <a:srcRect/>
          <a:stretch>
            <a:fillRect/>
          </a:stretch>
        </p:blipFill>
        <p:spPr bwMode="auto">
          <a:xfrm>
            <a:off x="5143504" y="214290"/>
            <a:ext cx="3756064" cy="2500306"/>
          </a:xfrm>
          <a:prstGeom prst="rect">
            <a:avLst/>
          </a:prstGeom>
          <a:noFill/>
        </p:spPr>
      </p:pic>
    </p:spTree>
    <p:extLst>
      <p:ext uri="{BB962C8B-B14F-4D97-AF65-F5344CB8AC3E}">
        <p14:creationId xmlns:p14="http://schemas.microsoft.com/office/powerpoint/2010/main" val="3639203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5400" b="1" dirty="0" smtClean="0"/>
              <a:t>What is?</a:t>
            </a:r>
            <a:endParaRPr lang="en-US" sz="5400" b="1" dirty="0"/>
          </a:p>
        </p:txBody>
      </p:sp>
      <p:sp>
        <p:nvSpPr>
          <p:cNvPr id="3" name="Content Placeholder 2"/>
          <p:cNvSpPr>
            <a:spLocks noGrp="1"/>
          </p:cNvSpPr>
          <p:nvPr>
            <p:ph idx="1"/>
          </p:nvPr>
        </p:nvSpPr>
        <p:spPr>
          <a:xfrm>
            <a:off x="285720" y="2143116"/>
            <a:ext cx="8572560" cy="4429156"/>
          </a:xfrm>
        </p:spPr>
        <p:txBody>
          <a:bodyPr>
            <a:normAutofit/>
          </a:bodyPr>
          <a:lstStyle/>
          <a:p>
            <a:pPr algn="just">
              <a:lnSpc>
                <a:spcPct val="150000"/>
              </a:lnSpc>
            </a:pPr>
            <a:r>
              <a:rPr lang="en-US" sz="3400" dirty="0" smtClean="0"/>
              <a:t>An Internet Protocol (IP) address is a unique numerical identifier for every device or network that connects to the Internet.</a:t>
            </a:r>
          </a:p>
          <a:p>
            <a:pPr algn="just">
              <a:lnSpc>
                <a:spcPct val="150000"/>
              </a:lnSpc>
            </a:pPr>
            <a:r>
              <a:rPr lang="en-US" sz="3400" dirty="0" smtClean="0"/>
              <a:t>It enables your device to send or receive data packets across the Internet.</a:t>
            </a:r>
          </a:p>
          <a:p>
            <a:pPr algn="just"/>
            <a:endParaRPr lang="en-US" sz="3400" dirty="0"/>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214290"/>
            <a:ext cx="8229600" cy="1500198"/>
          </a:xfrm>
        </p:spPr>
        <p:txBody>
          <a:bodyPr>
            <a:noAutofit/>
          </a:bodyPr>
          <a:lstStyle/>
          <a:p>
            <a:r>
              <a:rPr lang="en-US" sz="5400" b="1" dirty="0" smtClean="0"/>
              <a:t>How are IP Addresses Generated?</a:t>
            </a:r>
            <a:endParaRPr lang="en-US" sz="5400" b="1" dirty="0"/>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US" sz="3400" dirty="0" smtClean="0"/>
              <a:t>IP addresses are generated automatically using an integrated algorithm by the Internet of Assigned Numbers Authority (IANA). </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214290"/>
            <a:ext cx="8229600" cy="1500198"/>
          </a:xfrm>
        </p:spPr>
        <p:txBody>
          <a:bodyPr>
            <a:noAutofit/>
          </a:bodyPr>
          <a:lstStyle/>
          <a:p>
            <a:r>
              <a:rPr lang="en-US" sz="5400" b="1" dirty="0" smtClean="0"/>
              <a:t>How are IP Addresses Generated?</a:t>
            </a:r>
            <a:endParaRPr lang="en-US" sz="5400" b="1" dirty="0"/>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US" sz="3400" dirty="0" smtClean="0"/>
              <a:t>IANA then allocates IP address blocks to Regional Internet Registries (RIRs) who in turn geographically distribute these blocks to </a:t>
            </a:r>
            <a:r>
              <a:rPr lang="en-US" sz="3400" u="sng" dirty="0" smtClean="0"/>
              <a:t>Internet Service Providers</a:t>
            </a:r>
            <a:r>
              <a:rPr lang="en-US" sz="3400" dirty="0" smtClean="0"/>
              <a:t> (ISPs). </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214290"/>
            <a:ext cx="8229600" cy="1500198"/>
          </a:xfrm>
        </p:spPr>
        <p:txBody>
          <a:bodyPr>
            <a:noAutofit/>
          </a:bodyPr>
          <a:lstStyle/>
          <a:p>
            <a:r>
              <a:rPr lang="en-US" sz="5400" b="1" dirty="0" smtClean="0"/>
              <a:t>How are IP Addresses Generated?</a:t>
            </a:r>
            <a:endParaRPr lang="en-US" sz="5400" b="1" dirty="0"/>
          </a:p>
        </p:txBody>
      </p:sp>
      <p:sp>
        <p:nvSpPr>
          <p:cNvPr id="3" name="Content Placeholder 2"/>
          <p:cNvSpPr>
            <a:spLocks noGrp="1"/>
          </p:cNvSpPr>
          <p:nvPr>
            <p:ph idx="1"/>
          </p:nvPr>
        </p:nvSpPr>
        <p:spPr>
          <a:xfrm>
            <a:off x="285720" y="1857364"/>
            <a:ext cx="8572560" cy="4714908"/>
          </a:xfrm>
        </p:spPr>
        <p:txBody>
          <a:bodyPr>
            <a:noAutofit/>
          </a:bodyPr>
          <a:lstStyle/>
          <a:p>
            <a:pPr algn="just">
              <a:lnSpc>
                <a:spcPct val="150000"/>
              </a:lnSpc>
            </a:pPr>
            <a:r>
              <a:rPr lang="en-US" sz="3400" dirty="0" smtClean="0"/>
              <a:t>The ISP generate individual IP addresses for their customers, ISPs typically use a technique called DHCP. </a:t>
            </a:r>
          </a:p>
          <a:p>
            <a:pPr algn="just">
              <a:lnSpc>
                <a:spcPct val="150000"/>
              </a:lnSpc>
            </a:pPr>
            <a:r>
              <a:rPr lang="en-US" sz="3400" dirty="0" smtClean="0"/>
              <a:t>DHCP allows devices to have an IP address assigned automatically when they connect to a network.</a:t>
            </a:r>
            <a:endParaRPr lang="en-US" sz="3400" dirty="0"/>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endParaRPr lang="en-IN"/>
          </a:p>
        </p:txBody>
      </p:sp>
      <p:pic>
        <p:nvPicPr>
          <p:cNvPr id="1026" name="Picture 2" descr="https://external-content.duckduckgo.com/iu/?u=https%3A%2F%2Ftse3.mm.bing.net%2Fth%3Fid%3DOIP.jBD6JDe-oSQHva2WhxhkFQHaE1%26pid%3DApi&amp;f=1&amp;ipt=062700b999544adc3ec4aaa4526eabc8e7cd8dbd4fcff2f84a8f892d019c814c&amp;ipo=imag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7704" y="1844824"/>
            <a:ext cx="6814891" cy="4442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212793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Public </a:t>
            </a:r>
            <a:r>
              <a:rPr lang="en-IN" sz="5400" b="1" dirty="0"/>
              <a:t>IP </a:t>
            </a:r>
            <a:r>
              <a:rPr lang="en-IN" sz="5400" b="1" dirty="0" smtClean="0"/>
              <a:t>Addresses</a:t>
            </a:r>
            <a:endParaRPr lang="en-US" sz="5400" b="1" dirty="0"/>
          </a:p>
        </p:txBody>
      </p:sp>
      <p:sp>
        <p:nvSpPr>
          <p:cNvPr id="3" name="Content Placeholder 2"/>
          <p:cNvSpPr>
            <a:spLocks noGrp="1"/>
          </p:cNvSpPr>
          <p:nvPr>
            <p:ph idx="1"/>
          </p:nvPr>
        </p:nvSpPr>
        <p:spPr>
          <a:xfrm>
            <a:off x="285720" y="2143116"/>
            <a:ext cx="8572560" cy="4429156"/>
          </a:xfrm>
        </p:spPr>
        <p:txBody>
          <a:bodyPr>
            <a:noAutofit/>
          </a:bodyPr>
          <a:lstStyle/>
          <a:p>
            <a:pPr algn="just"/>
            <a:r>
              <a:rPr lang="en-IN" sz="3600" dirty="0" smtClean="0"/>
              <a:t>A </a:t>
            </a:r>
            <a:r>
              <a:rPr lang="en-IN" sz="3600" dirty="0"/>
              <a:t>public IP address is an address where one primary address is associated with your whole network. In this type of IP address, each of the connected devices has the same IP address.</a:t>
            </a:r>
          </a:p>
          <a:p>
            <a:pPr algn="just"/>
            <a:r>
              <a:rPr lang="en-IN" sz="3600" dirty="0"/>
              <a:t>This type of public IP address is </a:t>
            </a:r>
            <a:r>
              <a:rPr lang="en-IN" sz="3600" dirty="0">
                <a:solidFill>
                  <a:srgbClr val="FF0000"/>
                </a:solidFill>
              </a:rPr>
              <a:t>provided to your router by your ISP</a:t>
            </a:r>
            <a:r>
              <a:rPr lang="en-IN" sz="3600" dirty="0"/>
              <a:t>.</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Private IP Addresses</a:t>
            </a:r>
          </a:p>
        </p:txBody>
      </p:sp>
      <p:sp>
        <p:nvSpPr>
          <p:cNvPr id="3" name="Content Placeholder 2"/>
          <p:cNvSpPr>
            <a:spLocks noGrp="1"/>
          </p:cNvSpPr>
          <p:nvPr>
            <p:ph idx="1"/>
          </p:nvPr>
        </p:nvSpPr>
        <p:spPr>
          <a:xfrm>
            <a:off x="285720" y="2143116"/>
            <a:ext cx="8572560" cy="4429156"/>
          </a:xfrm>
        </p:spPr>
        <p:txBody>
          <a:bodyPr>
            <a:noAutofit/>
          </a:bodyPr>
          <a:lstStyle/>
          <a:p>
            <a:pPr algn="just"/>
            <a:r>
              <a:rPr lang="en-IN" sz="3600" dirty="0"/>
              <a:t>A private IP address is a unique IP number assigned to </a:t>
            </a:r>
            <a:r>
              <a:rPr lang="en-IN" sz="3600" dirty="0">
                <a:solidFill>
                  <a:srgbClr val="FF0000"/>
                </a:solidFill>
              </a:rPr>
              <a:t>every device that connects to your home internet network</a:t>
            </a:r>
            <a:r>
              <a:rPr lang="en-IN" sz="3600" dirty="0"/>
              <a:t>, which includes devices like computers, tablets, smartphones, which is used in your household.</a:t>
            </a:r>
          </a:p>
        </p:txBody>
      </p:sp>
    </p:spTree>
    <p:extLst>
      <p:ext uri="{BB962C8B-B14F-4D97-AF65-F5344CB8AC3E}">
        <p14:creationId xmlns:p14="http://schemas.microsoft.com/office/powerpoint/2010/main" val="205591074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Dynamic IP address</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Dynamic </a:t>
            </a:r>
            <a:r>
              <a:rPr lang="en-IN" sz="3600" dirty="0"/>
              <a:t>IP addresses always keep changing. It is temporary and are allocated to a device every time it connects to the web.</a:t>
            </a:r>
          </a:p>
        </p:txBody>
      </p:sp>
    </p:spTree>
    <p:extLst>
      <p:ext uri="{BB962C8B-B14F-4D97-AF65-F5344CB8AC3E}">
        <p14:creationId xmlns:p14="http://schemas.microsoft.com/office/powerpoint/2010/main" val="197534769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Static IP Addresses</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A </a:t>
            </a:r>
            <a:r>
              <a:rPr lang="en-IN" sz="3600" dirty="0"/>
              <a:t>static IP address is an IP address that cannot be changed. </a:t>
            </a:r>
          </a:p>
        </p:txBody>
      </p:sp>
    </p:spTree>
    <p:extLst>
      <p:ext uri="{BB962C8B-B14F-4D97-AF65-F5344CB8AC3E}">
        <p14:creationId xmlns:p14="http://schemas.microsoft.com/office/powerpoint/2010/main" val="40386920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Version of IP address</a:t>
            </a:r>
          </a:p>
        </p:txBody>
      </p:sp>
      <p:pic>
        <p:nvPicPr>
          <p:cNvPr id="2050" name="Picture 2" descr="https://external-content.duckduckgo.com/iu/?u=https%3A%2F%2Ftse2.mm.bing.net%2Fth%3Fid%3DOIP.sqWM1kDkblRVqnjqCu9E7gHaDK%26pid%3DApi&amp;f=1&amp;ipt=c428dd429ecae05ced15767f53c8efcb86e1374fff026f81ba010f3a45964f18&amp;ipo=imag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044" y="2276872"/>
            <a:ext cx="8232172" cy="35082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59371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IPV4</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IPv4 </a:t>
            </a:r>
            <a:r>
              <a:rPr lang="en-IN" sz="3600" dirty="0"/>
              <a:t>was the first version of IP. </a:t>
            </a:r>
            <a:endParaRPr lang="en-IN" sz="3600" dirty="0" smtClean="0"/>
          </a:p>
          <a:p>
            <a:pPr algn="just">
              <a:lnSpc>
                <a:spcPct val="150000"/>
              </a:lnSpc>
            </a:pPr>
            <a:r>
              <a:rPr lang="en-IN" sz="3600" dirty="0" smtClean="0"/>
              <a:t>It </a:t>
            </a:r>
            <a:r>
              <a:rPr lang="en-IN" sz="3600" dirty="0"/>
              <a:t>was deployed for production in the ARPANET in 1983. </a:t>
            </a:r>
            <a:endParaRPr lang="en-IN" sz="3600" dirty="0" smtClean="0"/>
          </a:p>
          <a:p>
            <a:pPr algn="just">
              <a:lnSpc>
                <a:spcPct val="150000"/>
              </a:lnSpc>
            </a:pPr>
            <a:r>
              <a:rPr lang="en-IN" sz="3600" dirty="0" smtClean="0"/>
              <a:t>Today </a:t>
            </a:r>
            <a:r>
              <a:rPr lang="en-IN" sz="3600" dirty="0"/>
              <a:t>it is the most widely used IP version. </a:t>
            </a:r>
          </a:p>
        </p:txBody>
      </p:sp>
    </p:spTree>
    <p:extLst>
      <p:ext uri="{BB962C8B-B14F-4D97-AF65-F5344CB8AC3E}">
        <p14:creationId xmlns:p14="http://schemas.microsoft.com/office/powerpoint/2010/main" val="22881828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IPV4</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It </a:t>
            </a:r>
            <a:r>
              <a:rPr lang="en-IN" sz="3600" dirty="0"/>
              <a:t>is used to identify devices on a network using an addressing system.</a:t>
            </a:r>
          </a:p>
          <a:p>
            <a:pPr algn="just">
              <a:lnSpc>
                <a:spcPct val="150000"/>
              </a:lnSpc>
            </a:pPr>
            <a:r>
              <a:rPr lang="en-IN" sz="3600" dirty="0"/>
              <a:t>The IPv4 uses a 32-bit address scheme allowing to store 2^32 addresses, which is more than 4 billion addresses. </a:t>
            </a:r>
          </a:p>
        </p:txBody>
      </p:sp>
    </p:spTree>
    <p:extLst>
      <p:ext uri="{BB962C8B-B14F-4D97-AF65-F5344CB8AC3E}">
        <p14:creationId xmlns:p14="http://schemas.microsoft.com/office/powerpoint/2010/main" val="25139887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IPV4</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To </a:t>
            </a:r>
            <a:r>
              <a:rPr lang="en-IN" sz="3600" dirty="0"/>
              <a:t>date, it is considered the primary Internet Protocol and carries 94% of Internet traffic.</a:t>
            </a:r>
          </a:p>
        </p:txBody>
      </p:sp>
    </p:spTree>
    <p:extLst>
      <p:ext uri="{BB962C8B-B14F-4D97-AF65-F5344CB8AC3E}">
        <p14:creationId xmlns:p14="http://schemas.microsoft.com/office/powerpoint/2010/main" val="229869397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IPV6</a:t>
            </a:r>
          </a:p>
        </p:txBody>
      </p:sp>
      <p:sp>
        <p:nvSpPr>
          <p:cNvPr id="3" name="Content Placeholder 2"/>
          <p:cNvSpPr>
            <a:spLocks noGrp="1"/>
          </p:cNvSpPr>
          <p:nvPr>
            <p:ph idx="1"/>
          </p:nvPr>
        </p:nvSpPr>
        <p:spPr>
          <a:xfrm>
            <a:off x="285720" y="2143116"/>
            <a:ext cx="8572560" cy="4429156"/>
          </a:xfrm>
        </p:spPr>
        <p:txBody>
          <a:bodyPr>
            <a:noAutofit/>
          </a:bodyPr>
          <a:lstStyle/>
          <a:p>
            <a:pPr algn="just"/>
            <a:r>
              <a:rPr lang="en-IN" sz="3600" dirty="0"/>
              <a:t>It is the most recent version of the Internet Protocol. </a:t>
            </a:r>
            <a:endParaRPr lang="en-IN" sz="3600" dirty="0" smtClean="0"/>
          </a:p>
          <a:p>
            <a:pPr algn="just"/>
            <a:r>
              <a:rPr lang="en-IN" sz="3600" dirty="0" smtClean="0"/>
              <a:t>Internet </a:t>
            </a:r>
            <a:r>
              <a:rPr lang="en-IN" sz="3600" dirty="0"/>
              <a:t>Engineer Taskforce initiated it in early 1994. </a:t>
            </a:r>
            <a:endParaRPr lang="en-IN" sz="3600" dirty="0" smtClean="0"/>
          </a:p>
          <a:p>
            <a:pPr algn="just"/>
            <a:r>
              <a:rPr lang="en-IN" sz="3600" dirty="0"/>
              <a:t>This new IP address version is being deployed to </a:t>
            </a:r>
            <a:r>
              <a:rPr lang="en-IN" sz="3600" dirty="0" err="1"/>
              <a:t>fulfill</a:t>
            </a:r>
            <a:r>
              <a:rPr lang="en-IN" sz="3600" dirty="0"/>
              <a:t> the need for more Internet addresses.</a:t>
            </a:r>
          </a:p>
        </p:txBody>
      </p:sp>
    </p:spTree>
    <p:extLst>
      <p:ext uri="{BB962C8B-B14F-4D97-AF65-F5344CB8AC3E}">
        <p14:creationId xmlns:p14="http://schemas.microsoft.com/office/powerpoint/2010/main" val="23739722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a:t>IPV6</a:t>
            </a:r>
          </a:p>
        </p:txBody>
      </p:sp>
      <p:sp>
        <p:nvSpPr>
          <p:cNvPr id="3" name="Content Placeholder 2"/>
          <p:cNvSpPr>
            <a:spLocks noGrp="1"/>
          </p:cNvSpPr>
          <p:nvPr>
            <p:ph idx="1"/>
          </p:nvPr>
        </p:nvSpPr>
        <p:spPr>
          <a:xfrm>
            <a:off x="285720" y="2143116"/>
            <a:ext cx="8572560" cy="4429156"/>
          </a:xfrm>
        </p:spPr>
        <p:txBody>
          <a:bodyPr>
            <a:noAutofit/>
          </a:bodyPr>
          <a:lstStyle/>
          <a:p>
            <a:pPr algn="just">
              <a:lnSpc>
                <a:spcPct val="150000"/>
              </a:lnSpc>
            </a:pPr>
            <a:r>
              <a:rPr lang="en-IN" sz="3600" dirty="0" smtClean="0"/>
              <a:t>It </a:t>
            </a:r>
            <a:r>
              <a:rPr lang="en-IN" sz="3600" dirty="0"/>
              <a:t>was aimed to resolve issues which are associated with IPv4. </a:t>
            </a:r>
            <a:endParaRPr lang="en-IN" sz="3600" dirty="0" smtClean="0"/>
          </a:p>
          <a:p>
            <a:pPr algn="just">
              <a:lnSpc>
                <a:spcPct val="150000"/>
              </a:lnSpc>
            </a:pPr>
            <a:r>
              <a:rPr lang="en-IN" sz="3600" dirty="0" smtClean="0"/>
              <a:t>With </a:t>
            </a:r>
            <a:r>
              <a:rPr lang="en-IN" sz="3600" dirty="0"/>
              <a:t>128-bit address space, it allows 340 undecillion unique address space.</a:t>
            </a:r>
          </a:p>
        </p:txBody>
      </p:sp>
    </p:spTree>
    <p:extLst>
      <p:ext uri="{BB962C8B-B14F-4D97-AF65-F5344CB8AC3E}">
        <p14:creationId xmlns:p14="http://schemas.microsoft.com/office/powerpoint/2010/main" val="26052224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Representation</a:t>
            </a:r>
            <a:endParaRPr lang="en-IN" sz="5400" b="1" dirty="0"/>
          </a:p>
        </p:txBody>
      </p:sp>
      <p:sp>
        <p:nvSpPr>
          <p:cNvPr id="3" name="Content Placeholder 2"/>
          <p:cNvSpPr>
            <a:spLocks noGrp="1"/>
          </p:cNvSpPr>
          <p:nvPr>
            <p:ph idx="1"/>
          </p:nvPr>
        </p:nvSpPr>
        <p:spPr>
          <a:xfrm>
            <a:off x="285720" y="1700808"/>
            <a:ext cx="8572560" cy="4871464"/>
          </a:xfrm>
        </p:spPr>
        <p:txBody>
          <a:bodyPr>
            <a:noAutofit/>
          </a:bodyPr>
          <a:lstStyle/>
          <a:p>
            <a:pPr algn="just">
              <a:lnSpc>
                <a:spcPct val="150000"/>
              </a:lnSpc>
            </a:pPr>
            <a:r>
              <a:rPr lang="en-IN" sz="3600" dirty="0"/>
              <a:t>The IPv4 address is a </a:t>
            </a:r>
            <a:r>
              <a:rPr lang="en-IN" sz="3600" dirty="0">
                <a:solidFill>
                  <a:srgbClr val="FF0000"/>
                </a:solidFill>
              </a:rPr>
              <a:t>32-bit </a:t>
            </a:r>
            <a:r>
              <a:rPr lang="en-IN" sz="3600" dirty="0" smtClean="0">
                <a:solidFill>
                  <a:srgbClr val="FF0000"/>
                </a:solidFill>
              </a:rPr>
              <a:t>number</a:t>
            </a:r>
            <a:r>
              <a:rPr lang="en-IN" sz="3600" dirty="0" smtClean="0"/>
              <a:t>. </a:t>
            </a:r>
          </a:p>
          <a:p>
            <a:pPr algn="just">
              <a:lnSpc>
                <a:spcPct val="150000"/>
              </a:lnSpc>
            </a:pPr>
            <a:r>
              <a:rPr lang="en-IN" sz="3600" dirty="0" smtClean="0"/>
              <a:t>An </a:t>
            </a:r>
            <a:r>
              <a:rPr lang="en-IN" sz="3600" dirty="0"/>
              <a:t>IPv4 address is </a:t>
            </a:r>
            <a:r>
              <a:rPr lang="en-IN" sz="3600" dirty="0" smtClean="0"/>
              <a:t>written </a:t>
            </a:r>
            <a:r>
              <a:rPr lang="en-IN" sz="3600" dirty="0"/>
              <a:t>in decimal digits, formatted as four 8-bit fields that are </a:t>
            </a:r>
            <a:r>
              <a:rPr lang="en-IN" sz="3600" dirty="0">
                <a:solidFill>
                  <a:srgbClr val="FF0000"/>
                </a:solidFill>
              </a:rPr>
              <a:t>separated by periods</a:t>
            </a:r>
            <a:r>
              <a:rPr lang="en-IN" sz="3600" dirty="0"/>
              <a:t>. </a:t>
            </a:r>
            <a:endParaRPr lang="en-IN" sz="3600" dirty="0" smtClean="0"/>
          </a:p>
          <a:p>
            <a:pPr algn="just">
              <a:lnSpc>
                <a:spcPct val="150000"/>
              </a:lnSpc>
            </a:pPr>
            <a:r>
              <a:rPr lang="en-IN" sz="3600" dirty="0" smtClean="0"/>
              <a:t>Each </a:t>
            </a:r>
            <a:r>
              <a:rPr lang="en-IN" sz="3600" dirty="0"/>
              <a:t>8-bit field represents a byte of the IPv4 </a:t>
            </a:r>
            <a:r>
              <a:rPr lang="en-IN" sz="3600" dirty="0" smtClean="0"/>
              <a:t>address and called as </a:t>
            </a:r>
            <a:r>
              <a:rPr lang="en-IN" sz="3600" dirty="0" smtClean="0">
                <a:solidFill>
                  <a:srgbClr val="FF0000"/>
                </a:solidFill>
              </a:rPr>
              <a:t>octets</a:t>
            </a:r>
            <a:r>
              <a:rPr lang="en-IN" sz="3600" dirty="0" smtClean="0"/>
              <a:t>. </a:t>
            </a:r>
            <a:endParaRPr lang="en-IN" sz="3600" dirty="0"/>
          </a:p>
        </p:txBody>
      </p:sp>
    </p:spTree>
    <p:extLst>
      <p:ext uri="{BB962C8B-B14F-4D97-AF65-F5344CB8AC3E}">
        <p14:creationId xmlns:p14="http://schemas.microsoft.com/office/powerpoint/2010/main" val="137037156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Representation</a:t>
            </a:r>
            <a:endParaRPr lang="en-IN" sz="5400" b="1" dirty="0"/>
          </a:p>
        </p:txBody>
      </p:sp>
      <p:sp>
        <p:nvSpPr>
          <p:cNvPr id="3" name="Content Placeholder 2"/>
          <p:cNvSpPr>
            <a:spLocks noGrp="1"/>
          </p:cNvSpPr>
          <p:nvPr>
            <p:ph idx="1"/>
          </p:nvPr>
        </p:nvSpPr>
        <p:spPr>
          <a:xfrm>
            <a:off x="285720" y="1772816"/>
            <a:ext cx="8750776" cy="4799456"/>
          </a:xfrm>
        </p:spPr>
        <p:txBody>
          <a:bodyPr>
            <a:noAutofit/>
          </a:bodyPr>
          <a:lstStyle/>
          <a:p>
            <a:pPr algn="just">
              <a:lnSpc>
                <a:spcPct val="150000"/>
              </a:lnSpc>
            </a:pPr>
            <a:r>
              <a:rPr lang="en-IN" sz="3600" dirty="0" smtClean="0"/>
              <a:t>IPv4 </a:t>
            </a:r>
            <a:r>
              <a:rPr lang="en-IN" sz="3600" dirty="0"/>
              <a:t>address is often referred to as the </a:t>
            </a:r>
            <a:r>
              <a:rPr lang="en-IN" sz="3600" b="1" dirty="0"/>
              <a:t>dotted-decimal format</a:t>
            </a:r>
            <a:r>
              <a:rPr lang="en-IN" sz="3600" dirty="0"/>
              <a:t>.</a:t>
            </a:r>
          </a:p>
          <a:p>
            <a:pPr algn="just">
              <a:lnSpc>
                <a:spcPct val="150000"/>
              </a:lnSpc>
            </a:pPr>
            <a:r>
              <a:rPr lang="en-IN" sz="3600" dirty="0"/>
              <a:t>The bytes of the IPv4 address are further classified into two parts: </a:t>
            </a:r>
            <a:endParaRPr lang="en-IN" sz="3600" dirty="0" smtClean="0"/>
          </a:p>
          <a:p>
            <a:pPr lvl="1" algn="just"/>
            <a:r>
              <a:rPr lang="en-IN" sz="3600" dirty="0" smtClean="0"/>
              <a:t>the </a:t>
            </a:r>
            <a:r>
              <a:rPr lang="en-IN" sz="3600" dirty="0"/>
              <a:t>network part </a:t>
            </a:r>
            <a:endParaRPr lang="en-IN" sz="3600" dirty="0" smtClean="0"/>
          </a:p>
          <a:p>
            <a:pPr lvl="1" algn="just"/>
            <a:r>
              <a:rPr lang="en-IN" sz="3600" dirty="0" smtClean="0"/>
              <a:t>the </a:t>
            </a:r>
            <a:r>
              <a:rPr lang="en-IN" sz="3600" dirty="0"/>
              <a:t>host </a:t>
            </a:r>
            <a:r>
              <a:rPr lang="en-IN" sz="3600" dirty="0" smtClean="0"/>
              <a:t>part</a:t>
            </a:r>
            <a:endParaRPr lang="en-IN" sz="3600" dirty="0"/>
          </a:p>
        </p:txBody>
      </p:sp>
    </p:spTree>
    <p:extLst>
      <p:ext uri="{BB962C8B-B14F-4D97-AF65-F5344CB8AC3E}">
        <p14:creationId xmlns:p14="http://schemas.microsoft.com/office/powerpoint/2010/main" val="402963696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Representation</a:t>
            </a:r>
            <a:endParaRPr lang="en-IN" sz="5400" b="1" dirty="0"/>
          </a:p>
        </p:txBody>
      </p:sp>
      <p:sp>
        <p:nvSpPr>
          <p:cNvPr id="3" name="Content Placeholder 2"/>
          <p:cNvSpPr>
            <a:spLocks noGrp="1"/>
          </p:cNvSpPr>
          <p:nvPr>
            <p:ph idx="1"/>
          </p:nvPr>
        </p:nvSpPr>
        <p:spPr>
          <a:xfrm>
            <a:off x="285720" y="2132856"/>
            <a:ext cx="8750776" cy="4439416"/>
          </a:xfrm>
        </p:spPr>
        <p:txBody>
          <a:bodyPr>
            <a:noAutofit/>
          </a:bodyPr>
          <a:lstStyle/>
          <a:p>
            <a:pPr marL="0" indent="0" algn="just">
              <a:lnSpc>
                <a:spcPct val="150000"/>
              </a:lnSpc>
              <a:buNone/>
            </a:pPr>
            <a:r>
              <a:rPr lang="en-IN" sz="3600" b="1" dirty="0"/>
              <a:t>Network Part</a:t>
            </a:r>
          </a:p>
          <a:p>
            <a:pPr marL="0" indent="0" algn="just">
              <a:lnSpc>
                <a:spcPct val="150000"/>
              </a:lnSpc>
              <a:buNone/>
            </a:pPr>
            <a:r>
              <a:rPr lang="en-IN" sz="3600" dirty="0" smtClean="0"/>
              <a:t>	The </a:t>
            </a:r>
            <a:r>
              <a:rPr lang="en-IN" sz="3600" dirty="0"/>
              <a:t>network part specifies the unique number that is assigned to your network. The network part also identifies the class of network that is assigned.</a:t>
            </a:r>
          </a:p>
        </p:txBody>
      </p:sp>
    </p:spTree>
    <p:extLst>
      <p:ext uri="{BB962C8B-B14F-4D97-AF65-F5344CB8AC3E}">
        <p14:creationId xmlns:p14="http://schemas.microsoft.com/office/powerpoint/2010/main" val="3013311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Representation</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marL="0" indent="0" algn="just">
              <a:lnSpc>
                <a:spcPct val="150000"/>
              </a:lnSpc>
              <a:buNone/>
            </a:pPr>
            <a:r>
              <a:rPr lang="en-IN" sz="3600" b="1" dirty="0"/>
              <a:t>Host Part</a:t>
            </a:r>
          </a:p>
          <a:p>
            <a:pPr marL="0" indent="0" algn="just">
              <a:lnSpc>
                <a:spcPct val="150000"/>
              </a:lnSpc>
              <a:buNone/>
            </a:pPr>
            <a:r>
              <a:rPr lang="en-IN" sz="3600" dirty="0" smtClean="0"/>
              <a:t>	This </a:t>
            </a:r>
            <a:r>
              <a:rPr lang="en-IN" sz="3600" dirty="0"/>
              <a:t>is the part of the IPv4 address that you assign to each host. The host part uniquely identifies this machine on your network.</a:t>
            </a:r>
          </a:p>
        </p:txBody>
      </p:sp>
    </p:spTree>
    <p:extLst>
      <p:ext uri="{BB962C8B-B14F-4D97-AF65-F5344CB8AC3E}">
        <p14:creationId xmlns:p14="http://schemas.microsoft.com/office/powerpoint/2010/main" val="290276497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address classes</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r>
              <a:rPr lang="en-IN" sz="3600" dirty="0"/>
              <a:t>The 32-bit IP address is divided into five sub-classes. These are: </a:t>
            </a:r>
          </a:p>
          <a:p>
            <a:pPr marL="2070100" lvl="1" indent="-742950" fontAlgn="base">
              <a:buFont typeface="+mj-lt"/>
              <a:buAutoNum type="arabicPeriod"/>
            </a:pPr>
            <a:r>
              <a:rPr lang="en-IN" sz="3600" dirty="0"/>
              <a:t>Class A</a:t>
            </a:r>
          </a:p>
          <a:p>
            <a:pPr marL="2070100" lvl="1" indent="-742950" fontAlgn="base">
              <a:buFont typeface="+mj-lt"/>
              <a:buAutoNum type="arabicPeriod"/>
            </a:pPr>
            <a:r>
              <a:rPr lang="en-IN" sz="3600" dirty="0"/>
              <a:t>Class B</a:t>
            </a:r>
          </a:p>
          <a:p>
            <a:pPr marL="2070100" lvl="1" indent="-742950" fontAlgn="base">
              <a:buFont typeface="+mj-lt"/>
              <a:buAutoNum type="arabicPeriod"/>
            </a:pPr>
            <a:r>
              <a:rPr lang="en-IN" sz="3600" dirty="0"/>
              <a:t>Class C</a:t>
            </a:r>
          </a:p>
          <a:p>
            <a:pPr marL="2070100" lvl="1" indent="-742950" fontAlgn="base">
              <a:buFont typeface="+mj-lt"/>
              <a:buAutoNum type="arabicPeriod"/>
            </a:pPr>
            <a:r>
              <a:rPr lang="en-IN" sz="3600" dirty="0"/>
              <a:t>Class D</a:t>
            </a:r>
          </a:p>
          <a:p>
            <a:pPr marL="2070100" lvl="1" indent="-742950" fontAlgn="base">
              <a:buFont typeface="+mj-lt"/>
              <a:buAutoNum type="arabicPeriod"/>
            </a:pPr>
            <a:r>
              <a:rPr lang="en-IN" sz="3600" dirty="0"/>
              <a:t>Class E</a:t>
            </a:r>
          </a:p>
        </p:txBody>
      </p:sp>
    </p:spTree>
    <p:extLst>
      <p:ext uri="{BB962C8B-B14F-4D97-AF65-F5344CB8AC3E}">
        <p14:creationId xmlns:p14="http://schemas.microsoft.com/office/powerpoint/2010/main" val="9930966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address classes</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Primarily, class A, B, and C are used by the majority of devices on the Internet. </a:t>
            </a:r>
            <a:endParaRPr lang="en-IN" sz="3600" dirty="0" smtClean="0"/>
          </a:p>
          <a:p>
            <a:pPr algn="just" fontAlgn="base">
              <a:lnSpc>
                <a:spcPct val="150000"/>
              </a:lnSpc>
            </a:pPr>
            <a:r>
              <a:rPr lang="en-IN" sz="3600" dirty="0"/>
              <a:t>Classes D and E are reserved for multicast and experimental purposes respectively.</a:t>
            </a:r>
          </a:p>
        </p:txBody>
      </p:sp>
    </p:spTree>
    <p:extLst>
      <p:ext uri="{BB962C8B-B14F-4D97-AF65-F5344CB8AC3E}">
        <p14:creationId xmlns:p14="http://schemas.microsoft.com/office/powerpoint/2010/main" val="252282512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address classes</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The class of IP address is used to determine the bits used for network ID and host ID and the number of total networks and hosts possible in that particular class. </a:t>
            </a:r>
            <a:endParaRPr lang="en-IN" sz="3600" dirty="0" smtClean="0"/>
          </a:p>
        </p:txBody>
      </p:sp>
    </p:spTree>
    <p:extLst>
      <p:ext uri="{BB962C8B-B14F-4D97-AF65-F5344CB8AC3E}">
        <p14:creationId xmlns:p14="http://schemas.microsoft.com/office/powerpoint/2010/main" val="335221361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r>
              <a:rPr lang="en-IN" sz="5400" b="1" dirty="0" smtClean="0"/>
              <a:t>IPv4 address classes</a:t>
            </a:r>
            <a:endParaRPr lang="en-IN" sz="5400" b="1" dirty="0"/>
          </a:p>
        </p:txBody>
      </p:sp>
      <p:pic>
        <p:nvPicPr>
          <p:cNvPr id="5" name="Picture 2" descr="Classful Addressing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277" y="2348880"/>
            <a:ext cx="7634147" cy="4003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372620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a:t>
            </a:r>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IP addresses belonging to class A are assigned to the networks that contain a large number of hosts. </a:t>
            </a:r>
          </a:p>
          <a:p>
            <a:pPr lvl="1" algn="just" fontAlgn="base">
              <a:lnSpc>
                <a:spcPct val="150000"/>
              </a:lnSpc>
            </a:pPr>
            <a:r>
              <a:rPr lang="en-IN" sz="3600" dirty="0" smtClean="0"/>
              <a:t>The </a:t>
            </a:r>
            <a:r>
              <a:rPr lang="en-IN" sz="3600" dirty="0"/>
              <a:t>network ID is 8 bits long.</a:t>
            </a:r>
          </a:p>
          <a:p>
            <a:pPr lvl="1" algn="just" fontAlgn="base">
              <a:lnSpc>
                <a:spcPct val="150000"/>
              </a:lnSpc>
            </a:pPr>
            <a:r>
              <a:rPr lang="en-IN" sz="3600" dirty="0"/>
              <a:t>The host ID is 24 bits long.</a:t>
            </a:r>
            <a:endParaRPr lang="en-IN" sz="3600" dirty="0" smtClean="0"/>
          </a:p>
        </p:txBody>
      </p:sp>
    </p:spTree>
    <p:extLst>
      <p:ext uri="{BB962C8B-B14F-4D97-AF65-F5344CB8AC3E}">
        <p14:creationId xmlns:p14="http://schemas.microsoft.com/office/powerpoint/2010/main" val="6469650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a:t>
            </a:r>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a:t>The higher-order bit of the first octet in class A is always set to 0. </a:t>
            </a:r>
            <a:endParaRPr lang="en-IN" sz="3600" dirty="0" smtClean="0"/>
          </a:p>
          <a:p>
            <a:pPr algn="just" fontAlgn="base">
              <a:lnSpc>
                <a:spcPct val="150000"/>
              </a:lnSpc>
            </a:pPr>
            <a:r>
              <a:rPr lang="en-IN" sz="3600" dirty="0" smtClean="0"/>
              <a:t>The </a:t>
            </a:r>
            <a:r>
              <a:rPr lang="en-IN" sz="3600" dirty="0"/>
              <a:t>remaining 7 bits in the first octet are used to determine network ID. </a:t>
            </a:r>
            <a:endParaRPr lang="en-IN" sz="3600" dirty="0" smtClean="0"/>
          </a:p>
        </p:txBody>
      </p:sp>
      <p:pic>
        <p:nvPicPr>
          <p:cNvPr id="2050" name="Picture 2" descr="Class A"/>
          <p:cNvPicPr>
            <a:picLocks noChangeAspect="1" noChangeArrowheads="1"/>
          </p:cNvPicPr>
          <p:nvPr/>
        </p:nvPicPr>
        <p:blipFill rotWithShape="1">
          <a:blip r:embed="rId3">
            <a:extLst>
              <a:ext uri="{28A0092B-C50C-407E-A947-70E740481C1C}">
                <a14:useLocalDpi xmlns:a14="http://schemas.microsoft.com/office/drawing/2010/main" val="0"/>
              </a:ext>
            </a:extLst>
          </a:blip>
          <a:srcRect b="26584"/>
          <a:stretch/>
        </p:blipFill>
        <p:spPr bwMode="auto">
          <a:xfrm>
            <a:off x="2051719" y="1700808"/>
            <a:ext cx="5208637"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27545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a:t>
            </a:r>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smtClean="0"/>
              <a:t>The </a:t>
            </a:r>
            <a:r>
              <a:rPr lang="en-IN" sz="3600" dirty="0"/>
              <a:t>24 bits of host ID are used to determine the host in any network. </a:t>
            </a:r>
            <a:endParaRPr lang="en-IN" sz="3600" dirty="0" smtClean="0"/>
          </a:p>
          <a:p>
            <a:pPr algn="just" fontAlgn="base">
              <a:lnSpc>
                <a:spcPct val="150000"/>
              </a:lnSpc>
            </a:pPr>
            <a:r>
              <a:rPr lang="en-IN" sz="3600" dirty="0" smtClean="0"/>
              <a:t>The </a:t>
            </a:r>
            <a:r>
              <a:rPr lang="en-IN" sz="3600" dirty="0"/>
              <a:t>default subnet mask for Class A is 255.x.x.x.</a:t>
            </a:r>
            <a:endParaRPr lang="en-IN" sz="3600" dirty="0" smtClean="0"/>
          </a:p>
        </p:txBody>
      </p:sp>
      <p:pic>
        <p:nvPicPr>
          <p:cNvPr id="2050" name="Picture 2" descr="Class A"/>
          <p:cNvPicPr>
            <a:picLocks noChangeAspect="1" noChangeArrowheads="1"/>
          </p:cNvPicPr>
          <p:nvPr/>
        </p:nvPicPr>
        <p:blipFill rotWithShape="1">
          <a:blip r:embed="rId3">
            <a:extLst>
              <a:ext uri="{28A0092B-C50C-407E-A947-70E740481C1C}">
                <a14:useLocalDpi xmlns:a14="http://schemas.microsoft.com/office/drawing/2010/main" val="0"/>
              </a:ext>
            </a:extLst>
          </a:blip>
          <a:srcRect b="26584"/>
          <a:stretch/>
        </p:blipFill>
        <p:spPr bwMode="auto">
          <a:xfrm>
            <a:off x="2051719" y="1700808"/>
            <a:ext cx="5208637"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218044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a:t>
            </a:r>
          </a:p>
        </p:txBody>
      </p:sp>
      <p:sp>
        <p:nvSpPr>
          <p:cNvPr id="3" name="Content Placeholder 2"/>
          <p:cNvSpPr>
            <a:spLocks noGrp="1"/>
          </p:cNvSpPr>
          <p:nvPr>
            <p:ph idx="1"/>
          </p:nvPr>
        </p:nvSpPr>
        <p:spPr>
          <a:xfrm>
            <a:off x="285720" y="2348880"/>
            <a:ext cx="8750776" cy="4223392"/>
          </a:xfrm>
        </p:spPr>
        <p:txBody>
          <a:bodyPr>
            <a:noAutofit/>
          </a:bodyPr>
          <a:lstStyle/>
          <a:p>
            <a:pPr algn="just" fontAlgn="base">
              <a:lnSpc>
                <a:spcPct val="150000"/>
              </a:lnSpc>
            </a:pPr>
            <a:r>
              <a:rPr lang="en-IN" sz="3600" dirty="0"/>
              <a:t>Therefore, class A has a total of:</a:t>
            </a:r>
          </a:p>
          <a:p>
            <a:pPr marL="0" indent="0" algn="just" fontAlgn="base">
              <a:lnSpc>
                <a:spcPct val="150000"/>
              </a:lnSpc>
              <a:buNone/>
            </a:pPr>
            <a:r>
              <a:rPr lang="en-IN" sz="3600" dirty="0" smtClean="0"/>
              <a:t>	2^24 </a:t>
            </a:r>
            <a:r>
              <a:rPr lang="en-IN" sz="3600" dirty="0"/>
              <a:t>– 2 = </a:t>
            </a:r>
            <a:r>
              <a:rPr lang="en-IN" sz="3600" dirty="0">
                <a:solidFill>
                  <a:srgbClr val="FF0000"/>
                </a:solidFill>
              </a:rPr>
              <a:t>16,777,214 </a:t>
            </a:r>
            <a:r>
              <a:rPr lang="en-IN" sz="3600" dirty="0"/>
              <a:t>host ID</a:t>
            </a:r>
          </a:p>
          <a:p>
            <a:pPr algn="just" fontAlgn="base">
              <a:lnSpc>
                <a:spcPct val="150000"/>
              </a:lnSpc>
            </a:pPr>
            <a:r>
              <a:rPr lang="en-IN" sz="3600" dirty="0"/>
              <a:t>IP addresses belonging to class A ranges from </a:t>
            </a:r>
            <a:r>
              <a:rPr lang="en-IN" sz="3600" dirty="0">
                <a:solidFill>
                  <a:srgbClr val="FF0000"/>
                </a:solidFill>
              </a:rPr>
              <a:t>1.0.0.0 – 126.255.255.255</a:t>
            </a:r>
            <a:r>
              <a:rPr lang="en-IN" sz="3600" dirty="0"/>
              <a:t>. </a:t>
            </a:r>
          </a:p>
        </p:txBody>
      </p:sp>
    </p:spTree>
    <p:extLst>
      <p:ext uri="{BB962C8B-B14F-4D97-AF65-F5344CB8AC3E}">
        <p14:creationId xmlns:p14="http://schemas.microsoft.com/office/powerpoint/2010/main" val="11334856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B</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IP address belonging to class B is assigned to networks that range from medium-sized to large-sized networks. </a:t>
            </a:r>
            <a:r>
              <a:rPr lang="en-IN" sz="3600" dirty="0" smtClean="0"/>
              <a:t> </a:t>
            </a:r>
            <a:endParaRPr lang="en-IN" sz="3600" dirty="0"/>
          </a:p>
          <a:p>
            <a:pPr lvl="1" algn="just" fontAlgn="base">
              <a:lnSpc>
                <a:spcPct val="150000"/>
              </a:lnSpc>
            </a:pPr>
            <a:r>
              <a:rPr lang="en-IN" sz="3600" dirty="0"/>
              <a:t>The network ID is 16 bits long.</a:t>
            </a:r>
          </a:p>
          <a:p>
            <a:pPr lvl="1" algn="just" fontAlgn="base">
              <a:lnSpc>
                <a:spcPct val="150000"/>
              </a:lnSpc>
            </a:pPr>
            <a:r>
              <a:rPr lang="en-IN" sz="3600" dirty="0"/>
              <a:t>The host ID is 16 bits long.</a:t>
            </a:r>
            <a:endParaRPr lang="en-IN" sz="3600" dirty="0" smtClean="0"/>
          </a:p>
        </p:txBody>
      </p:sp>
    </p:spTree>
    <p:extLst>
      <p:ext uri="{BB962C8B-B14F-4D97-AF65-F5344CB8AC3E}">
        <p14:creationId xmlns:p14="http://schemas.microsoft.com/office/powerpoint/2010/main" val="370622112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B</a:t>
            </a:r>
            <a:endParaRPr lang="en-IN" sz="5400" b="1" dirty="0"/>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a:t>The higher-order bits of the first octet of IP addresses of class B are always set to 10. </a:t>
            </a:r>
            <a:endParaRPr lang="en-IN" sz="3600" dirty="0" smtClean="0"/>
          </a:p>
          <a:p>
            <a:pPr algn="just" fontAlgn="base">
              <a:lnSpc>
                <a:spcPct val="150000"/>
              </a:lnSpc>
            </a:pPr>
            <a:r>
              <a:rPr lang="en-IN" sz="3600" dirty="0" smtClean="0"/>
              <a:t>The </a:t>
            </a:r>
            <a:r>
              <a:rPr lang="en-IN" sz="3600" dirty="0"/>
              <a:t>remaining 14 bits are used to determine the network ID.</a:t>
            </a:r>
            <a:endParaRPr lang="en-IN" sz="3600" dirty="0" smtClean="0"/>
          </a:p>
        </p:txBody>
      </p:sp>
      <p:sp>
        <p:nvSpPr>
          <p:cNvPr id="4" name="AutoShape 2" descr="Class B"/>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descr="C:\Users\Test\Desktop\IP_addressing_5.jpg"/>
          <p:cNvPicPr>
            <a:picLocks noChangeAspect="1" noChangeArrowheads="1"/>
          </p:cNvPicPr>
          <p:nvPr/>
        </p:nvPicPr>
        <p:blipFill rotWithShape="1">
          <a:blip r:embed="rId3">
            <a:extLst>
              <a:ext uri="{28A0092B-C50C-407E-A947-70E740481C1C}">
                <a14:useLocalDpi xmlns:a14="http://schemas.microsoft.com/office/drawing/2010/main" val="0"/>
              </a:ext>
            </a:extLst>
          </a:blip>
          <a:srcRect b="26777"/>
          <a:stretch/>
        </p:blipFill>
        <p:spPr bwMode="auto">
          <a:xfrm>
            <a:off x="2136521" y="1844824"/>
            <a:ext cx="5205600"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95752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B</a:t>
            </a:r>
            <a:endParaRPr lang="en-IN" sz="5400" b="1" dirty="0"/>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a:t>The 16 bits of host ID are used to determine the host in any network. </a:t>
            </a:r>
            <a:endParaRPr lang="en-IN" sz="3600" dirty="0" smtClean="0"/>
          </a:p>
          <a:p>
            <a:pPr algn="just" fontAlgn="base">
              <a:lnSpc>
                <a:spcPct val="150000"/>
              </a:lnSpc>
            </a:pPr>
            <a:r>
              <a:rPr lang="en-IN" sz="3600" dirty="0" smtClean="0"/>
              <a:t>The </a:t>
            </a:r>
            <a:r>
              <a:rPr lang="en-IN" sz="3600" dirty="0"/>
              <a:t>default subnet mask for class B is 255.255.x.x.</a:t>
            </a:r>
            <a:endParaRPr lang="en-IN" sz="3600" dirty="0" smtClean="0"/>
          </a:p>
        </p:txBody>
      </p:sp>
      <p:sp>
        <p:nvSpPr>
          <p:cNvPr id="4" name="AutoShape 2" descr="Class B"/>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075" name="Picture 3" descr="C:\Users\Test\Desktop\IP_addressing_5.jpg"/>
          <p:cNvPicPr>
            <a:picLocks noChangeAspect="1" noChangeArrowheads="1"/>
          </p:cNvPicPr>
          <p:nvPr/>
        </p:nvPicPr>
        <p:blipFill rotWithShape="1">
          <a:blip r:embed="rId3">
            <a:extLst>
              <a:ext uri="{28A0092B-C50C-407E-A947-70E740481C1C}">
                <a14:useLocalDpi xmlns:a14="http://schemas.microsoft.com/office/drawing/2010/main" val="0"/>
              </a:ext>
            </a:extLst>
          </a:blip>
          <a:srcRect b="26777"/>
          <a:stretch/>
        </p:blipFill>
        <p:spPr bwMode="auto">
          <a:xfrm>
            <a:off x="2136521" y="1844824"/>
            <a:ext cx="5205600"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0579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B</a:t>
            </a:r>
            <a:endParaRPr lang="en-IN" sz="5400" b="1" dirty="0"/>
          </a:p>
        </p:txBody>
      </p:sp>
      <p:sp>
        <p:nvSpPr>
          <p:cNvPr id="3" name="Content Placeholder 2"/>
          <p:cNvSpPr>
            <a:spLocks noGrp="1"/>
          </p:cNvSpPr>
          <p:nvPr>
            <p:ph idx="1"/>
          </p:nvPr>
        </p:nvSpPr>
        <p:spPr>
          <a:xfrm>
            <a:off x="285720" y="2348880"/>
            <a:ext cx="8750776" cy="4223392"/>
          </a:xfrm>
        </p:spPr>
        <p:txBody>
          <a:bodyPr>
            <a:noAutofit/>
          </a:bodyPr>
          <a:lstStyle/>
          <a:p>
            <a:pPr algn="just" fontAlgn="base">
              <a:lnSpc>
                <a:spcPct val="150000"/>
              </a:lnSpc>
            </a:pPr>
            <a:r>
              <a:rPr lang="en-IN" sz="3600" dirty="0"/>
              <a:t>Therefore, class </a:t>
            </a:r>
            <a:r>
              <a:rPr lang="en-IN" sz="3600" dirty="0" smtClean="0"/>
              <a:t>B </a:t>
            </a:r>
            <a:r>
              <a:rPr lang="en-IN" sz="3600" dirty="0"/>
              <a:t>has a total of:</a:t>
            </a:r>
          </a:p>
          <a:p>
            <a:pPr marL="901700" lvl="1" indent="0" fontAlgn="base">
              <a:buNone/>
            </a:pPr>
            <a:r>
              <a:rPr lang="en-IN" sz="3600" dirty="0" smtClean="0"/>
              <a:t>2^14 </a:t>
            </a:r>
            <a:r>
              <a:rPr lang="en-IN" sz="3600" dirty="0"/>
              <a:t>= </a:t>
            </a:r>
            <a:r>
              <a:rPr lang="en-IN" sz="3600" dirty="0">
                <a:solidFill>
                  <a:srgbClr val="FF0000"/>
                </a:solidFill>
              </a:rPr>
              <a:t>16384 </a:t>
            </a:r>
            <a:r>
              <a:rPr lang="en-IN" sz="3600" dirty="0"/>
              <a:t>network address</a:t>
            </a:r>
          </a:p>
          <a:p>
            <a:pPr marL="901700" lvl="1" indent="0" fontAlgn="base">
              <a:buNone/>
            </a:pPr>
            <a:r>
              <a:rPr lang="en-IN" sz="3600" dirty="0"/>
              <a:t>2^16 – 2 = </a:t>
            </a:r>
            <a:r>
              <a:rPr lang="en-IN" sz="3600" dirty="0">
                <a:solidFill>
                  <a:srgbClr val="FF0000"/>
                </a:solidFill>
              </a:rPr>
              <a:t>65534</a:t>
            </a:r>
            <a:r>
              <a:rPr lang="en-IN" sz="3600" dirty="0"/>
              <a:t> host address</a:t>
            </a:r>
          </a:p>
          <a:p>
            <a:pPr algn="just" fontAlgn="base">
              <a:lnSpc>
                <a:spcPct val="150000"/>
              </a:lnSpc>
            </a:pPr>
            <a:r>
              <a:rPr lang="en-IN" sz="3600" dirty="0" smtClean="0"/>
              <a:t>IP </a:t>
            </a:r>
            <a:r>
              <a:rPr lang="en-IN" sz="3600" dirty="0"/>
              <a:t>addresses belonging to class </a:t>
            </a:r>
            <a:r>
              <a:rPr lang="en-IN" sz="3600" dirty="0" smtClean="0"/>
              <a:t>B </a:t>
            </a:r>
            <a:r>
              <a:rPr lang="en-IN" sz="3600" dirty="0"/>
              <a:t>ranges from </a:t>
            </a:r>
            <a:r>
              <a:rPr lang="en-IN" sz="3600" dirty="0">
                <a:solidFill>
                  <a:srgbClr val="FF0000"/>
                </a:solidFill>
              </a:rPr>
              <a:t>128.0.0.0 – 191.255.255.255</a:t>
            </a:r>
            <a:r>
              <a:rPr lang="en-IN" sz="3600" dirty="0" smtClean="0"/>
              <a:t>.</a:t>
            </a:r>
            <a:r>
              <a:rPr lang="en-IN" sz="3600" dirty="0"/>
              <a:t> </a:t>
            </a:r>
          </a:p>
        </p:txBody>
      </p:sp>
    </p:spTree>
    <p:extLst>
      <p:ext uri="{BB962C8B-B14F-4D97-AF65-F5344CB8AC3E}">
        <p14:creationId xmlns:p14="http://schemas.microsoft.com/office/powerpoint/2010/main" val="271237339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C</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IP addresses belonging to class C are assigned to small-sized networks</a:t>
            </a:r>
            <a:r>
              <a:rPr lang="en-IN" sz="3600" dirty="0" smtClean="0"/>
              <a:t>.</a:t>
            </a:r>
          </a:p>
          <a:p>
            <a:pPr lvl="1" algn="just" fontAlgn="base">
              <a:lnSpc>
                <a:spcPct val="150000"/>
              </a:lnSpc>
            </a:pPr>
            <a:r>
              <a:rPr lang="en-IN" sz="3600" dirty="0"/>
              <a:t>The network ID is 24 bits long.</a:t>
            </a:r>
          </a:p>
          <a:p>
            <a:pPr lvl="1" algn="just" fontAlgn="base">
              <a:lnSpc>
                <a:spcPct val="150000"/>
              </a:lnSpc>
            </a:pPr>
            <a:r>
              <a:rPr lang="en-IN" sz="3600" dirty="0"/>
              <a:t>The host ID is 8 bits long.</a:t>
            </a:r>
            <a:endParaRPr lang="en-IN" sz="3600" dirty="0" smtClean="0"/>
          </a:p>
        </p:txBody>
      </p:sp>
    </p:spTree>
    <p:extLst>
      <p:ext uri="{BB962C8B-B14F-4D97-AF65-F5344CB8AC3E}">
        <p14:creationId xmlns:p14="http://schemas.microsoft.com/office/powerpoint/2010/main" val="81129541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C</a:t>
            </a:r>
            <a:endParaRPr lang="en-IN" sz="5400" b="1" dirty="0"/>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a:t>The higher-order bits of the first octet of IP addresses of class C is always set to 110. </a:t>
            </a:r>
            <a:endParaRPr lang="en-IN" sz="3600" dirty="0" smtClean="0"/>
          </a:p>
          <a:p>
            <a:pPr algn="just" fontAlgn="base">
              <a:lnSpc>
                <a:spcPct val="150000"/>
              </a:lnSpc>
            </a:pPr>
            <a:r>
              <a:rPr lang="en-IN" sz="3600" dirty="0" smtClean="0"/>
              <a:t>The </a:t>
            </a:r>
            <a:r>
              <a:rPr lang="en-IN" sz="3600" dirty="0"/>
              <a:t>remaining 21 bits are used to determine the network ID.</a:t>
            </a:r>
            <a:endParaRPr lang="en-IN" sz="3600" dirty="0" smtClean="0"/>
          </a:p>
        </p:txBody>
      </p:sp>
      <p:sp>
        <p:nvSpPr>
          <p:cNvPr id="4" name="AutoShape 2" descr="Class B"/>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descr="C:\Users\Test\Desktop\IP_addressing_6.jpg"/>
          <p:cNvPicPr>
            <a:picLocks noChangeAspect="1" noChangeArrowheads="1"/>
          </p:cNvPicPr>
          <p:nvPr/>
        </p:nvPicPr>
        <p:blipFill rotWithShape="1">
          <a:blip r:embed="rId3">
            <a:extLst>
              <a:ext uri="{28A0092B-C50C-407E-A947-70E740481C1C}">
                <a14:useLocalDpi xmlns:a14="http://schemas.microsoft.com/office/drawing/2010/main" val="0"/>
              </a:ext>
            </a:extLst>
          </a:blip>
          <a:srcRect b="29320"/>
          <a:stretch/>
        </p:blipFill>
        <p:spPr bwMode="auto">
          <a:xfrm>
            <a:off x="2064046" y="1700808"/>
            <a:ext cx="5205600"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650100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C</a:t>
            </a:r>
            <a:endParaRPr lang="en-IN" sz="5400" b="1" dirty="0"/>
          </a:p>
        </p:txBody>
      </p:sp>
      <p:sp>
        <p:nvSpPr>
          <p:cNvPr id="3" name="Content Placeholder 2"/>
          <p:cNvSpPr>
            <a:spLocks noGrp="1"/>
          </p:cNvSpPr>
          <p:nvPr>
            <p:ph idx="1"/>
          </p:nvPr>
        </p:nvSpPr>
        <p:spPr>
          <a:xfrm>
            <a:off x="285720" y="2996952"/>
            <a:ext cx="8750776" cy="3575320"/>
          </a:xfrm>
        </p:spPr>
        <p:txBody>
          <a:bodyPr>
            <a:noAutofit/>
          </a:bodyPr>
          <a:lstStyle/>
          <a:p>
            <a:pPr algn="just" fontAlgn="base">
              <a:lnSpc>
                <a:spcPct val="150000"/>
              </a:lnSpc>
            </a:pPr>
            <a:r>
              <a:rPr lang="en-IN" sz="3600" dirty="0"/>
              <a:t>he 8 bits of host ID are used to determine the host in any network. </a:t>
            </a:r>
            <a:endParaRPr lang="en-IN" sz="3600" dirty="0" smtClean="0"/>
          </a:p>
          <a:p>
            <a:pPr algn="just" fontAlgn="base">
              <a:lnSpc>
                <a:spcPct val="150000"/>
              </a:lnSpc>
            </a:pPr>
            <a:r>
              <a:rPr lang="en-IN" sz="3600" dirty="0" smtClean="0"/>
              <a:t>The </a:t>
            </a:r>
            <a:r>
              <a:rPr lang="en-IN" sz="3600" dirty="0"/>
              <a:t>default subnet mask for class C is 255.255.255.x.</a:t>
            </a:r>
            <a:endParaRPr lang="en-IN" sz="3600" dirty="0" smtClean="0"/>
          </a:p>
        </p:txBody>
      </p:sp>
      <p:sp>
        <p:nvSpPr>
          <p:cNvPr id="4" name="AutoShape 2" descr="Class B"/>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146" name="Picture 2" descr="C:\Users\Test\Desktop\IP_addressing_6.jpg"/>
          <p:cNvPicPr>
            <a:picLocks noChangeAspect="1" noChangeArrowheads="1"/>
          </p:cNvPicPr>
          <p:nvPr/>
        </p:nvPicPr>
        <p:blipFill rotWithShape="1">
          <a:blip r:embed="rId3">
            <a:extLst>
              <a:ext uri="{28A0092B-C50C-407E-A947-70E740481C1C}">
                <a14:useLocalDpi xmlns:a14="http://schemas.microsoft.com/office/drawing/2010/main" val="0"/>
              </a:ext>
            </a:extLst>
          </a:blip>
          <a:srcRect b="29320"/>
          <a:stretch/>
        </p:blipFill>
        <p:spPr bwMode="auto">
          <a:xfrm>
            <a:off x="2064046" y="1700808"/>
            <a:ext cx="5205600" cy="1092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01920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C</a:t>
            </a:r>
            <a:endParaRPr lang="en-IN" sz="5400" b="1" dirty="0"/>
          </a:p>
        </p:txBody>
      </p:sp>
      <p:sp>
        <p:nvSpPr>
          <p:cNvPr id="3" name="Content Placeholder 2"/>
          <p:cNvSpPr>
            <a:spLocks noGrp="1"/>
          </p:cNvSpPr>
          <p:nvPr>
            <p:ph idx="1"/>
          </p:nvPr>
        </p:nvSpPr>
        <p:spPr>
          <a:xfrm>
            <a:off x="285720" y="2348880"/>
            <a:ext cx="8750776" cy="4223392"/>
          </a:xfrm>
        </p:spPr>
        <p:txBody>
          <a:bodyPr>
            <a:noAutofit/>
          </a:bodyPr>
          <a:lstStyle/>
          <a:p>
            <a:pPr algn="just" fontAlgn="base">
              <a:lnSpc>
                <a:spcPct val="150000"/>
              </a:lnSpc>
            </a:pPr>
            <a:r>
              <a:rPr lang="en-IN" sz="3600" dirty="0"/>
              <a:t>Therefore, class </a:t>
            </a:r>
            <a:r>
              <a:rPr lang="en-IN" sz="3600" dirty="0" smtClean="0"/>
              <a:t>C </a:t>
            </a:r>
            <a:r>
              <a:rPr lang="en-IN" sz="3600" dirty="0"/>
              <a:t>has a total of:</a:t>
            </a:r>
          </a:p>
          <a:p>
            <a:pPr marL="901700" lvl="1" indent="0" fontAlgn="base">
              <a:buNone/>
            </a:pPr>
            <a:r>
              <a:rPr lang="en-IN" sz="3600" dirty="0" smtClean="0"/>
              <a:t>2^21 </a:t>
            </a:r>
            <a:r>
              <a:rPr lang="en-IN" sz="3600" dirty="0"/>
              <a:t>= </a:t>
            </a:r>
            <a:r>
              <a:rPr lang="en-IN" sz="3600" dirty="0">
                <a:solidFill>
                  <a:srgbClr val="FF0000"/>
                </a:solidFill>
              </a:rPr>
              <a:t>2097152 </a:t>
            </a:r>
            <a:r>
              <a:rPr lang="en-IN" sz="3600" dirty="0" smtClean="0"/>
              <a:t>network </a:t>
            </a:r>
            <a:r>
              <a:rPr lang="en-IN" sz="3600" dirty="0"/>
              <a:t>address</a:t>
            </a:r>
          </a:p>
          <a:p>
            <a:pPr marL="901700" lvl="1" indent="0" fontAlgn="base">
              <a:buNone/>
            </a:pPr>
            <a:r>
              <a:rPr lang="en-IN" sz="3600" dirty="0" smtClean="0"/>
              <a:t>2^8 </a:t>
            </a:r>
            <a:r>
              <a:rPr lang="en-IN" sz="3600" dirty="0"/>
              <a:t>– 2 = </a:t>
            </a:r>
            <a:r>
              <a:rPr lang="en-IN" sz="3600" dirty="0">
                <a:solidFill>
                  <a:srgbClr val="FF0000"/>
                </a:solidFill>
              </a:rPr>
              <a:t>254 </a:t>
            </a:r>
            <a:r>
              <a:rPr lang="en-IN" sz="3600" dirty="0" smtClean="0"/>
              <a:t>host </a:t>
            </a:r>
            <a:r>
              <a:rPr lang="en-IN" sz="3600" dirty="0"/>
              <a:t>address</a:t>
            </a:r>
          </a:p>
          <a:p>
            <a:pPr algn="just" fontAlgn="base">
              <a:lnSpc>
                <a:spcPct val="150000"/>
              </a:lnSpc>
            </a:pPr>
            <a:r>
              <a:rPr lang="en-IN" sz="3600" dirty="0" smtClean="0"/>
              <a:t>IP </a:t>
            </a:r>
            <a:r>
              <a:rPr lang="en-IN" sz="3600" dirty="0"/>
              <a:t>addresses belonging to class </a:t>
            </a:r>
            <a:r>
              <a:rPr lang="en-IN" sz="3600" dirty="0" smtClean="0"/>
              <a:t>C </a:t>
            </a:r>
            <a:r>
              <a:rPr lang="en-IN" sz="3600" dirty="0"/>
              <a:t>ranges from </a:t>
            </a:r>
            <a:r>
              <a:rPr lang="en-IN" sz="3600" dirty="0">
                <a:solidFill>
                  <a:srgbClr val="FF0000"/>
                </a:solidFill>
              </a:rPr>
              <a:t>192.0.0.0 – 223.255.255.255</a:t>
            </a:r>
            <a:r>
              <a:rPr lang="en-IN" sz="3600" dirty="0" smtClean="0"/>
              <a:t>.</a:t>
            </a:r>
            <a:r>
              <a:rPr lang="en-IN" sz="3600" dirty="0"/>
              <a:t> </a:t>
            </a:r>
          </a:p>
        </p:txBody>
      </p:sp>
    </p:spTree>
    <p:extLst>
      <p:ext uri="{BB962C8B-B14F-4D97-AF65-F5344CB8AC3E}">
        <p14:creationId xmlns:p14="http://schemas.microsoft.com/office/powerpoint/2010/main" val="335531159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D</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IP address belonging to class D is reserved for multi-casting. </a:t>
            </a:r>
            <a:endParaRPr lang="en-IN" sz="3600" dirty="0" smtClean="0"/>
          </a:p>
          <a:p>
            <a:pPr algn="just" fontAlgn="base">
              <a:lnSpc>
                <a:spcPct val="150000"/>
              </a:lnSpc>
            </a:pPr>
            <a:r>
              <a:rPr lang="en-IN" sz="3600" dirty="0" smtClean="0"/>
              <a:t>The </a:t>
            </a:r>
            <a:r>
              <a:rPr lang="en-IN" sz="3600" dirty="0"/>
              <a:t>higher-order bits of the first octet of IP addresses belonging to class D is always set to 1110.</a:t>
            </a:r>
            <a:endParaRPr lang="en-IN" sz="3600" dirty="0" smtClean="0"/>
          </a:p>
        </p:txBody>
      </p:sp>
    </p:spTree>
    <p:extLst>
      <p:ext uri="{BB962C8B-B14F-4D97-AF65-F5344CB8AC3E}">
        <p14:creationId xmlns:p14="http://schemas.microsoft.com/office/powerpoint/2010/main" val="136629184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D</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The remaining bits are for the address that interested hosts recognize</a:t>
            </a:r>
            <a:r>
              <a:rPr lang="en-IN" sz="3600" dirty="0" smtClean="0"/>
              <a:t>.</a:t>
            </a:r>
          </a:p>
        </p:txBody>
      </p:sp>
      <p:pic>
        <p:nvPicPr>
          <p:cNvPr id="7170" name="Picture 2" descr="Lightbox"/>
          <p:cNvPicPr>
            <a:picLocks noChangeAspect="1" noChangeArrowheads="1"/>
          </p:cNvPicPr>
          <p:nvPr/>
        </p:nvPicPr>
        <p:blipFill rotWithShape="1">
          <a:blip r:embed="rId3">
            <a:extLst>
              <a:ext uri="{28A0092B-C50C-407E-A947-70E740481C1C}">
                <a14:useLocalDpi xmlns:a14="http://schemas.microsoft.com/office/drawing/2010/main" val="0"/>
              </a:ext>
            </a:extLst>
          </a:blip>
          <a:srcRect b="25848"/>
          <a:stretch/>
        </p:blipFill>
        <p:spPr bwMode="auto">
          <a:xfrm>
            <a:off x="952444" y="4138870"/>
            <a:ext cx="7457312" cy="1337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4544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D</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smtClean="0"/>
              <a:t>Class </a:t>
            </a:r>
            <a:r>
              <a:rPr lang="en-IN" sz="3600" dirty="0"/>
              <a:t>D does not possess any subnet mask. </a:t>
            </a:r>
            <a:endParaRPr lang="en-IN" sz="3600" dirty="0" smtClean="0"/>
          </a:p>
          <a:p>
            <a:pPr algn="just" fontAlgn="base">
              <a:lnSpc>
                <a:spcPct val="150000"/>
              </a:lnSpc>
            </a:pPr>
            <a:r>
              <a:rPr lang="en-IN" sz="3600" dirty="0" smtClean="0"/>
              <a:t>IP </a:t>
            </a:r>
            <a:r>
              <a:rPr lang="en-IN" sz="3600" dirty="0"/>
              <a:t>addresses belonging to class D range from 224.0.0.0 – 239.255.255.255.</a:t>
            </a:r>
            <a:endParaRPr lang="en-IN" sz="3600" dirty="0" smtClean="0"/>
          </a:p>
        </p:txBody>
      </p:sp>
    </p:spTree>
    <p:extLst>
      <p:ext uri="{BB962C8B-B14F-4D97-AF65-F5344CB8AC3E}">
        <p14:creationId xmlns:p14="http://schemas.microsoft.com/office/powerpoint/2010/main" val="165582910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E</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a:t>IP addresses belonging to class E are reserved for experimental and research purposes. </a:t>
            </a:r>
            <a:endParaRPr lang="en-IN" sz="3600" dirty="0" smtClean="0"/>
          </a:p>
          <a:p>
            <a:pPr algn="just" fontAlgn="base">
              <a:lnSpc>
                <a:spcPct val="150000"/>
              </a:lnSpc>
            </a:pPr>
            <a:r>
              <a:rPr lang="en-IN" sz="3600" dirty="0" smtClean="0"/>
              <a:t>IP </a:t>
            </a:r>
            <a:r>
              <a:rPr lang="en-IN" sz="3600" dirty="0"/>
              <a:t>addresses of class E range from 240.0.0.0 – 255.255.255.254. </a:t>
            </a:r>
            <a:endParaRPr lang="en-IN" sz="3600" dirty="0" smtClean="0"/>
          </a:p>
        </p:txBody>
      </p:sp>
    </p:spTree>
    <p:extLst>
      <p:ext uri="{BB962C8B-B14F-4D97-AF65-F5344CB8AC3E}">
        <p14:creationId xmlns:p14="http://schemas.microsoft.com/office/powerpoint/2010/main" val="32516842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965" y="548680"/>
            <a:ext cx="8229600" cy="1165808"/>
          </a:xfrm>
        </p:spPr>
        <p:txBody>
          <a:bodyPr>
            <a:noAutofit/>
          </a:bodyPr>
          <a:lstStyle/>
          <a:p>
            <a:pPr fontAlgn="base"/>
            <a:r>
              <a:rPr lang="en-IN" sz="5400" b="1" dirty="0"/>
              <a:t>Class </a:t>
            </a:r>
            <a:r>
              <a:rPr lang="en-IN" sz="5400" b="1" dirty="0" smtClean="0"/>
              <a:t>E</a:t>
            </a:r>
            <a:endParaRPr lang="en-IN" sz="5400" b="1" dirty="0"/>
          </a:p>
        </p:txBody>
      </p:sp>
      <p:sp>
        <p:nvSpPr>
          <p:cNvPr id="3" name="Content Placeholder 2"/>
          <p:cNvSpPr>
            <a:spLocks noGrp="1"/>
          </p:cNvSpPr>
          <p:nvPr>
            <p:ph idx="1"/>
          </p:nvPr>
        </p:nvSpPr>
        <p:spPr>
          <a:xfrm>
            <a:off x="285720" y="2060848"/>
            <a:ext cx="8750776" cy="4511424"/>
          </a:xfrm>
        </p:spPr>
        <p:txBody>
          <a:bodyPr>
            <a:noAutofit/>
          </a:bodyPr>
          <a:lstStyle/>
          <a:p>
            <a:pPr algn="just" fontAlgn="base">
              <a:lnSpc>
                <a:spcPct val="150000"/>
              </a:lnSpc>
            </a:pPr>
            <a:r>
              <a:rPr lang="en-IN" sz="3600" dirty="0" smtClean="0"/>
              <a:t>This </a:t>
            </a:r>
            <a:r>
              <a:rPr lang="en-IN" sz="3600" dirty="0"/>
              <a:t>class doesn’t have any subnet mask. The higher-order bits of the first octet of class E are always set to 1111.</a:t>
            </a:r>
            <a:endParaRPr lang="en-IN" sz="3600" dirty="0" smtClean="0"/>
          </a:p>
        </p:txBody>
      </p:sp>
      <p:pic>
        <p:nvPicPr>
          <p:cNvPr id="12290" name="Picture 2" descr="Class E"/>
          <p:cNvPicPr>
            <a:picLocks noChangeAspect="1" noChangeArrowheads="1"/>
          </p:cNvPicPr>
          <p:nvPr/>
        </p:nvPicPr>
        <p:blipFill rotWithShape="1">
          <a:blip r:embed="rId3">
            <a:extLst>
              <a:ext uri="{28A0092B-C50C-407E-A947-70E740481C1C}">
                <a14:useLocalDpi xmlns:a14="http://schemas.microsoft.com/office/drawing/2010/main" val="0"/>
              </a:ext>
            </a:extLst>
          </a:blip>
          <a:srcRect b="28402"/>
          <a:stretch/>
        </p:blipFill>
        <p:spPr bwMode="auto">
          <a:xfrm>
            <a:off x="867977" y="4797152"/>
            <a:ext cx="7344504" cy="1271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88416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Summary of </a:t>
            </a:r>
            <a:r>
              <a:rPr lang="en-IN" b="1" dirty="0" err="1"/>
              <a:t>Classful</a:t>
            </a:r>
            <a:r>
              <a:rPr lang="en-IN" b="1" dirty="0"/>
              <a:t> Addressing </a:t>
            </a:r>
            <a:endParaRPr lang="en-IN" dirty="0"/>
          </a:p>
        </p:txBody>
      </p:sp>
      <p:sp>
        <p:nvSpPr>
          <p:cNvPr id="3" name="Content Placeholder 2"/>
          <p:cNvSpPr>
            <a:spLocks noGrp="1"/>
          </p:cNvSpPr>
          <p:nvPr>
            <p:ph idx="1"/>
          </p:nvPr>
        </p:nvSpPr>
        <p:spPr/>
        <p:txBody>
          <a:bodyPr/>
          <a:lstStyle/>
          <a:p>
            <a:endParaRPr lang="en-IN"/>
          </a:p>
        </p:txBody>
      </p:sp>
      <p:sp>
        <p:nvSpPr>
          <p:cNvPr id="4" name="AutoShape 2" descr="Lightbox"/>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8" name="Picture 4" descr="Lightbo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2" y="2132856"/>
            <a:ext cx="9097214" cy="35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31018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339</TotalTime>
  <Words>1149</Words>
  <Application>Microsoft Office PowerPoint</Application>
  <PresentationFormat>On-screen Show (4:3)</PresentationFormat>
  <Paragraphs>164</Paragraphs>
  <Slides>42</Slides>
  <Notes>39</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IP Addressing</vt:lpstr>
      <vt:lpstr>What is?</vt:lpstr>
      <vt:lpstr>How are IP Addresses Generated?</vt:lpstr>
      <vt:lpstr>How are IP Addresses Generated?</vt:lpstr>
      <vt:lpstr>How are IP Addresses Generated?</vt:lpstr>
      <vt:lpstr>PowerPoint Presentation</vt:lpstr>
      <vt:lpstr>Public IP Addresses</vt:lpstr>
      <vt:lpstr>Private IP Addresses</vt:lpstr>
      <vt:lpstr>Dynamic IP address</vt:lpstr>
      <vt:lpstr>Static IP Addresses</vt:lpstr>
      <vt:lpstr>Version of IP address</vt:lpstr>
      <vt:lpstr>IPV4</vt:lpstr>
      <vt:lpstr>IPV4</vt:lpstr>
      <vt:lpstr>IPV4</vt:lpstr>
      <vt:lpstr>IPV6</vt:lpstr>
      <vt:lpstr>IPV6</vt:lpstr>
      <vt:lpstr>IPv4 Representation</vt:lpstr>
      <vt:lpstr>IPv4 Representation</vt:lpstr>
      <vt:lpstr>IPv4 Representation</vt:lpstr>
      <vt:lpstr>IPv4 Representation</vt:lpstr>
      <vt:lpstr>IPv4 address classes</vt:lpstr>
      <vt:lpstr>IPv4 address classes</vt:lpstr>
      <vt:lpstr>IPv4 address classes</vt:lpstr>
      <vt:lpstr>IPv4 address classes</vt:lpstr>
      <vt:lpstr>Class A</vt:lpstr>
      <vt:lpstr>Class A</vt:lpstr>
      <vt:lpstr>Class A</vt:lpstr>
      <vt:lpstr>Class A</vt:lpstr>
      <vt:lpstr>Class B</vt:lpstr>
      <vt:lpstr>Class B</vt:lpstr>
      <vt:lpstr>Class B</vt:lpstr>
      <vt:lpstr>Class B</vt:lpstr>
      <vt:lpstr>Class C</vt:lpstr>
      <vt:lpstr>Class C</vt:lpstr>
      <vt:lpstr>Class C</vt:lpstr>
      <vt:lpstr>Class C</vt:lpstr>
      <vt:lpstr>Class D</vt:lpstr>
      <vt:lpstr>Class D</vt:lpstr>
      <vt:lpstr>Class D</vt:lpstr>
      <vt:lpstr>Class E</vt:lpstr>
      <vt:lpstr>Class E</vt:lpstr>
      <vt:lpstr>Summary of Classful Addressing </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Test</cp:lastModifiedBy>
  <cp:revision>80</cp:revision>
  <dcterms:created xsi:type="dcterms:W3CDTF">2013-08-21T19:17:07Z</dcterms:created>
  <dcterms:modified xsi:type="dcterms:W3CDTF">2024-02-14T08:50:53Z</dcterms:modified>
</cp:coreProperties>
</file>