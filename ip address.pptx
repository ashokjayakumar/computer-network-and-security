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59" r:id="rId5"/>
    <p:sldId id="258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9" r:id="rId23"/>
    <p:sldId id="276" r:id="rId24"/>
    <p:sldId id="277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4" d="100"/>
          <a:sy n="94" d="100"/>
        </p:scale>
        <p:origin x="-882" y="-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ABFB-9987-4DA5-8B9B-9EF1EC6E5058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C389-41F2-476C-92A2-A7256492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070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ABFB-9987-4DA5-8B9B-9EF1EC6E5058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C389-41F2-476C-92A2-A7256492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178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ABFB-9987-4DA5-8B9B-9EF1EC6E5058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C389-41F2-476C-92A2-A7256492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124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ABFB-9987-4DA5-8B9B-9EF1EC6E5058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C389-41F2-476C-92A2-A7256492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40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ABFB-9987-4DA5-8B9B-9EF1EC6E5058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C389-41F2-476C-92A2-A7256492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7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ABFB-9987-4DA5-8B9B-9EF1EC6E5058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C389-41F2-476C-92A2-A7256492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0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ABFB-9987-4DA5-8B9B-9EF1EC6E5058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C389-41F2-476C-92A2-A7256492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653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ABFB-9987-4DA5-8B9B-9EF1EC6E5058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C389-41F2-476C-92A2-A7256492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730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ABFB-9987-4DA5-8B9B-9EF1EC6E5058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C389-41F2-476C-92A2-A7256492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094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ABFB-9987-4DA5-8B9B-9EF1EC6E5058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C389-41F2-476C-92A2-A7256492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655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6ABFB-9987-4DA5-8B9B-9EF1EC6E5058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1C389-41F2-476C-92A2-A7256492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3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66ABFB-9987-4DA5-8B9B-9EF1EC6E5058}" type="datetimeFigureOut">
              <a:rPr lang="en-US" smtClean="0"/>
              <a:t>3/14/2025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1C389-41F2-476C-92A2-A725649284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15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IP ADDRESS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35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IP Address in </a:t>
            </a:r>
            <a:r>
              <a:rPr lang="en-US" b="1" u="sng" dirty="0" smtClean="0"/>
              <a:t>Networking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184576"/>
          </a:xfrm>
        </p:spPr>
        <p:txBody>
          <a:bodyPr>
            <a:normAutofit fontScale="85000" lnSpcReduction="10000"/>
          </a:bodyPr>
          <a:lstStyle/>
          <a:p>
            <a:pPr algn="just" fontAlgn="base">
              <a:lnSpc>
                <a:spcPct val="160000"/>
              </a:lnSpc>
            </a:pPr>
            <a:r>
              <a:rPr lang="en-US" dirty="0"/>
              <a:t>IP Address is short for </a:t>
            </a:r>
            <a:r>
              <a:rPr lang="en-US" b="1" dirty="0"/>
              <a:t>Internet Protocol Address</a:t>
            </a:r>
            <a:r>
              <a:rPr lang="en-US" dirty="0"/>
              <a:t>.</a:t>
            </a:r>
          </a:p>
          <a:p>
            <a:pPr algn="just" fontAlgn="base">
              <a:lnSpc>
                <a:spcPct val="160000"/>
              </a:lnSpc>
            </a:pPr>
            <a:r>
              <a:rPr lang="en-US" dirty="0"/>
              <a:t>It is a unique address assigned to each computing device in an IP network.</a:t>
            </a:r>
          </a:p>
          <a:p>
            <a:pPr algn="just" fontAlgn="base">
              <a:lnSpc>
                <a:spcPct val="160000"/>
              </a:lnSpc>
            </a:pPr>
            <a:r>
              <a:rPr lang="en-US" dirty="0"/>
              <a:t>ISP assigns IP Address to all the devices present on its network.</a:t>
            </a:r>
          </a:p>
          <a:p>
            <a:pPr algn="just" fontAlgn="base">
              <a:lnSpc>
                <a:spcPct val="160000"/>
              </a:lnSpc>
            </a:pPr>
            <a:r>
              <a:rPr lang="en-US" dirty="0"/>
              <a:t>Computing devices use IP Address to identify and communicate with other devices in the IP network.</a:t>
            </a:r>
          </a:p>
          <a:p>
            <a:pPr algn="just">
              <a:lnSpc>
                <a:spcPct val="16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34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b="1" dirty="0"/>
              <a:t>Dotted decimal notation</a:t>
            </a:r>
            <a:endParaRPr lang="en-US" dirty="0"/>
          </a:p>
          <a:p>
            <a:pPr lvl="1" algn="just">
              <a:lnSpc>
                <a:spcPct val="150000"/>
              </a:lnSpc>
            </a:pPr>
            <a:r>
              <a:rPr lang="en-US" dirty="0"/>
              <a:t>Dotted decimal notation is a method of writing the 32 bit IP address in terms of 8 bit numbers separated by decimal point. The general form is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dirty="0" smtClean="0"/>
              <a:t>            </a:t>
            </a:r>
            <a:r>
              <a:rPr lang="en-US" dirty="0" smtClean="0">
                <a:solidFill>
                  <a:schemeClr val="tx2"/>
                </a:solidFill>
              </a:rPr>
              <a:t>Valuel.VaIue2.Value3.Value4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>
                <a:solidFill>
                  <a:schemeClr val="tx2"/>
                </a:solidFill>
              </a:rPr>
              <a:t>                           192.168.25.1    </a:t>
            </a:r>
            <a:endParaRPr lang="en-US" dirty="0">
              <a:solidFill>
                <a:schemeClr val="tx2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dirty="0" smtClean="0"/>
              <a:t>In </a:t>
            </a:r>
            <a:r>
              <a:rPr lang="en-US" dirty="0"/>
              <a:t>this each value is represented by decimal numbers 0 to 255. These numbers are called </a:t>
            </a:r>
            <a:r>
              <a:rPr lang="en-US" b="1" dirty="0"/>
              <a:t>octets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201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Types Of IP Address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47" y="2060848"/>
            <a:ext cx="8011616" cy="34563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5382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Types Of IP </a:t>
            </a:r>
            <a:r>
              <a:rPr lang="en-US" b="1" u="sng" dirty="0" smtClean="0"/>
              <a:t>Address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4925144"/>
          </a:xfrm>
        </p:spPr>
        <p:txBody>
          <a:bodyPr>
            <a:noAutofit/>
          </a:bodyPr>
          <a:lstStyle/>
          <a:p>
            <a:pPr algn="just" fontAlgn="base">
              <a:lnSpc>
                <a:spcPct val="160000"/>
              </a:lnSpc>
            </a:pPr>
            <a:r>
              <a:rPr lang="en-US" sz="2400" dirty="0"/>
              <a:t>Static IP </a:t>
            </a:r>
            <a:r>
              <a:rPr lang="en-US" sz="2400" dirty="0" smtClean="0"/>
              <a:t>Address</a:t>
            </a:r>
          </a:p>
          <a:p>
            <a:pPr lvl="1" algn="just" fontAlgn="base">
              <a:lnSpc>
                <a:spcPct val="160000"/>
              </a:lnSpc>
            </a:pPr>
            <a:r>
              <a:rPr lang="en-US" sz="1800" dirty="0"/>
              <a:t>Static IP Address is an IP Address that once assigned to a network element always remains the same.</a:t>
            </a:r>
          </a:p>
          <a:p>
            <a:pPr lvl="1" algn="just" fontAlgn="base">
              <a:lnSpc>
                <a:spcPct val="160000"/>
              </a:lnSpc>
            </a:pPr>
            <a:r>
              <a:rPr lang="en-US" sz="1800" dirty="0"/>
              <a:t>They are configured manually</a:t>
            </a:r>
            <a:r>
              <a:rPr lang="en-US" sz="1800" dirty="0" smtClean="0"/>
              <a:t>.</a:t>
            </a:r>
            <a:endParaRPr lang="en-US" sz="1800" dirty="0"/>
          </a:p>
          <a:p>
            <a:pPr algn="just" fontAlgn="base">
              <a:lnSpc>
                <a:spcPct val="160000"/>
              </a:lnSpc>
            </a:pPr>
            <a:r>
              <a:rPr lang="en-US" sz="2400" dirty="0"/>
              <a:t>Dynamic IP </a:t>
            </a:r>
            <a:r>
              <a:rPr lang="en-US" sz="2400" dirty="0" smtClean="0"/>
              <a:t>Address</a:t>
            </a:r>
          </a:p>
          <a:p>
            <a:pPr lvl="1" algn="just" fontAlgn="base">
              <a:lnSpc>
                <a:spcPct val="160000"/>
              </a:lnSpc>
            </a:pPr>
            <a:r>
              <a:rPr lang="en-US" sz="1800" dirty="0"/>
              <a:t>Dynamic IP Address is a temporarily assigned IP Address to a network element.</a:t>
            </a:r>
          </a:p>
          <a:p>
            <a:pPr lvl="1" algn="just" fontAlgn="base">
              <a:lnSpc>
                <a:spcPct val="160000"/>
              </a:lnSpc>
            </a:pPr>
            <a:r>
              <a:rPr lang="en-US" sz="1800" dirty="0"/>
              <a:t>It can be assigned to a different device if it is not in use.</a:t>
            </a:r>
          </a:p>
          <a:p>
            <a:pPr lvl="1" algn="just" fontAlgn="base">
              <a:lnSpc>
                <a:spcPct val="160000"/>
              </a:lnSpc>
            </a:pPr>
            <a:r>
              <a:rPr lang="en-US" sz="1800" dirty="0"/>
              <a:t>DHCP or </a:t>
            </a:r>
            <a:r>
              <a:rPr lang="en-US" sz="1800" dirty="0" err="1"/>
              <a:t>PPPoE</a:t>
            </a:r>
            <a:r>
              <a:rPr lang="en-US" sz="1800" dirty="0"/>
              <a:t> assigns dynamic IP addresses.</a:t>
            </a:r>
          </a:p>
          <a:p>
            <a:pPr algn="just" fontAlgn="base">
              <a:lnSpc>
                <a:spcPct val="160000"/>
              </a:lnSpc>
            </a:pPr>
            <a:endParaRPr lang="en-US" sz="2400" dirty="0"/>
          </a:p>
          <a:p>
            <a:pPr algn="just">
              <a:lnSpc>
                <a:spcPct val="160000"/>
              </a:lnSpc>
            </a:pPr>
            <a:r>
              <a:rPr lang="en-US" sz="2400" dirty="0" smtClean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62530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99392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 smtClean="0"/>
              <a:t>IP Address 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544616"/>
          </a:xfrm>
        </p:spPr>
        <p:txBody>
          <a:bodyPr>
            <a:noAutofit/>
          </a:bodyPr>
          <a:lstStyle/>
          <a:p>
            <a:pPr fontAlgn="base"/>
            <a:r>
              <a:rPr lang="en-US" sz="2400" dirty="0"/>
              <a:t> </a:t>
            </a:r>
            <a:r>
              <a:rPr lang="en-US" sz="2400" dirty="0" smtClean="0"/>
              <a:t>IP </a:t>
            </a:r>
            <a:r>
              <a:rPr lang="en-US" sz="2400" dirty="0"/>
              <a:t>Address is a 32 bit binary address written as 4 numbers separated by dots.</a:t>
            </a:r>
          </a:p>
          <a:p>
            <a:pPr fontAlgn="base"/>
            <a:r>
              <a:rPr lang="en-US" sz="2400" dirty="0"/>
              <a:t>The 4 numbers are called as </a:t>
            </a:r>
            <a:r>
              <a:rPr lang="en-US" sz="2400" b="1" dirty="0"/>
              <a:t>octets</a:t>
            </a:r>
            <a:r>
              <a:rPr lang="en-US" sz="2400" dirty="0"/>
              <a:t> where each octet has 8 bits.</a:t>
            </a:r>
          </a:p>
          <a:p>
            <a:pPr fontAlgn="base"/>
            <a:r>
              <a:rPr lang="en-US" sz="2400" dirty="0"/>
              <a:t>The octets are divided into 2 components- </a:t>
            </a:r>
            <a:r>
              <a:rPr lang="en-US" sz="2400" dirty="0">
                <a:solidFill>
                  <a:srgbClr val="C00000"/>
                </a:solidFill>
              </a:rPr>
              <a:t>Net ID and Host </a:t>
            </a:r>
            <a:r>
              <a:rPr lang="en-US" sz="2400" dirty="0" smtClean="0">
                <a:solidFill>
                  <a:srgbClr val="C00000"/>
                </a:solidFill>
              </a:rPr>
              <a:t>ID</a:t>
            </a:r>
            <a:r>
              <a:rPr lang="en-US" sz="2400" dirty="0" smtClean="0"/>
              <a:t>.</a:t>
            </a:r>
          </a:p>
          <a:p>
            <a:pPr fontAlgn="base"/>
            <a:endParaRPr lang="en-US" sz="2400" b="1" dirty="0"/>
          </a:p>
          <a:p>
            <a:pPr fontAlgn="base"/>
            <a:endParaRPr lang="en-US" sz="2400" b="1" dirty="0" smtClean="0"/>
          </a:p>
          <a:p>
            <a:pPr fontAlgn="base"/>
            <a:endParaRPr lang="en-US" sz="2400" b="1" dirty="0"/>
          </a:p>
          <a:p>
            <a:pPr fontAlgn="base"/>
            <a:endParaRPr lang="en-US" sz="2400" b="1" dirty="0" smtClean="0"/>
          </a:p>
          <a:p>
            <a:pPr fontAlgn="base"/>
            <a:r>
              <a:rPr lang="en-US" sz="2400" b="1" dirty="0" smtClean="0">
                <a:solidFill>
                  <a:srgbClr val="C00000"/>
                </a:solidFill>
              </a:rPr>
              <a:t>Network </a:t>
            </a:r>
            <a:r>
              <a:rPr lang="en-US" sz="2400" b="1" dirty="0">
                <a:solidFill>
                  <a:srgbClr val="C00000"/>
                </a:solidFill>
              </a:rPr>
              <a:t>ID</a:t>
            </a:r>
            <a:r>
              <a:rPr lang="en-US" sz="2400" dirty="0"/>
              <a:t> represents the IP Address of the network and is used to identify the network.</a:t>
            </a:r>
          </a:p>
          <a:p>
            <a:pPr fontAlgn="base"/>
            <a:r>
              <a:rPr lang="en-US" sz="2400" b="1" dirty="0">
                <a:solidFill>
                  <a:srgbClr val="C00000"/>
                </a:solidFill>
              </a:rPr>
              <a:t>Host ID</a:t>
            </a:r>
            <a:r>
              <a:rPr lang="en-US" sz="2400" dirty="0"/>
              <a:t> represents the IP Address of the host and is used to identify the host within the network.</a:t>
            </a:r>
          </a:p>
          <a:p>
            <a:pPr marL="0" indent="0" fontAlgn="base">
              <a:buNone/>
            </a:pPr>
            <a:r>
              <a:rPr lang="en-US" sz="2400" dirty="0"/>
              <a:t> </a:t>
            </a:r>
          </a:p>
          <a:p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7513" y="3291061"/>
            <a:ext cx="322897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3783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IP Address </a:t>
            </a:r>
            <a:r>
              <a:rPr lang="en-US" b="1" u="sng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smtClean="0"/>
              <a:t>       00000001.10100000.00001010.11110000</a:t>
            </a:r>
            <a:endParaRPr lang="en-US" dirty="0"/>
          </a:p>
          <a:p>
            <a:pPr marL="0" indent="0" fontAlgn="base">
              <a:buNone/>
            </a:pPr>
            <a:r>
              <a:rPr lang="en-US" dirty="0" smtClean="0"/>
              <a:t>                 (</a:t>
            </a:r>
            <a:r>
              <a:rPr lang="en-US" dirty="0"/>
              <a:t>Binary Representation)</a:t>
            </a:r>
          </a:p>
          <a:p>
            <a:pPr marL="0" indent="0" fontAlgn="base">
              <a:buNone/>
            </a:pPr>
            <a:r>
              <a:rPr lang="en-US" b="1" dirty="0" smtClean="0"/>
              <a:t>                                   OR</a:t>
            </a:r>
            <a:endParaRPr lang="en-US" dirty="0"/>
          </a:p>
          <a:p>
            <a:pPr marL="0" indent="0" fontAlgn="base">
              <a:buNone/>
            </a:pPr>
            <a:r>
              <a:rPr lang="en-US" dirty="0" smtClean="0"/>
              <a:t>                             1.160.10.240</a:t>
            </a:r>
            <a:endParaRPr lang="en-US" dirty="0"/>
          </a:p>
          <a:p>
            <a:pPr marL="0" indent="0" fontAlgn="base">
              <a:buNone/>
            </a:pPr>
            <a:r>
              <a:rPr lang="en-US" dirty="0" smtClean="0"/>
              <a:t>                  (</a:t>
            </a:r>
            <a:r>
              <a:rPr lang="en-US" dirty="0"/>
              <a:t>Decimal Representation)</a:t>
            </a:r>
          </a:p>
          <a:p>
            <a:pPr fontAlgn="base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487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systems in which IP Addresses are </a:t>
            </a:r>
            <a:r>
              <a:rPr lang="en-US" dirty="0" smtClean="0"/>
              <a:t>classified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99" y="2780929"/>
            <a:ext cx="7411509" cy="352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1605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rmAutofit fontScale="85000" lnSpcReduction="20000"/>
          </a:bodyPr>
          <a:lstStyle/>
          <a:p>
            <a:pPr fontAlgn="base"/>
            <a:r>
              <a:rPr lang="en-US" b="1" u="sng" dirty="0"/>
              <a:t>Classful </a:t>
            </a:r>
            <a:r>
              <a:rPr lang="en-US" b="1" u="sng" dirty="0" smtClean="0"/>
              <a:t>Addressing</a:t>
            </a:r>
          </a:p>
          <a:p>
            <a:pPr fontAlgn="base"/>
            <a:r>
              <a:rPr lang="en-US" dirty="0" smtClean="0"/>
              <a:t>In </a:t>
            </a:r>
            <a:r>
              <a:rPr lang="en-US" dirty="0"/>
              <a:t>Classful Addressing System, IP Addresses are organized into following 5 </a:t>
            </a:r>
            <a:r>
              <a:rPr lang="en-US" dirty="0" smtClean="0"/>
              <a:t>classes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  <a:endParaRPr lang="en-US" dirty="0" smtClean="0"/>
          </a:p>
          <a:p>
            <a:pPr marL="0" indent="0" fontAlgn="base">
              <a:buNone/>
            </a:pPr>
            <a:endParaRPr lang="en-US" dirty="0"/>
          </a:p>
          <a:p>
            <a:pPr fontAlgn="base"/>
            <a:endParaRPr lang="en-US" dirty="0" smtClean="0"/>
          </a:p>
          <a:p>
            <a:pPr fontAlgn="base"/>
            <a:endParaRPr lang="en-US" dirty="0"/>
          </a:p>
          <a:p>
            <a:pPr fontAlgn="base"/>
            <a:r>
              <a:rPr lang="en-US" dirty="0" smtClean="0"/>
              <a:t>Class A              00000001 </a:t>
            </a:r>
            <a:r>
              <a:rPr lang="en-US" dirty="0"/>
              <a:t>to 01111111 i.e., 1 to 127.</a:t>
            </a:r>
          </a:p>
          <a:p>
            <a:pPr fontAlgn="base"/>
            <a:r>
              <a:rPr lang="en-US" dirty="0" smtClean="0"/>
              <a:t>Class B            10000000 </a:t>
            </a:r>
            <a:r>
              <a:rPr lang="en-US" dirty="0"/>
              <a:t>to 10111111 i.e. 128 to 191</a:t>
            </a:r>
            <a:r>
              <a:rPr lang="en-US" dirty="0" smtClean="0"/>
              <a:t>.</a:t>
            </a:r>
            <a:endParaRPr lang="en-US" dirty="0"/>
          </a:p>
          <a:p>
            <a:pPr fontAlgn="base"/>
            <a:r>
              <a:rPr lang="en-US" dirty="0"/>
              <a:t>Class </a:t>
            </a:r>
            <a:r>
              <a:rPr lang="en-US" dirty="0" smtClean="0"/>
              <a:t>C            11000000 </a:t>
            </a:r>
            <a:r>
              <a:rPr lang="en-US" dirty="0"/>
              <a:t>to 11011111 i.e. 192 to 223.</a:t>
            </a:r>
          </a:p>
          <a:p>
            <a:pPr fontAlgn="base"/>
            <a:r>
              <a:rPr lang="en-US" dirty="0"/>
              <a:t>Class </a:t>
            </a:r>
            <a:r>
              <a:rPr lang="en-US" dirty="0" smtClean="0"/>
              <a:t>D            11100000 </a:t>
            </a:r>
            <a:r>
              <a:rPr lang="en-US" dirty="0"/>
              <a:t>to 11101111 i.e. 224 to 239.</a:t>
            </a:r>
          </a:p>
          <a:p>
            <a:pPr fontAlgn="base"/>
            <a:r>
              <a:rPr lang="en-US" dirty="0"/>
              <a:t>Class </a:t>
            </a:r>
            <a:r>
              <a:rPr lang="en-US" dirty="0" smtClean="0"/>
              <a:t>E             11110000 </a:t>
            </a:r>
            <a:r>
              <a:rPr lang="en-US" dirty="0"/>
              <a:t>to 11111111  i.e. 240 to 255.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916832"/>
            <a:ext cx="6325626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7113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dirty="0" smtClean="0"/>
              <a:t>A </a:t>
            </a:r>
          </a:p>
          <a:p>
            <a:r>
              <a:rPr lang="en-US" dirty="0" smtClean="0"/>
              <a:t>If </a:t>
            </a:r>
            <a:r>
              <a:rPr lang="en-US" dirty="0"/>
              <a:t>the 32 bit binary address starts with a bit 0, then IP Address belongs to class A.</a:t>
            </a:r>
          </a:p>
          <a:p>
            <a:r>
              <a:rPr lang="en-US" dirty="0" smtClean="0"/>
              <a:t>In </a:t>
            </a:r>
            <a:r>
              <a:rPr lang="en-US" dirty="0"/>
              <a:t>class A IP Address,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The first 8 bits are used for the Network ID.</a:t>
            </a:r>
          </a:p>
          <a:p>
            <a:r>
              <a:rPr lang="en-US" dirty="0"/>
              <a:t>The remaining 24 bits are used for the Host ID.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708920"/>
            <a:ext cx="6840759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343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332656"/>
            <a:ext cx="8784976" cy="6525344"/>
          </a:xfrm>
        </p:spPr>
        <p:txBody>
          <a:bodyPr numCol="2">
            <a:noAutofit/>
          </a:bodyPr>
          <a:lstStyle/>
          <a:p>
            <a:pPr fontAlgn="base"/>
            <a:r>
              <a:rPr lang="en-US" sz="1800" b="1" u="sng" dirty="0"/>
              <a:t>Total Number Of IP </a:t>
            </a:r>
            <a:r>
              <a:rPr lang="en-US" sz="1800" b="1" u="sng" dirty="0" smtClean="0"/>
              <a:t>Addresses-</a:t>
            </a:r>
            <a:endParaRPr lang="en-US" sz="1800" dirty="0"/>
          </a:p>
          <a:p>
            <a:pPr lvl="1" fontAlgn="base"/>
            <a:r>
              <a:rPr lang="en-US" sz="1800" dirty="0"/>
              <a:t>Total number of IP Addresses available in class A</a:t>
            </a:r>
          </a:p>
          <a:p>
            <a:pPr lvl="1" fontAlgn="base"/>
            <a:r>
              <a:rPr lang="en-US" sz="1800" dirty="0" smtClean="0"/>
              <a:t>Numbers </a:t>
            </a:r>
            <a:r>
              <a:rPr lang="en-US" sz="1800" dirty="0"/>
              <a:t>possible due to remaining available 31 </a:t>
            </a:r>
            <a:r>
              <a:rPr lang="en-US" sz="1800" dirty="0" smtClean="0"/>
              <a:t>bits= 2</a:t>
            </a:r>
            <a:r>
              <a:rPr lang="en-US" sz="1800" baseline="30000" dirty="0" smtClean="0"/>
              <a:t>31</a:t>
            </a:r>
            <a:endParaRPr lang="en-US" sz="1800" dirty="0"/>
          </a:p>
          <a:p>
            <a:pPr fontAlgn="base"/>
            <a:r>
              <a:rPr lang="en-US" sz="1800" b="1" u="sng" dirty="0"/>
              <a:t>Total Number Of </a:t>
            </a:r>
            <a:r>
              <a:rPr lang="en-US" sz="1800" b="1" u="sng" dirty="0" smtClean="0"/>
              <a:t>Networks-</a:t>
            </a:r>
            <a:endParaRPr lang="en-US" sz="1800" dirty="0"/>
          </a:p>
          <a:p>
            <a:pPr lvl="1" fontAlgn="base"/>
            <a:r>
              <a:rPr lang="en-US" sz="1800" dirty="0"/>
              <a:t>Total number of networks available in class A</a:t>
            </a:r>
          </a:p>
          <a:p>
            <a:pPr lvl="1" fontAlgn="base"/>
            <a:r>
              <a:rPr lang="en-US" sz="1800" dirty="0" smtClean="0"/>
              <a:t>Numbers </a:t>
            </a:r>
            <a:r>
              <a:rPr lang="en-US" sz="1800" dirty="0"/>
              <a:t>possible due to remaining available 7 bits in the Net ID – 2</a:t>
            </a:r>
          </a:p>
          <a:p>
            <a:pPr lvl="1" fontAlgn="base"/>
            <a:r>
              <a:rPr lang="en-US" sz="1800" dirty="0"/>
              <a:t>= 2</a:t>
            </a:r>
            <a:r>
              <a:rPr lang="en-US" sz="1800" baseline="30000" dirty="0"/>
              <a:t>7</a:t>
            </a:r>
            <a:r>
              <a:rPr lang="en-US" sz="1800" dirty="0"/>
              <a:t> – 2</a:t>
            </a:r>
          </a:p>
          <a:p>
            <a:pPr lvl="1" fontAlgn="base"/>
            <a:r>
              <a:rPr lang="en-US" sz="1800" dirty="0"/>
              <a:t>= </a:t>
            </a:r>
            <a:r>
              <a:rPr lang="en-US" sz="1800" dirty="0" smtClean="0"/>
              <a:t>126</a:t>
            </a:r>
            <a:endParaRPr lang="en-US" sz="1800" dirty="0"/>
          </a:p>
          <a:p>
            <a:pPr fontAlgn="base"/>
            <a:r>
              <a:rPr lang="en-US" sz="1800" b="1" u="sng" dirty="0"/>
              <a:t>Total Number Of </a:t>
            </a:r>
            <a:r>
              <a:rPr lang="en-US" sz="1800" b="1" u="sng" dirty="0" smtClean="0"/>
              <a:t>Hosts-</a:t>
            </a:r>
            <a:endParaRPr lang="en-US" sz="1800" dirty="0"/>
          </a:p>
          <a:p>
            <a:pPr lvl="1" fontAlgn="base"/>
            <a:r>
              <a:rPr lang="en-US" sz="1800" dirty="0"/>
              <a:t>Total number of hosts that can be configured in class A</a:t>
            </a:r>
          </a:p>
          <a:p>
            <a:pPr lvl="1" fontAlgn="base"/>
            <a:r>
              <a:rPr lang="en-US" sz="1800" dirty="0"/>
              <a:t>= Numbers possible due to available 24 bits in the Host ID – 2</a:t>
            </a:r>
          </a:p>
          <a:p>
            <a:pPr lvl="1" fontAlgn="base"/>
            <a:r>
              <a:rPr lang="en-US" sz="1800" dirty="0"/>
              <a:t>= 2</a:t>
            </a:r>
            <a:r>
              <a:rPr lang="en-US" sz="1800" baseline="30000" dirty="0"/>
              <a:t>24</a:t>
            </a:r>
            <a:r>
              <a:rPr lang="en-US" sz="1800" dirty="0"/>
              <a:t> – </a:t>
            </a:r>
            <a:r>
              <a:rPr lang="en-US" sz="1800" dirty="0" smtClean="0"/>
              <a:t>2</a:t>
            </a:r>
            <a:endParaRPr lang="en-US" sz="1800" dirty="0"/>
          </a:p>
          <a:p>
            <a:pPr fontAlgn="base"/>
            <a:endParaRPr lang="en-US" sz="1800" b="1" u="sng" dirty="0" smtClean="0"/>
          </a:p>
          <a:p>
            <a:pPr fontAlgn="base"/>
            <a:endParaRPr lang="en-US" sz="1800" b="1" u="sng" dirty="0"/>
          </a:p>
          <a:p>
            <a:pPr marL="0" indent="0" fontAlgn="base">
              <a:buNone/>
            </a:pPr>
            <a:endParaRPr lang="en-US" sz="1800" b="1" u="sng" dirty="0" smtClean="0"/>
          </a:p>
          <a:p>
            <a:pPr fontAlgn="base"/>
            <a:r>
              <a:rPr lang="en-US" sz="1800" b="1" u="sng" dirty="0" smtClean="0"/>
              <a:t>Range </a:t>
            </a:r>
            <a:r>
              <a:rPr lang="en-US" sz="1800" b="1" u="sng" dirty="0"/>
              <a:t>Of 1st </a:t>
            </a:r>
            <a:r>
              <a:rPr lang="en-US" sz="1800" b="1" u="sng" dirty="0" smtClean="0"/>
              <a:t>Octet-</a:t>
            </a:r>
            <a:endParaRPr lang="en-US" sz="1800" dirty="0"/>
          </a:p>
          <a:p>
            <a:pPr lvl="1" fontAlgn="base"/>
            <a:r>
              <a:rPr lang="en-US" sz="1800" dirty="0"/>
              <a:t>We have-</a:t>
            </a:r>
          </a:p>
          <a:p>
            <a:pPr lvl="1" fontAlgn="base"/>
            <a:r>
              <a:rPr lang="en-US" sz="1800" dirty="0"/>
              <a:t>Minimum value of 1st octet = </a:t>
            </a:r>
            <a:r>
              <a:rPr lang="en-US" sz="1800" b="1" dirty="0"/>
              <a:t>0</a:t>
            </a:r>
            <a:r>
              <a:rPr lang="en-US" sz="1800" dirty="0"/>
              <a:t>0000000 = 0</a:t>
            </a:r>
          </a:p>
          <a:p>
            <a:pPr lvl="1" fontAlgn="base"/>
            <a:r>
              <a:rPr lang="en-US" sz="1800" dirty="0"/>
              <a:t>Maximum value of 1st octet = </a:t>
            </a:r>
            <a:r>
              <a:rPr lang="en-US" sz="1800" b="1" dirty="0"/>
              <a:t>0</a:t>
            </a:r>
            <a:r>
              <a:rPr lang="en-US" sz="1800" dirty="0"/>
              <a:t>1111111 = </a:t>
            </a:r>
            <a:r>
              <a:rPr lang="en-US" sz="1800" dirty="0" smtClean="0"/>
              <a:t>127</a:t>
            </a:r>
            <a:r>
              <a:rPr lang="en-US" sz="1800" dirty="0"/>
              <a:t> </a:t>
            </a:r>
          </a:p>
          <a:p>
            <a:pPr lvl="1" fontAlgn="base"/>
            <a:r>
              <a:rPr lang="en-US" sz="1800" dirty="0"/>
              <a:t>From here,</a:t>
            </a:r>
          </a:p>
          <a:p>
            <a:pPr lvl="1" fontAlgn="base"/>
            <a:r>
              <a:rPr lang="en-US" sz="1800" dirty="0"/>
              <a:t>Range of 1st octet = [0, 127]</a:t>
            </a:r>
          </a:p>
          <a:p>
            <a:pPr lvl="1" fontAlgn="base"/>
            <a:r>
              <a:rPr lang="en-US" sz="1800" dirty="0"/>
              <a:t>But 2 networks are reserved and unused.</a:t>
            </a:r>
          </a:p>
          <a:p>
            <a:pPr lvl="1" fontAlgn="base"/>
            <a:r>
              <a:rPr lang="en-US" sz="1800" dirty="0"/>
              <a:t>So, Range of 1st octet = [1, 126</a:t>
            </a:r>
            <a:r>
              <a:rPr lang="en-US" sz="1800" dirty="0" smtClean="0"/>
              <a:t>]</a:t>
            </a:r>
            <a:endParaRPr lang="en-US" sz="1800" dirty="0"/>
          </a:p>
          <a:p>
            <a:pPr fontAlgn="base"/>
            <a:r>
              <a:rPr lang="en-US" sz="1800" b="1" u="sng" dirty="0" smtClean="0"/>
              <a:t>Use-</a:t>
            </a:r>
            <a:r>
              <a:rPr lang="en-US" sz="1800" dirty="0"/>
              <a:t> </a:t>
            </a:r>
          </a:p>
          <a:p>
            <a:pPr lvl="1" fontAlgn="base"/>
            <a:r>
              <a:rPr lang="en-US" sz="1800" dirty="0"/>
              <a:t>Class A is used by organizations requiring very large size networks like NASA, Pentagon etc.</a:t>
            </a:r>
          </a:p>
          <a:p>
            <a:endParaRPr lang="en-US" sz="1800" dirty="0"/>
          </a:p>
        </p:txBody>
      </p:sp>
      <p:sp>
        <p:nvSpPr>
          <p:cNvPr id="2" name="Rectangle 1"/>
          <p:cNvSpPr/>
          <p:nvPr/>
        </p:nvSpPr>
        <p:spPr>
          <a:xfrm>
            <a:off x="4355976" y="5661248"/>
            <a:ext cx="297613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base">
              <a:lnSpc>
                <a:spcPct val="150000"/>
              </a:lnSpc>
            </a:pPr>
            <a:r>
              <a:rPr lang="en-IN" dirty="0"/>
              <a:t>2^24 – 2 = </a:t>
            </a:r>
            <a:r>
              <a:rPr lang="en-IN" dirty="0">
                <a:solidFill>
                  <a:srgbClr val="FF0000"/>
                </a:solidFill>
              </a:rPr>
              <a:t>16,777,214 </a:t>
            </a:r>
            <a:r>
              <a:rPr lang="en-IN" dirty="0"/>
              <a:t>host ID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3353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15416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/>
              <a:t>Class </a:t>
            </a:r>
            <a:r>
              <a:rPr lang="en-US" b="1" u="sng" dirty="0" smtClean="0"/>
              <a:t>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478539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If the 32 bit binary address starts with bits 10, then IP Address belongs to class B</a:t>
            </a:r>
            <a:r>
              <a:rPr lang="en-US" dirty="0" smtClean="0"/>
              <a:t>.</a:t>
            </a:r>
          </a:p>
          <a:p>
            <a:pPr algn="just" fontAlgn="base">
              <a:lnSpc>
                <a:spcPct val="150000"/>
              </a:lnSpc>
            </a:pPr>
            <a:r>
              <a:rPr lang="en-US" dirty="0"/>
              <a:t>In class B IP Address,</a:t>
            </a:r>
          </a:p>
          <a:p>
            <a:pPr algn="just" fontAlgn="base">
              <a:lnSpc>
                <a:spcPct val="150000"/>
              </a:lnSpc>
            </a:pPr>
            <a:r>
              <a:rPr lang="en-US" dirty="0"/>
              <a:t>The first 16 bits are used for the Network ID.</a:t>
            </a:r>
          </a:p>
          <a:p>
            <a:pPr algn="just" fontAlgn="base">
              <a:lnSpc>
                <a:spcPct val="150000"/>
              </a:lnSpc>
            </a:pPr>
            <a:r>
              <a:rPr lang="en-US" dirty="0"/>
              <a:t>The remaining 16 bits are used for the Host ID.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581128"/>
            <a:ext cx="6840759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7753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260648"/>
            <a:ext cx="8784976" cy="5865515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en-US" sz="1800" b="1" u="sng" dirty="0"/>
              <a:t>Total Number Of IP </a:t>
            </a:r>
            <a:r>
              <a:rPr lang="en-US" sz="1800" b="1" u="sng" dirty="0" smtClean="0"/>
              <a:t>Addresses-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/>
              <a:t>Total number of IP Addresses available in class B</a:t>
            </a:r>
          </a:p>
          <a:p>
            <a:pPr marL="0" indent="0" fontAlgn="base">
              <a:buNone/>
            </a:pPr>
            <a:r>
              <a:rPr lang="en-US" sz="1800" dirty="0"/>
              <a:t>= Numbers possible due to remaining available 30 bits</a:t>
            </a:r>
          </a:p>
          <a:p>
            <a:pPr marL="0" indent="0" fontAlgn="base">
              <a:buNone/>
            </a:pPr>
            <a:r>
              <a:rPr lang="en-US" sz="1800" dirty="0"/>
              <a:t>= </a:t>
            </a:r>
            <a:r>
              <a:rPr lang="en-US" sz="1800" dirty="0" smtClean="0"/>
              <a:t>2</a:t>
            </a:r>
            <a:r>
              <a:rPr lang="en-US" sz="1800" baseline="30000" dirty="0" smtClean="0"/>
              <a:t>30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b="1" u="sng" dirty="0"/>
              <a:t>Total Number Of </a:t>
            </a:r>
            <a:r>
              <a:rPr lang="en-US" sz="1800" b="1" u="sng" dirty="0" smtClean="0"/>
              <a:t>Networks-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/>
              <a:t>Total number of networks available in class B</a:t>
            </a:r>
          </a:p>
          <a:p>
            <a:pPr marL="0" indent="0" fontAlgn="base">
              <a:buNone/>
            </a:pPr>
            <a:r>
              <a:rPr lang="en-US" sz="1800" dirty="0"/>
              <a:t>= Numbers possible due to remaining available 14 bits in the Net ID</a:t>
            </a:r>
          </a:p>
          <a:p>
            <a:pPr marL="0" indent="0" fontAlgn="base">
              <a:buNone/>
            </a:pPr>
            <a:r>
              <a:rPr lang="en-US" sz="1800" dirty="0"/>
              <a:t>= </a:t>
            </a:r>
            <a:r>
              <a:rPr lang="en-US" sz="1800" dirty="0" smtClean="0"/>
              <a:t>2</a:t>
            </a:r>
            <a:r>
              <a:rPr lang="en-US" sz="1800" baseline="30000" dirty="0" smtClean="0"/>
              <a:t>14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b="1" u="sng" dirty="0"/>
              <a:t>Total Number Of </a:t>
            </a:r>
            <a:r>
              <a:rPr lang="en-US" sz="1800" b="1" u="sng" dirty="0" smtClean="0"/>
              <a:t>Hosts-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/>
              <a:t>Total number of hosts that can be configured in class B</a:t>
            </a:r>
          </a:p>
          <a:p>
            <a:pPr marL="0" indent="0" fontAlgn="base">
              <a:buNone/>
            </a:pPr>
            <a:r>
              <a:rPr lang="en-US" sz="1800" dirty="0"/>
              <a:t>= Numbers possible due to available 16 bits in the Host ID – 2</a:t>
            </a:r>
          </a:p>
          <a:p>
            <a:pPr marL="0" indent="0" fontAlgn="base">
              <a:buNone/>
            </a:pPr>
            <a:r>
              <a:rPr lang="en-US" sz="1800" dirty="0"/>
              <a:t>= 2</a:t>
            </a:r>
            <a:r>
              <a:rPr lang="en-US" sz="1800" baseline="30000" dirty="0"/>
              <a:t>16</a:t>
            </a:r>
            <a:r>
              <a:rPr lang="en-US" sz="1800" dirty="0"/>
              <a:t> – </a:t>
            </a:r>
            <a:r>
              <a:rPr lang="en-US" sz="1800" dirty="0" smtClean="0"/>
              <a:t>2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b="1" u="sng" dirty="0"/>
              <a:t>Range Of 1st </a:t>
            </a:r>
            <a:r>
              <a:rPr lang="en-US" sz="1800" b="1" u="sng" dirty="0" smtClean="0"/>
              <a:t>Octet-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/>
              <a:t>We have-</a:t>
            </a:r>
          </a:p>
          <a:p>
            <a:pPr marL="0" indent="0" fontAlgn="base">
              <a:buNone/>
            </a:pPr>
            <a:r>
              <a:rPr lang="en-US" sz="1800" dirty="0"/>
              <a:t>Minimum value of 1st octet = </a:t>
            </a:r>
            <a:r>
              <a:rPr lang="en-US" sz="1800" b="1" dirty="0"/>
              <a:t>10</a:t>
            </a:r>
            <a:r>
              <a:rPr lang="en-US" sz="1800" dirty="0"/>
              <a:t>000000 = 128</a:t>
            </a:r>
          </a:p>
          <a:p>
            <a:pPr marL="0" indent="0" fontAlgn="base">
              <a:buNone/>
            </a:pPr>
            <a:r>
              <a:rPr lang="en-US" sz="1800" dirty="0"/>
              <a:t>Maximum value of 1st octet = </a:t>
            </a:r>
            <a:r>
              <a:rPr lang="en-US" sz="1800" b="1" dirty="0"/>
              <a:t>10</a:t>
            </a:r>
            <a:r>
              <a:rPr lang="en-US" sz="1800" dirty="0"/>
              <a:t>111111 = </a:t>
            </a:r>
            <a:r>
              <a:rPr lang="en-US" sz="1800" dirty="0" smtClean="0"/>
              <a:t>191</a:t>
            </a:r>
            <a:endParaRPr lang="en-US" sz="1800" dirty="0"/>
          </a:p>
          <a:p>
            <a:pPr marL="0" indent="0" fontAlgn="base">
              <a:buNone/>
            </a:pPr>
            <a:r>
              <a:rPr lang="en-US" sz="1800" dirty="0"/>
              <a:t>So, Range of 1st octet = [128, 191</a:t>
            </a:r>
            <a:r>
              <a:rPr lang="en-US" sz="1800" dirty="0" smtClean="0"/>
              <a:t>]</a:t>
            </a:r>
            <a:endParaRPr lang="en-US" sz="1800" dirty="0"/>
          </a:p>
          <a:p>
            <a:pPr fontAlgn="base"/>
            <a:r>
              <a:rPr lang="en-US" sz="1800" b="1" u="sng" dirty="0" smtClean="0"/>
              <a:t>Use-</a:t>
            </a:r>
            <a:r>
              <a:rPr lang="en-US" sz="1800" dirty="0"/>
              <a:t> </a:t>
            </a:r>
          </a:p>
          <a:p>
            <a:pPr marL="0" indent="0" fontAlgn="base">
              <a:buNone/>
            </a:pPr>
            <a:r>
              <a:rPr lang="en-US" sz="1800" dirty="0" smtClean="0"/>
              <a:t>Class </a:t>
            </a:r>
            <a:r>
              <a:rPr lang="en-US" sz="1800" dirty="0"/>
              <a:t>B is used by organizations requiring medium size networks like IRCTC, banks etc.</a:t>
            </a:r>
          </a:p>
          <a:p>
            <a:pPr marL="0" indent="0">
              <a:buNone/>
            </a:pPr>
            <a:r>
              <a:rPr lang="en-US" sz="1800" dirty="0"/>
              <a:t/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2" name="Rectangle 1"/>
          <p:cNvSpPr/>
          <p:nvPr/>
        </p:nvSpPr>
        <p:spPr>
          <a:xfrm>
            <a:off x="4499992" y="2996952"/>
            <a:ext cx="46440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1700" lvl="1" indent="0" fontAlgn="base">
              <a:buNone/>
            </a:pPr>
            <a:r>
              <a:rPr lang="en-IN" sz="3600" dirty="0"/>
              <a:t>2^14 = </a:t>
            </a:r>
            <a:r>
              <a:rPr lang="en-IN" sz="3600" dirty="0">
                <a:solidFill>
                  <a:srgbClr val="FF0000"/>
                </a:solidFill>
              </a:rPr>
              <a:t>16384 </a:t>
            </a:r>
            <a:r>
              <a:rPr lang="en-IN" sz="3600" dirty="0"/>
              <a:t>network address</a:t>
            </a:r>
          </a:p>
          <a:p>
            <a:pPr marL="901700" lvl="1" indent="0" fontAlgn="base">
              <a:buNone/>
            </a:pPr>
            <a:r>
              <a:rPr lang="en-IN" sz="3600" dirty="0"/>
              <a:t>2^16 – 2 = </a:t>
            </a:r>
            <a:r>
              <a:rPr lang="en-IN" sz="3600" dirty="0">
                <a:solidFill>
                  <a:srgbClr val="FF0000"/>
                </a:solidFill>
              </a:rPr>
              <a:t>65534</a:t>
            </a:r>
            <a:r>
              <a:rPr lang="en-IN" sz="3600" dirty="0"/>
              <a:t> host address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140748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714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u="sng" dirty="0"/>
              <a:t>Class </a:t>
            </a:r>
            <a:r>
              <a:rPr lang="en-US" b="1" u="sng" dirty="0" smtClean="0"/>
              <a:t>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4704"/>
            <a:ext cx="8229600" cy="452596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If the 32 bit binary address starts with bits 110, then IP Address belongs to class C</a:t>
            </a:r>
            <a:r>
              <a:rPr lang="en-US" dirty="0" smtClean="0"/>
              <a:t>.</a:t>
            </a:r>
          </a:p>
          <a:p>
            <a:pPr algn="just" fontAlgn="base">
              <a:lnSpc>
                <a:spcPct val="150000"/>
              </a:lnSpc>
            </a:pPr>
            <a:r>
              <a:rPr lang="en-US" dirty="0"/>
              <a:t>In class C IP Address,</a:t>
            </a:r>
          </a:p>
          <a:p>
            <a:pPr lvl="1" algn="just" fontAlgn="base">
              <a:lnSpc>
                <a:spcPct val="150000"/>
              </a:lnSpc>
            </a:pPr>
            <a:r>
              <a:rPr lang="en-US" dirty="0"/>
              <a:t>The first 24 bits are used for the Network ID.</a:t>
            </a:r>
          </a:p>
          <a:p>
            <a:pPr lvl="1" algn="just" fontAlgn="base">
              <a:lnSpc>
                <a:spcPct val="150000"/>
              </a:lnSpc>
            </a:pPr>
            <a:r>
              <a:rPr lang="en-US" dirty="0"/>
              <a:t>The remaining 8 bits are used for the Host ID.</a:t>
            </a:r>
          </a:p>
          <a:p>
            <a:pPr algn="just">
              <a:lnSpc>
                <a:spcPct val="150000"/>
              </a:lnSpc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4797152"/>
            <a:ext cx="6696743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2017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16632"/>
            <a:ext cx="8784976" cy="6624736"/>
          </a:xfrm>
        </p:spPr>
        <p:txBody>
          <a:bodyPr>
            <a:noAutofit/>
          </a:bodyPr>
          <a:lstStyle/>
          <a:p>
            <a:pPr marL="0" indent="0" algn="just" fontAlgn="base">
              <a:buNone/>
            </a:pPr>
            <a:r>
              <a:rPr lang="en-US" sz="1800" b="1" u="sng" dirty="0"/>
              <a:t>Total Number Of IP </a:t>
            </a:r>
            <a:r>
              <a:rPr lang="en-US" sz="1800" b="1" u="sng" dirty="0" smtClean="0"/>
              <a:t>Addresses-</a:t>
            </a:r>
            <a:endParaRPr lang="en-US" sz="1800" dirty="0"/>
          </a:p>
          <a:p>
            <a:pPr marL="0" indent="0" algn="just" fontAlgn="base">
              <a:buNone/>
            </a:pPr>
            <a:r>
              <a:rPr lang="en-US" sz="1800" dirty="0"/>
              <a:t>Total number of IP Addresses available in class C</a:t>
            </a:r>
          </a:p>
          <a:p>
            <a:pPr marL="0" indent="0" algn="just" fontAlgn="base">
              <a:buNone/>
            </a:pPr>
            <a:r>
              <a:rPr lang="en-US" sz="1800" dirty="0"/>
              <a:t>= Numbers possible due to remaining available 29 bits</a:t>
            </a:r>
          </a:p>
          <a:p>
            <a:pPr marL="0" indent="0" algn="just" fontAlgn="base">
              <a:buNone/>
            </a:pPr>
            <a:r>
              <a:rPr lang="en-US" sz="1800" dirty="0"/>
              <a:t>= </a:t>
            </a:r>
            <a:r>
              <a:rPr lang="en-US" sz="1800" dirty="0" smtClean="0"/>
              <a:t>2</a:t>
            </a:r>
            <a:r>
              <a:rPr lang="en-US" sz="1800" baseline="30000" dirty="0" smtClean="0"/>
              <a:t>29</a:t>
            </a:r>
            <a:endParaRPr lang="en-US" sz="1800" dirty="0"/>
          </a:p>
          <a:p>
            <a:pPr marL="0" indent="0" algn="just" fontAlgn="base">
              <a:buNone/>
            </a:pPr>
            <a:r>
              <a:rPr lang="en-US" sz="1800" b="1" u="sng" dirty="0"/>
              <a:t>Total Number Of </a:t>
            </a:r>
            <a:r>
              <a:rPr lang="en-US" sz="1800" b="1" u="sng" dirty="0" smtClean="0"/>
              <a:t>Networks-</a:t>
            </a:r>
            <a:endParaRPr lang="en-US" sz="1800" dirty="0"/>
          </a:p>
          <a:p>
            <a:pPr marL="0" indent="0" algn="just" fontAlgn="base">
              <a:buNone/>
            </a:pPr>
            <a:r>
              <a:rPr lang="en-US" sz="1800" dirty="0"/>
              <a:t>Total number of networks available in class C</a:t>
            </a:r>
          </a:p>
          <a:p>
            <a:pPr marL="0" indent="0" algn="just" fontAlgn="base">
              <a:buNone/>
            </a:pPr>
            <a:r>
              <a:rPr lang="en-US" sz="1800" dirty="0"/>
              <a:t>= Numbers possible due to remaining available 21 bits in the Net ID</a:t>
            </a:r>
          </a:p>
          <a:p>
            <a:pPr marL="0" indent="0" algn="just" fontAlgn="base">
              <a:buNone/>
            </a:pPr>
            <a:r>
              <a:rPr lang="en-US" sz="1800" dirty="0"/>
              <a:t>= </a:t>
            </a:r>
            <a:r>
              <a:rPr lang="en-US" sz="1800" dirty="0" smtClean="0"/>
              <a:t>2</a:t>
            </a:r>
            <a:r>
              <a:rPr lang="en-US" sz="1800" baseline="30000" dirty="0" smtClean="0"/>
              <a:t>21</a:t>
            </a:r>
            <a:endParaRPr lang="en-US" sz="1800" dirty="0"/>
          </a:p>
          <a:p>
            <a:pPr marL="0" indent="0" algn="just" fontAlgn="base">
              <a:buNone/>
            </a:pPr>
            <a:r>
              <a:rPr lang="en-US" sz="1800" b="1" u="sng" dirty="0"/>
              <a:t>Total Number Of </a:t>
            </a:r>
            <a:r>
              <a:rPr lang="en-US" sz="1800" b="1" u="sng" dirty="0" smtClean="0"/>
              <a:t>Hosts-</a:t>
            </a:r>
            <a:endParaRPr lang="en-US" sz="1800" dirty="0"/>
          </a:p>
          <a:p>
            <a:pPr marL="0" indent="0" algn="just" fontAlgn="base">
              <a:buNone/>
            </a:pPr>
            <a:r>
              <a:rPr lang="en-US" sz="1800" dirty="0"/>
              <a:t>Total number of hosts that can be configured in class C</a:t>
            </a:r>
          </a:p>
          <a:p>
            <a:pPr marL="0" indent="0" algn="just" fontAlgn="base">
              <a:buNone/>
            </a:pPr>
            <a:r>
              <a:rPr lang="en-US" sz="1800" dirty="0"/>
              <a:t>= Numbers possible due to available 8 bits in the Host ID – 2</a:t>
            </a:r>
          </a:p>
          <a:p>
            <a:pPr marL="0" indent="0" algn="just" fontAlgn="base">
              <a:buNone/>
            </a:pPr>
            <a:r>
              <a:rPr lang="en-US" sz="1800" dirty="0"/>
              <a:t>= 2</a:t>
            </a:r>
            <a:r>
              <a:rPr lang="en-US" sz="1800" baseline="30000" dirty="0"/>
              <a:t>8</a:t>
            </a:r>
            <a:r>
              <a:rPr lang="en-US" sz="1800" dirty="0"/>
              <a:t> – </a:t>
            </a:r>
            <a:r>
              <a:rPr lang="en-US" sz="1800" dirty="0" smtClean="0"/>
              <a:t>2</a:t>
            </a:r>
            <a:endParaRPr lang="en-US" sz="1800" dirty="0"/>
          </a:p>
          <a:p>
            <a:pPr marL="0" indent="0" algn="just" fontAlgn="base">
              <a:buNone/>
            </a:pPr>
            <a:r>
              <a:rPr lang="en-US" sz="1800" b="1" u="sng" dirty="0"/>
              <a:t>Range Of 1st </a:t>
            </a:r>
            <a:r>
              <a:rPr lang="en-US" sz="1800" b="1" u="sng" dirty="0" smtClean="0"/>
              <a:t>Octet-</a:t>
            </a:r>
            <a:endParaRPr lang="en-US" sz="1800" dirty="0"/>
          </a:p>
          <a:p>
            <a:pPr marL="0" indent="0" algn="just" fontAlgn="base">
              <a:buNone/>
            </a:pPr>
            <a:r>
              <a:rPr lang="en-US" sz="1800" dirty="0"/>
              <a:t>We have-</a:t>
            </a:r>
          </a:p>
          <a:p>
            <a:pPr marL="0" indent="0" algn="just" fontAlgn="base">
              <a:buNone/>
            </a:pPr>
            <a:r>
              <a:rPr lang="en-US" sz="1800" dirty="0"/>
              <a:t>Minimum value of 1st octet = </a:t>
            </a:r>
            <a:r>
              <a:rPr lang="en-US" sz="1800" b="1" dirty="0"/>
              <a:t>110</a:t>
            </a:r>
            <a:r>
              <a:rPr lang="en-US" sz="1800" dirty="0"/>
              <a:t>00000 = 192</a:t>
            </a:r>
          </a:p>
          <a:p>
            <a:pPr marL="0" indent="0" algn="just" fontAlgn="base">
              <a:buNone/>
            </a:pPr>
            <a:r>
              <a:rPr lang="en-US" sz="1800" dirty="0"/>
              <a:t>Maximum value of 1st octet = </a:t>
            </a:r>
            <a:r>
              <a:rPr lang="en-US" sz="1800" b="1" dirty="0"/>
              <a:t>110</a:t>
            </a:r>
            <a:r>
              <a:rPr lang="en-US" sz="1800" dirty="0"/>
              <a:t>111111 = </a:t>
            </a:r>
            <a:r>
              <a:rPr lang="en-US" sz="1800" dirty="0" smtClean="0"/>
              <a:t>223</a:t>
            </a:r>
            <a:endParaRPr lang="en-US" sz="1800" dirty="0"/>
          </a:p>
          <a:p>
            <a:pPr marL="0" indent="0" algn="just" fontAlgn="base">
              <a:buNone/>
            </a:pPr>
            <a:r>
              <a:rPr lang="en-US" sz="1800" dirty="0"/>
              <a:t>So, Range of 1st octet = [192, 223</a:t>
            </a:r>
            <a:r>
              <a:rPr lang="en-US" sz="1800" dirty="0" smtClean="0"/>
              <a:t>]</a:t>
            </a:r>
            <a:endParaRPr lang="en-US" sz="1800" dirty="0"/>
          </a:p>
          <a:p>
            <a:pPr marL="0" indent="0" algn="just" fontAlgn="base">
              <a:buNone/>
            </a:pPr>
            <a:r>
              <a:rPr lang="en-US" sz="1800" b="1" u="sng" dirty="0" smtClean="0"/>
              <a:t>Use-</a:t>
            </a:r>
            <a:r>
              <a:rPr lang="en-US" sz="1800" dirty="0"/>
              <a:t> </a:t>
            </a:r>
          </a:p>
          <a:p>
            <a:pPr marL="0" indent="0" algn="just" fontAlgn="base">
              <a:buNone/>
            </a:pPr>
            <a:r>
              <a:rPr lang="en-US" sz="1800" dirty="0"/>
              <a:t>Class C is used by organizations requiring small to medium size networks.</a:t>
            </a:r>
          </a:p>
          <a:p>
            <a:pPr marL="0" indent="0" algn="just" fontAlgn="base">
              <a:buNone/>
            </a:pPr>
            <a:r>
              <a:rPr lang="en-US" sz="1800" dirty="0"/>
              <a:t>For example- engineering colleges, small universities, small offices etc.</a:t>
            </a:r>
          </a:p>
          <a:p>
            <a:pPr marL="0" indent="0" algn="just" fontAlgn="base">
              <a:buNone/>
            </a:pPr>
            <a:endParaRPr lang="en-US" sz="1800" dirty="0"/>
          </a:p>
          <a:p>
            <a:pPr algn="just"/>
            <a:endParaRPr lang="en-US" sz="1800" dirty="0"/>
          </a:p>
        </p:txBody>
      </p:sp>
      <p:sp>
        <p:nvSpPr>
          <p:cNvPr id="2" name="Rectangle 1"/>
          <p:cNvSpPr/>
          <p:nvPr/>
        </p:nvSpPr>
        <p:spPr>
          <a:xfrm>
            <a:off x="4572000" y="2496592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901700" lvl="1" indent="0" fontAlgn="base">
              <a:buNone/>
            </a:pPr>
            <a:r>
              <a:rPr lang="en-IN" sz="3600" dirty="0"/>
              <a:t>2^21 = </a:t>
            </a:r>
            <a:r>
              <a:rPr lang="en-IN" sz="3600" dirty="0">
                <a:solidFill>
                  <a:srgbClr val="FF0000"/>
                </a:solidFill>
              </a:rPr>
              <a:t>2097152 </a:t>
            </a:r>
            <a:r>
              <a:rPr lang="en-IN" sz="3600" dirty="0"/>
              <a:t>network address</a:t>
            </a:r>
          </a:p>
          <a:p>
            <a:pPr marL="901700" lvl="1" indent="0" fontAlgn="base">
              <a:buNone/>
            </a:pPr>
            <a:r>
              <a:rPr lang="en-IN" sz="3600" dirty="0"/>
              <a:t>2^8 – 2 = </a:t>
            </a:r>
            <a:r>
              <a:rPr lang="en-IN" sz="3600" dirty="0">
                <a:solidFill>
                  <a:srgbClr val="FF0000"/>
                </a:solidFill>
              </a:rPr>
              <a:t>254 </a:t>
            </a:r>
            <a:r>
              <a:rPr lang="en-IN" sz="3600" dirty="0"/>
              <a:t>host address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3678458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Class </a:t>
            </a:r>
            <a:r>
              <a:rPr lang="en-US" b="1" u="sng" dirty="0" smtClean="0"/>
              <a:t>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32 bit binary address starts with bits 1110, then IP Address belongs to class D</a:t>
            </a:r>
            <a:r>
              <a:rPr lang="en-US" dirty="0" smtClean="0"/>
              <a:t>.</a:t>
            </a:r>
          </a:p>
          <a:p>
            <a:r>
              <a:rPr lang="en-US" dirty="0"/>
              <a:t>Class D is not divided into Network ID and Host ID.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861048"/>
            <a:ext cx="5534545" cy="2088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46394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480720"/>
          </a:xfrm>
        </p:spPr>
        <p:txBody>
          <a:bodyPr>
            <a:normAutofit fontScale="85000" lnSpcReduction="10000"/>
          </a:bodyPr>
          <a:lstStyle/>
          <a:p>
            <a:pPr marL="0" indent="0" algn="just" fontAlgn="base">
              <a:buNone/>
            </a:pPr>
            <a:r>
              <a:rPr lang="en-US" b="1" u="sng" dirty="0"/>
              <a:t>Total Number Of IP </a:t>
            </a:r>
            <a:r>
              <a:rPr lang="en-US" b="1" u="sng" dirty="0" smtClean="0"/>
              <a:t>Addresses-</a:t>
            </a:r>
            <a:endParaRPr lang="en-US" dirty="0"/>
          </a:p>
          <a:p>
            <a:pPr marL="0" indent="0" algn="just" fontAlgn="base">
              <a:buNone/>
            </a:pPr>
            <a:r>
              <a:rPr lang="en-US" dirty="0"/>
              <a:t>Total number of IP Addresses available in class D</a:t>
            </a:r>
          </a:p>
          <a:p>
            <a:pPr marL="0" indent="0" algn="just" fontAlgn="base">
              <a:buNone/>
            </a:pPr>
            <a:r>
              <a:rPr lang="en-US" dirty="0"/>
              <a:t>= Numbers possible due to remaining available 28 bits</a:t>
            </a:r>
          </a:p>
          <a:p>
            <a:pPr marL="0" indent="0" algn="just" fontAlgn="base">
              <a:buNone/>
            </a:pPr>
            <a:r>
              <a:rPr lang="en-US" dirty="0"/>
              <a:t>= </a:t>
            </a:r>
            <a:r>
              <a:rPr lang="en-US" dirty="0" smtClean="0"/>
              <a:t>2</a:t>
            </a:r>
            <a:r>
              <a:rPr lang="en-US" baseline="30000" dirty="0" smtClean="0"/>
              <a:t>28</a:t>
            </a:r>
            <a:endParaRPr lang="en-US" dirty="0"/>
          </a:p>
          <a:p>
            <a:pPr marL="0" indent="0" algn="just" fontAlgn="base">
              <a:buNone/>
            </a:pPr>
            <a:r>
              <a:rPr lang="en-US" b="1" u="sng" dirty="0"/>
              <a:t>Range Of 1st </a:t>
            </a:r>
            <a:r>
              <a:rPr lang="en-US" b="1" u="sng" dirty="0" smtClean="0"/>
              <a:t>Octet-</a:t>
            </a:r>
            <a:endParaRPr lang="en-US" dirty="0"/>
          </a:p>
          <a:p>
            <a:pPr marL="0" indent="0" algn="just" fontAlgn="base">
              <a:buNone/>
            </a:pPr>
            <a:r>
              <a:rPr lang="en-US" dirty="0"/>
              <a:t>We have-</a:t>
            </a:r>
          </a:p>
          <a:p>
            <a:pPr marL="0" indent="0" algn="just" fontAlgn="base">
              <a:buNone/>
            </a:pPr>
            <a:r>
              <a:rPr lang="en-US" dirty="0"/>
              <a:t>Minimum value of 1st octet = </a:t>
            </a:r>
            <a:r>
              <a:rPr lang="en-US" b="1" dirty="0"/>
              <a:t>1110</a:t>
            </a:r>
            <a:r>
              <a:rPr lang="en-US" dirty="0"/>
              <a:t>0000 = 224</a:t>
            </a:r>
          </a:p>
          <a:p>
            <a:pPr marL="0" indent="0" algn="just" fontAlgn="base">
              <a:buNone/>
            </a:pPr>
            <a:r>
              <a:rPr lang="en-US" dirty="0"/>
              <a:t>Maximum value of 1st octet = </a:t>
            </a:r>
            <a:r>
              <a:rPr lang="en-US" b="1" dirty="0"/>
              <a:t>1110</a:t>
            </a:r>
            <a:r>
              <a:rPr lang="en-US" dirty="0"/>
              <a:t>1111 = </a:t>
            </a:r>
            <a:r>
              <a:rPr lang="en-US" dirty="0" smtClean="0"/>
              <a:t>239</a:t>
            </a:r>
            <a:endParaRPr lang="en-US" dirty="0"/>
          </a:p>
          <a:p>
            <a:pPr marL="0" indent="0" algn="just" fontAlgn="base">
              <a:buNone/>
            </a:pPr>
            <a:r>
              <a:rPr lang="en-US" dirty="0"/>
              <a:t>So, Range of 1st octet = [224, 239</a:t>
            </a:r>
            <a:r>
              <a:rPr lang="en-US" dirty="0" smtClean="0"/>
              <a:t>]</a:t>
            </a:r>
            <a:endParaRPr lang="en-US" dirty="0"/>
          </a:p>
          <a:p>
            <a:pPr marL="0" indent="0" algn="just" fontAlgn="base">
              <a:buNone/>
            </a:pPr>
            <a:r>
              <a:rPr lang="en-US" b="1" u="sng" dirty="0" smtClean="0"/>
              <a:t>Use-</a:t>
            </a:r>
            <a:endParaRPr lang="en-US" dirty="0"/>
          </a:p>
          <a:p>
            <a:pPr marL="0" indent="0" algn="just" fontAlgn="base">
              <a:buNone/>
            </a:pPr>
            <a:r>
              <a:rPr lang="en-US" dirty="0"/>
              <a:t>Class D is reserved for multicasting.</a:t>
            </a:r>
          </a:p>
          <a:p>
            <a:pPr marL="0" indent="0" algn="just" fontAlgn="base">
              <a:buNone/>
            </a:pPr>
            <a:r>
              <a:rPr lang="en-US" dirty="0"/>
              <a:t>In multicasting, there is no need to extract host address from the IP Address.</a:t>
            </a:r>
          </a:p>
          <a:p>
            <a:pPr marL="0" indent="0" algn="just" fontAlgn="base">
              <a:buNone/>
            </a:pPr>
            <a:r>
              <a:rPr lang="en-US" dirty="0"/>
              <a:t>This is because data is not destined for a particular host.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54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/>
              <a:t>Class </a:t>
            </a:r>
            <a:r>
              <a:rPr lang="en-US" b="1" u="sng" dirty="0" smtClean="0"/>
              <a:t>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32 bit binary address starts with bits 1111, then IP Address belongs to class E</a:t>
            </a:r>
            <a:r>
              <a:rPr lang="en-US" dirty="0" smtClean="0"/>
              <a:t>.</a:t>
            </a:r>
          </a:p>
          <a:p>
            <a:r>
              <a:rPr lang="en-US" dirty="0" smtClean="0"/>
              <a:t>Class </a:t>
            </a:r>
            <a:r>
              <a:rPr lang="en-US" dirty="0"/>
              <a:t>E is not divided into Network ID and Host ID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17032"/>
            <a:ext cx="5485700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55920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6048672"/>
          </a:xfrm>
        </p:spPr>
        <p:txBody>
          <a:bodyPr>
            <a:normAutofit fontScale="62500" lnSpcReduction="20000"/>
          </a:bodyPr>
          <a:lstStyle/>
          <a:p>
            <a:pPr marL="0" indent="0" algn="just" fontAlgn="base">
              <a:lnSpc>
                <a:spcPct val="170000"/>
              </a:lnSpc>
              <a:buNone/>
            </a:pPr>
            <a:r>
              <a:rPr lang="en-US" b="1" u="sng" dirty="0"/>
              <a:t>Total Number Of IP </a:t>
            </a:r>
            <a:r>
              <a:rPr lang="en-US" b="1" u="sng" dirty="0" smtClean="0"/>
              <a:t>Addresses-</a:t>
            </a:r>
            <a:endParaRPr lang="en-US" dirty="0"/>
          </a:p>
          <a:p>
            <a:pPr marL="0" indent="0" algn="just" fontAlgn="base">
              <a:lnSpc>
                <a:spcPct val="170000"/>
              </a:lnSpc>
              <a:buNone/>
            </a:pPr>
            <a:r>
              <a:rPr lang="en-US" dirty="0"/>
              <a:t>Total number of IP Addresses available in class E</a:t>
            </a:r>
          </a:p>
          <a:p>
            <a:pPr marL="0" indent="0" algn="just" fontAlgn="base">
              <a:lnSpc>
                <a:spcPct val="170000"/>
              </a:lnSpc>
              <a:buNone/>
            </a:pPr>
            <a:r>
              <a:rPr lang="en-US" dirty="0"/>
              <a:t>= Numbers possible due to remaining available 28 bits</a:t>
            </a:r>
          </a:p>
          <a:p>
            <a:pPr marL="0" indent="0" algn="just" fontAlgn="base">
              <a:lnSpc>
                <a:spcPct val="170000"/>
              </a:lnSpc>
              <a:buNone/>
            </a:pPr>
            <a:r>
              <a:rPr lang="en-US" dirty="0"/>
              <a:t>= </a:t>
            </a:r>
            <a:r>
              <a:rPr lang="en-US" dirty="0" smtClean="0"/>
              <a:t>2</a:t>
            </a:r>
            <a:r>
              <a:rPr lang="en-US" baseline="30000" dirty="0" smtClean="0"/>
              <a:t>28</a:t>
            </a:r>
            <a:endParaRPr lang="en-US" dirty="0"/>
          </a:p>
          <a:p>
            <a:pPr marL="0" indent="0" algn="just" fontAlgn="base">
              <a:lnSpc>
                <a:spcPct val="170000"/>
              </a:lnSpc>
              <a:buNone/>
            </a:pPr>
            <a:r>
              <a:rPr lang="en-US" b="1" u="sng" dirty="0"/>
              <a:t>Range Of 1st </a:t>
            </a:r>
            <a:r>
              <a:rPr lang="en-US" b="1" u="sng" dirty="0" smtClean="0"/>
              <a:t>Octet-</a:t>
            </a:r>
            <a:endParaRPr lang="en-US" dirty="0"/>
          </a:p>
          <a:p>
            <a:pPr marL="0" indent="0" algn="just" fontAlgn="base">
              <a:lnSpc>
                <a:spcPct val="170000"/>
              </a:lnSpc>
              <a:buNone/>
            </a:pPr>
            <a:r>
              <a:rPr lang="en-US" dirty="0"/>
              <a:t>We have-</a:t>
            </a:r>
          </a:p>
          <a:p>
            <a:pPr marL="0" indent="0" algn="just" fontAlgn="base">
              <a:lnSpc>
                <a:spcPct val="170000"/>
              </a:lnSpc>
              <a:buNone/>
            </a:pPr>
            <a:r>
              <a:rPr lang="en-US" dirty="0"/>
              <a:t>Minimum value of 1st octet = </a:t>
            </a:r>
            <a:r>
              <a:rPr lang="en-US" b="1" dirty="0"/>
              <a:t>1111</a:t>
            </a:r>
            <a:r>
              <a:rPr lang="en-US" dirty="0"/>
              <a:t>0000 = 240</a:t>
            </a:r>
          </a:p>
          <a:p>
            <a:pPr marL="0" indent="0" algn="just" fontAlgn="base">
              <a:lnSpc>
                <a:spcPct val="170000"/>
              </a:lnSpc>
              <a:buNone/>
            </a:pPr>
            <a:r>
              <a:rPr lang="en-US" dirty="0"/>
              <a:t>Maximum value of 1st octet = </a:t>
            </a:r>
            <a:r>
              <a:rPr lang="en-US" b="1" dirty="0"/>
              <a:t>1111</a:t>
            </a:r>
            <a:r>
              <a:rPr lang="en-US" dirty="0"/>
              <a:t>1111 = </a:t>
            </a:r>
            <a:r>
              <a:rPr lang="en-US" dirty="0" smtClean="0"/>
              <a:t>255</a:t>
            </a:r>
            <a:endParaRPr lang="en-US" dirty="0"/>
          </a:p>
          <a:p>
            <a:pPr marL="0" indent="0" algn="just" fontAlgn="base">
              <a:lnSpc>
                <a:spcPct val="170000"/>
              </a:lnSpc>
              <a:buNone/>
            </a:pPr>
            <a:r>
              <a:rPr lang="en-US" dirty="0"/>
              <a:t>So, Range of 1st octet = [240, 255</a:t>
            </a:r>
            <a:r>
              <a:rPr lang="en-US" dirty="0" smtClean="0"/>
              <a:t>]</a:t>
            </a:r>
            <a:endParaRPr lang="en-US" dirty="0"/>
          </a:p>
          <a:p>
            <a:pPr marL="0" indent="0" algn="just" fontAlgn="base">
              <a:lnSpc>
                <a:spcPct val="170000"/>
              </a:lnSpc>
              <a:buNone/>
            </a:pPr>
            <a:r>
              <a:rPr lang="en-US" b="1" u="sng" dirty="0" smtClean="0"/>
              <a:t>Use-</a:t>
            </a:r>
            <a:r>
              <a:rPr lang="en-US" dirty="0"/>
              <a:t> </a:t>
            </a:r>
          </a:p>
          <a:p>
            <a:pPr marL="0" indent="0" algn="just" fontAlgn="base">
              <a:lnSpc>
                <a:spcPct val="170000"/>
              </a:lnSpc>
              <a:buNone/>
            </a:pPr>
            <a:r>
              <a:rPr lang="en-US" dirty="0"/>
              <a:t>Class E is reserved for future or experimental purposes.</a:t>
            </a:r>
          </a:p>
          <a:p>
            <a:pPr marL="0" indent="0" algn="just" fontAlgn="base">
              <a:lnSpc>
                <a:spcPct val="17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542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781"/>
            <a:ext cx="8229600" cy="593752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/>
              <a:t>Subnet mask</a:t>
            </a:r>
            <a:endParaRPr lang="en-US" sz="2800" dirty="0"/>
          </a:p>
          <a:p>
            <a:pPr algn="just">
              <a:lnSpc>
                <a:spcPct val="150000"/>
              </a:lnSpc>
            </a:pPr>
            <a:r>
              <a:rPr lang="en-US" sz="2800" dirty="0"/>
              <a:t>In a 32 bit IP address, one portion contains network id and other portion contains host Id. </a:t>
            </a:r>
            <a:endParaRPr lang="en-US" sz="2800" dirty="0" smtClean="0"/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So </a:t>
            </a:r>
            <a:r>
              <a:rPr lang="en-US" sz="2800" dirty="0"/>
              <a:t>it is necessary to distinguish both addresses. </a:t>
            </a:r>
            <a:endParaRPr lang="en-US" sz="2800" dirty="0" smtClean="0"/>
          </a:p>
          <a:p>
            <a:pPr algn="just">
              <a:lnSpc>
                <a:spcPct val="150000"/>
              </a:lnSpc>
            </a:pPr>
            <a:r>
              <a:rPr lang="en-US" sz="2800" dirty="0" smtClean="0"/>
              <a:t>Subnet </a:t>
            </a:r>
            <a:r>
              <a:rPr lang="en-US" sz="2800" dirty="0"/>
              <a:t>mask is a 32 bit binary numbers Used to find out the network address from the IP address.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719050"/>
            <a:ext cx="6192688" cy="1882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91142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-243408"/>
            <a:ext cx="8229600" cy="4525963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Subnets can be freely assigned within the organization </a:t>
            </a:r>
          </a:p>
          <a:p>
            <a:r>
              <a:rPr lang="en-US" dirty="0"/>
              <a:t>• Internally, subnets are treated as separate networks </a:t>
            </a:r>
          </a:p>
          <a:p>
            <a:r>
              <a:rPr lang="en-US" dirty="0"/>
              <a:t>• Subnet structure is not visible outside the organization </a:t>
            </a:r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717032"/>
            <a:ext cx="7043465" cy="2666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3167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4" y="1556792"/>
            <a:ext cx="8424934" cy="4680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1200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5793507"/>
          </a:xfrm>
        </p:spPr>
        <p:txBody>
          <a:bodyPr>
            <a:normAutofit/>
          </a:bodyPr>
          <a:lstStyle/>
          <a:p>
            <a:r>
              <a:rPr lang="en-US" dirty="0"/>
              <a:t>Class A    -    255.0.0.0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  or                                            11111111 </a:t>
            </a:r>
            <a:r>
              <a:rPr lang="en-US" dirty="0"/>
              <a:t>.00000000.00000000. 00000000</a:t>
            </a:r>
          </a:p>
          <a:p>
            <a:r>
              <a:rPr lang="en-US" dirty="0"/>
              <a:t>Class B    -    255.255.0.0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 Or</a:t>
            </a:r>
          </a:p>
          <a:p>
            <a:pPr marL="0" indent="0">
              <a:buNone/>
            </a:pPr>
            <a:r>
              <a:rPr lang="en-US" dirty="0" smtClean="0"/>
              <a:t>11111111 </a:t>
            </a:r>
            <a:r>
              <a:rPr lang="en-US" dirty="0"/>
              <a:t>. 11111111. 0000000 . 00000000</a:t>
            </a:r>
          </a:p>
          <a:p>
            <a:r>
              <a:rPr lang="en-US" dirty="0"/>
              <a:t>Class C    -    </a:t>
            </a:r>
            <a:r>
              <a:rPr lang="en-US" dirty="0" smtClean="0"/>
              <a:t>255.255.255.0</a:t>
            </a:r>
          </a:p>
          <a:p>
            <a:pPr marL="0" indent="0">
              <a:buNone/>
            </a:pPr>
            <a:r>
              <a:rPr lang="en-US" dirty="0" smtClean="0"/>
              <a:t>                                   or</a:t>
            </a:r>
          </a:p>
          <a:p>
            <a:pPr marL="0" indent="0">
              <a:buNone/>
            </a:pPr>
            <a:r>
              <a:rPr lang="en-US" dirty="0" smtClean="0"/>
              <a:t>11111111 </a:t>
            </a:r>
            <a:r>
              <a:rPr lang="en-US" dirty="0"/>
              <a:t>.11111111.11111111. 00000000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1141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937523"/>
          </a:xfrm>
        </p:spPr>
        <p:txBody>
          <a:bodyPr>
            <a:normAutofit fontScale="55000" lnSpcReduction="20000"/>
          </a:bodyPr>
          <a:lstStyle/>
          <a:p>
            <a:pPr marL="0" indent="0" algn="just">
              <a:lnSpc>
                <a:spcPct val="170000"/>
              </a:lnSpc>
              <a:buNone/>
            </a:pPr>
            <a:r>
              <a:rPr lang="en-US" dirty="0"/>
              <a:t>Example - Consider a class C address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dirty="0" smtClean="0"/>
              <a:t>     </a:t>
            </a:r>
            <a:r>
              <a:rPr lang="en-US" dirty="0" err="1" smtClean="0"/>
              <a:t>lP</a:t>
            </a:r>
            <a:r>
              <a:rPr lang="en-US" dirty="0"/>
              <a:t>	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 192.168.1.152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dirty="0"/>
              <a:t>mask	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 255.255.255.0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dirty="0"/>
              <a:t>IP AND MASK  </a:t>
            </a:r>
            <a:r>
              <a:rPr lang="en-US" dirty="0" smtClean="0"/>
              <a:t>in Binary Format</a:t>
            </a:r>
            <a:endParaRPr lang="en-US" dirty="0"/>
          </a:p>
          <a:p>
            <a:pPr marL="0" indent="0" algn="just">
              <a:lnSpc>
                <a:spcPct val="170000"/>
              </a:lnSpc>
              <a:buNone/>
            </a:pPr>
            <a:r>
              <a:rPr lang="en-US" dirty="0"/>
              <a:t>11000000 	10101000 	00000001 	10011000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dirty="0"/>
              <a:t>11111111 	11111111 	11111111 	</a:t>
            </a:r>
            <a:r>
              <a:rPr lang="en-US" dirty="0" smtClean="0"/>
              <a:t>00000000</a:t>
            </a:r>
            <a:endParaRPr lang="en-US" dirty="0"/>
          </a:p>
          <a:p>
            <a:pPr marL="0" indent="0" algn="just">
              <a:lnSpc>
                <a:spcPct val="170000"/>
              </a:lnSpc>
              <a:buNone/>
            </a:pPr>
            <a:r>
              <a:rPr lang="en-US" dirty="0" smtClean="0"/>
              <a:t>--------------------------------------------------------------------------------------------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dirty="0" smtClean="0"/>
              <a:t>11000000 </a:t>
            </a:r>
            <a:r>
              <a:rPr lang="en-US" dirty="0"/>
              <a:t>	10101000 	00000001 	00000000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dirty="0" smtClean="0"/>
              <a:t>---------------------------------------------------------------------------------------------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b="1" dirty="0" smtClean="0"/>
              <a:t>Network </a:t>
            </a:r>
            <a:r>
              <a:rPr lang="en-US" b="1" dirty="0"/>
              <a:t>Id  </a:t>
            </a:r>
            <a:r>
              <a:rPr lang="en-US" b="1" dirty="0">
                <a:sym typeface="Wingdings"/>
              </a:rPr>
              <a:t></a:t>
            </a:r>
            <a:r>
              <a:rPr lang="en-US" b="1" dirty="0"/>
              <a:t> 192.168.1.0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dirty="0"/>
              <a:t>Generally IP address and its mask are written as IP address / mask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US" dirty="0"/>
              <a:t>Mask can be 8 for A class, 16 for B class and 24 for C class.</a:t>
            </a:r>
          </a:p>
          <a:p>
            <a:pPr algn="just">
              <a:lnSpc>
                <a:spcPct val="17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7124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845</Words>
  <Application>Microsoft Office PowerPoint</Application>
  <PresentationFormat>On-screen Show (4:3)</PresentationFormat>
  <Paragraphs>199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IP ADDRESS</vt:lpstr>
      <vt:lpstr>IP Address in Networking</vt:lpstr>
      <vt:lpstr>PowerPoint Presentation</vt:lpstr>
      <vt:lpstr>Types Of IP Address</vt:lpstr>
      <vt:lpstr>Types Of IP Address</vt:lpstr>
      <vt:lpstr>IP Address Format</vt:lpstr>
      <vt:lpstr>IP Address Example</vt:lpstr>
      <vt:lpstr>PowerPoint Presentation</vt:lpstr>
      <vt:lpstr>PowerPoint Presentation</vt:lpstr>
      <vt:lpstr>PowerPoint Presentation</vt:lpstr>
      <vt:lpstr>PowerPoint Presentation</vt:lpstr>
      <vt:lpstr>Class B</vt:lpstr>
      <vt:lpstr>PowerPoint Presentation</vt:lpstr>
      <vt:lpstr>Class C</vt:lpstr>
      <vt:lpstr>PowerPoint Presentation</vt:lpstr>
      <vt:lpstr>Class D</vt:lpstr>
      <vt:lpstr>PowerPoint Presentation</vt:lpstr>
      <vt:lpstr>Class 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Ashok f.</cp:lastModifiedBy>
  <cp:revision>16</cp:revision>
  <dcterms:created xsi:type="dcterms:W3CDTF">2021-05-14T08:57:45Z</dcterms:created>
  <dcterms:modified xsi:type="dcterms:W3CDTF">2025-03-14T09:26:54Z</dcterms:modified>
</cp:coreProperties>
</file>